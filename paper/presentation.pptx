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estimation sample: 531 postings with a disclosed pay range. The dependent variable is the log of the midpoint of the employer-stated range, annualized.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stay narrow — an energy-analytics core. Geography and seniority are what widened.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compliance posture — rate limiting, identifying User-Agent, no circumvention — is documented in docs/methods.md.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Illinois HB 3129 was the original motivation; the study is national now and the contrast spans 13 jurisdictions in force at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rejection reasons live in data/analysis/selection_funnel.json.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re-estimated on every collection run; this slide regenerates from analysis.json.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these plainly is part of the deliverable; docs/limitations.md carries the full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install -r requirements.txt &amp;&amp; python tests/run_all.py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MARKET STUDY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Advertised Pay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US Energy and Data Center Sector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employer-published job postings, nationwide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log advertised pay on attributes stated in the posting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attributes stated in a job posting predict the pay an employer advertises?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670255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buildout is driving technical and analytical hiring across the energy sector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and location enter as regressors, not sample filters — which is what makes the disclosure contrast estimable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state requirements, benefits, location and work arrangement — all potential pay determinants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log of the employer-stated pay range midpoint, annualized to USD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08392" y="228600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91272" y="24871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891272" y="3310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 coded from posting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08392" y="420624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91272" y="44074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5230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 mandating pay in the posting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LinkedIn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F7EDEC"/>
          </a:solidFill>
          <a:ln w="12700">
            <a:solidFill>
              <a:srgbClr val="F7ED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1732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LinkedIn's User Agreement §8.2 prohibits using scripts, robots or crawlers to scrape or copy the Services — including the unauthenticated endpoints used in most tutorials.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090879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collected instead from the public, unauthenticated ATS APIs employers publish through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upstream systems that syndicate postings to job boards, including LinkedIn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Greenhouse, Lever, Ashby, SmartRecruiters, Workable, Recruitee and Workday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untruncated description text and the employer's own stated range — no key, no cost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 were rejected as a backbone: they truncate text and often return predicted salaries, which would make the regression circular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pay-transparency mandates make this possible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jurisdictions requiring a pay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572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(n=438)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572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without one (n=272)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8328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mandate applies, the employer must state a pay scale in the posting itself — so the dependent variable is legally required to appear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attaches to the JOB's location, so a posting listing any covered place is covered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asymmetry is what makes the disclosure contrast estimable at all, and it is the study's clearest result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mandate_state is carried as a regressor, so the contrast is examined rather than assumed away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associational: one cross-section, no time variation, no difference-in-differences available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postings to the estimation sample</a:t>
            </a:r>
            <a:endParaRPr lang="en-US" sz="3200" dirty="0"/>
          </a:p>
        </p:txBody>
      </p:sp>
      <p:pic>
        <p:nvPicPr>
          <p:cNvPr id="3" name="Image 0" descr="/home/user/Modern-Labor-Market-Data-Submission/paper/figures/fig1_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94944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463040"/>
            <a:ext cx="3593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Retrieved: 12441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screens: 2923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the US: 2183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postings: 710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disclosed: 531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3931920"/>
            <a:ext cx="3593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is counted and reported by reason, so the sample can be described rather than merely stated.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35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43–45pp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58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gap, every cut of the sample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51960" y="123444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435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258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postings, 99 employers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23444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435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258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surviving the bootstrap and the region check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08960"/>
            <a:ext cx="1090879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is stated far more often where a mandate applies, and the gap is stable across every cut — this is the result the study stands behind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disclosed pay, seniority, required experience, a stated cloud skill, a Northeast location, a West location, stating an experience minimum and a STEM degree are the only attributes distinguishable from zero — stating an experience minimum, a STEM degree and a West location only narrowly, so read them as tentative; a Northeast location and a West location do not survive price adjustment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coefficients reach significance under clustered standard errors and do NOT survive the wild cluster bootstrap — reported as inconclusive, not as findings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was predicted to dominate and does; it also survives every robustness cut applied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 cannot support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9304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Advertised, not realized pay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234440"/>
            <a:ext cx="6428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ranges reflect compliance and negotiating posture, not earnings.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67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is selected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167128"/>
            <a:ext cx="6428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mandate jurisdictions most postings state no pay, so every pay coefficient is conditional on disclosure. This is the central threat.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0998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Exelon and ComEd are missing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099816"/>
            <a:ext cx="6428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iCIMS: its feed goes only to approved job boards, its API is partner-gated, no syndication feed exists, and its terms bar automated access. Verified by reading them, not assumed.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87368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032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backfill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032504"/>
            <a:ext cx="6428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APIs serve only open postings, so the panel starts when collection starts.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965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employer clusters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4965192"/>
            <a:ext cx="6428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errors cover at 92% against a nominal 95%. Significance is read off a wild cluster bootstrap, which leaves 7 predictor(s) standing: seniority, required experience, a stated cloud skill, a Northeast location, a West location, stating an experience minimum, a STEM degree.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end to end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screening, coding, estimation and this deck all regenerate from committed artifacts.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GitHub Actions runs extend the panel; every number traces to data/analysis/.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of Advertised Pay in the US Energy and Data Center Sector</dc:title>
  <dc:subject>PptxGenJS Presentation</dc:subject>
  <dc:creator>Labor market study</dc:creator>
  <cp:lastModifiedBy>Labor market study</cp:lastModifiedBy>
  <cp:revision>1</cp:revision>
  <dcterms:created xsi:type="dcterms:W3CDTF">2026-09-29T12:05:03Z</dcterms:created>
  <dcterms:modified xsi:type="dcterms:W3CDTF">2026-09-29T12:05:03Z</dcterms:modified>
</cp:coreProperties>
</file>