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6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d2ad0df-1562-1e1a-bd17-54fa27f7de0f}">
          <p14:sldIdLst>
            <p14:sldId id="256"/>
            <p14:sldId id="257"/>
          </p14:sldIdLst>
        </p14:section>
        <p14:section name="Institutional background" id="{175c7610-be97-c959-2c19-8aac70a86af4}">
          <p14:sldIdLst>
            <p14:sldId id="258"/>
          </p14:sldIdLst>
        </p14:section>
        <p14:section name="Data" id="{3a39616c-0b78-e6db-0d63-e35b6656a4a5}">
          <p14:sldIdLst>
            <p14:sldId id="259"/>
            <p14:sldId id="260"/>
            <p14:sldId id="261"/>
            <p14:sldId id="262"/>
          </p14:sldIdLst>
        </p14:section>
        <p14:section name="Empirical strategy" id="{a271c0eb-a9e1-f232-435d-29970208f6b3}">
          <p14:sldIdLst>
            <p14:sldId id="263"/>
          </p14:sldIdLst>
        </p14:section>
        <p14:section name="Results" id="{8125e9b6-ebff-6b80-8e72-2d9ce2ed8e9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hreats to validity" id="{8f752591-40b6-baf3-001e-b04f01bda56f}">
          <p14:sldIdLst>
            <p14:sldId id="272"/>
          </p14:sldIdLst>
        </p14:section>
        <p14:section name="Conclusion" id="{0183664c-eaab-4eff-8447-86b1c84d333a}">
          <p14:sldIdLst>
            <p14:sldId id="273"/>
          </p14:sldIdLst>
        </p14:section>
        <p14:section name="Appendix" id="{adb31503-bcd7-af64-9159-faf211c9e438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industry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Electric utilities</c:v>
                  </c:pt>
                  <c:pt idx="1">
                    <c:v>Developers (renewables, storage)</c:v>
                  </c:pt>
                  <c:pt idx="2">
                    <c:v>Data-center operators</c:v>
                  </c:pt>
                  <c:pt idx="3">
                    <c:v>Energy analytics &amp; software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Competitive retailers</c:v>
                  </c:pt>
                  <c:pt idx="8">
                    <c:v>Electric cooperatives</c:v>
                  </c:pt>
                  <c:pt idx="9">
                    <c:v>Gas utilities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208</c:v>
                </c:pt>
                <c:pt idx="1">
                  <c:v>152</c:v>
                </c:pt>
                <c:pt idx="2">
                  <c:v>110</c:v>
                </c:pt>
                <c:pt idx="3">
                  <c:v>75</c:v>
                </c:pt>
                <c:pt idx="4">
                  <c:v>54</c:v>
                </c:pt>
                <c:pt idx="5">
                  <c:v>44</c:v>
                </c:pt>
                <c:pt idx="6">
                  <c:v>39</c:v>
                </c:pt>
                <c:pt idx="7">
                  <c:v>38</c:v>
                </c:pt>
                <c:pt idx="8">
                  <c:v>6</c:v>
                </c:pt>
                <c:pt idx="9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.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In-scope postings by role family (N = 729)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Software &amp; data</c:v>
                  </c:pt>
                  <c:pt idx="1">
                    <c:v>Grid &amp; power systems</c:v>
                  </c:pt>
                  <c:pt idx="2">
                    <c:v>Siting &amp; development</c:v>
                  </c:pt>
                  <c:pt idx="3">
                    <c:v>Market &amp; commercial</c:v>
                  </c:pt>
                  <c:pt idx="4">
                    <c:v>AI &amp; machine learning</c:v>
                  </c:pt>
                  <c:pt idx="5">
                    <c:v>Regulatory &amp; compliance</c:v>
                  </c:pt>
                  <c:pt idx="6">
                    <c:v>Other analytics-adjacent</c:v>
                  </c:pt>
                  <c:pt idx="7">
                    <c:v>GIS</c:v>
                  </c:pt>
                  <c:pt idx="8">
                    <c:v>Sustainability analytics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</c:v>
                </c:pt>
                <c:pt idx="1">
                  <c:v>137</c:v>
                </c:pt>
                <c:pt idx="2">
                  <c:v>123</c:v>
                </c:pt>
                <c:pt idx="3">
                  <c:v>108</c:v>
                </c:pt>
                <c:pt idx="4">
                  <c:v>71</c:v>
                </c:pt>
                <c:pt idx="5">
                  <c:v>59</c:v>
                </c:pt>
                <c:pt idx="6">
                  <c:v>54</c:v>
                </c:pt>
                <c:pt idx="7">
                  <c:v>12</c:v>
                </c:pt>
                <c:pt idx="8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1.7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Employers stating pay, by industry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Employers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Developers (renewables, storage)</c:v>
                  </c:pt>
                  <c:pt idx="1">
                    <c:v>Energy analytics &amp; software</c:v>
                  </c:pt>
                  <c:pt idx="2">
                    <c:v>Electric utilities</c:v>
                  </c:pt>
                  <c:pt idx="3">
                    <c:v>Data-center operators</c:v>
                  </c:pt>
                  <c:pt idx="4">
                    <c:v>Grid-technology vendors</c:v>
                  </c:pt>
                  <c:pt idx="5">
                    <c:v>Energy consultancies</c:v>
                  </c:pt>
                  <c:pt idx="6">
                    <c:v>Grid operators (ISOs/RTOs)</c:v>
                  </c:pt>
                  <c:pt idx="7">
                    <c:v>Electric cooperatives</c:v>
                  </c:pt>
                  <c:pt idx="8">
                    <c:v>Gas utilities</c:v>
                  </c:pt>
                  <c:pt idx="9">
                    <c:v>Competitive retailers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</c:v>
                </c:pt>
                <c:pt idx="1">
                  <c:v>19</c:v>
                </c:pt>
                <c:pt idx="2">
                  <c:v>14</c:v>
                </c:pt>
                <c:pt idx="3">
                  <c:v>11</c:v>
                </c:pt>
                <c:pt idx="4">
                  <c:v>10</c:v>
                </c:pt>
                <c:pt idx="5">
                  <c:v>9</c:v>
                </c:pt>
                <c:pt idx="6">
                  <c:v>3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7.19999999999999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Share stating pay,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West (95% covered)</c:v>
                  </c:pt>
                  <c:pt idx="1">
                    <c:v>Nationwide remote (0% covered)</c:v>
                  </c:pt>
                  <c:pt idx="2">
                    <c:v>Northeast (79% covered)</c:v>
                  </c:pt>
                  <c:pt idx="3">
                    <c:v>Midwest (49% covered)</c:v>
                  </c:pt>
                  <c:pt idx="4">
                    <c:v>South (32% covered)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0.9356</c:v>
                </c:pt>
                <c:pt idx="1">
                  <c:v>0.8182</c:v>
                </c:pt>
                <c:pt idx="2">
                  <c:v>0.8138</c:v>
                </c:pt>
                <c:pt idx="3">
                  <c:v>0.7636</c:v>
                </c:pt>
                <c:pt idx="4">
                  <c:v>0.4194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Predicted advertised pay by seniority, other attributes at sample means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pay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Entry
(n=42)</c:v>
                  </c:pt>
                  <c:pt idx="1">
                    <c:v>Mid
(n=125)</c:v>
                  </c:pt>
                  <c:pt idx="2">
                    <c:v>Senior
(n=157)</c:v>
                  </c:pt>
                  <c:pt idx="3">
                    <c:v>Staff / principal
(n=62)</c:v>
                  </c:pt>
                  <c:pt idx="4">
                    <c:v>Manager
(n=108)</c:v>
                  </c:pt>
                  <c:pt idx="5">
                    <c:v>Director
(n=46)</c:v>
                  </c:pt>
                  <c:pt idx="6">
                    <c:v>Executive
(n=3)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111613.68440180742</c:v>
                </c:pt>
                <c:pt idx="1">
                  <c:v>124082.12720227371</c:v>
                </c:pt>
                <c:pt idx="2">
                  <c:v>137943.42847436646</c:v>
                </c:pt>
                <c:pt idx="3">
                  <c:v>153353.18541278178</c:v>
                </c:pt>
                <c:pt idx="4">
                  <c:v>170484.37708373432</c:v>
                </c:pt>
                <c:pt idx="5">
                  <c:v>189529.3061659898</c:v>
                </c:pt>
                <c:pt idx="6">
                  <c:v>210701.7576051472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314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3142"/>
                </a:solidFill>
                <a:latin typeface="Arial"/>
              </a:rPr>
              <a:t>Range midpoints, $25k bins (N = 543)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Postings</c:v>
                </c:pt>
              </c:strCache>
            </c:strRef>
          </c:tx>
          <c:spPr>
            <a:solidFill>
              <a:srgbClr val="99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4314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$50k</c:v>
                  </c:pt>
                  <c:pt idx="1">
                    <c:v>$75k</c:v>
                  </c:pt>
                  <c:pt idx="2">
                    <c:v>$100k</c:v>
                  </c:pt>
                  <c:pt idx="3">
                    <c:v>$125k</c:v>
                  </c:pt>
                  <c:pt idx="4">
                    <c:v>$150k</c:v>
                  </c:pt>
                  <c:pt idx="5">
                    <c:v>$175k</c:v>
                  </c:pt>
                  <c:pt idx="6">
                    <c:v>$200k</c:v>
                  </c:pt>
                  <c:pt idx="7">
                    <c:v>$225k</c:v>
                  </c:pt>
                  <c:pt idx="8">
                    <c:v>$250k</c:v>
                  </c:pt>
                  <c:pt idx="9">
                    <c:v>$275k</c:v>
                  </c:pt>
                  <c:pt idx="10">
                    <c:v>$300k</c:v>
                  </c:pt>
                  <c:pt idx="11">
                    <c:v>$325k</c:v>
                  </c:pt>
                  <c:pt idx="12">
                    <c:v>$350k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>65</c:v>
                </c:pt>
                <c:pt idx="2">
                  <c:v>99</c:v>
                </c:pt>
                <c:pt idx="3">
                  <c:v>119</c:v>
                </c:pt>
                <c:pt idx="4">
                  <c:v>90</c:v>
                </c:pt>
                <c:pt idx="5">
                  <c:v>70</c:v>
                </c:pt>
                <c:pt idx="6">
                  <c:v>33</c:v>
                </c:pt>
                <c:pt idx="7">
                  <c:v>28</c:v>
                </c:pt>
                <c:pt idx="8">
                  <c:v>12</c:v>
                </c:pt>
                <c:pt idx="9">
                  <c:v>9</c:v>
                </c:pt>
                <c:pt idx="10">
                  <c:v>5</c:v>
                </c:pt>
                <c:pt idx="11">
                  <c:v>0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4314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1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99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1143000"/>
            <a:ext cx="6035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99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336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6336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INDIANA UNIVERSITY  ·  KELLEY SCHOOL OF BUSINESS</a:t>
            </a:r>
            <a:endParaRPr lang="en-US" sz="900" dirty="0"/>
          </a:p>
        </p:txBody>
      </p:sp>
      <p:sp>
        <p:nvSpPr>
          <p:cNvPr id="5" name="Text 3"/>
          <p:cNvSpPr/>
          <p:nvPr>
            <p:ph type="title" hasCustomPrompt="1"/>
          </p:nvPr>
        </p:nvSpPr>
        <p:spPr>
          <a:xfrm>
            <a:off x="548640" y="2651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PRESENTATION  ·  OCTOBER 2026</a:t>
            </a:r>
            <a:endParaRPr lang="en-US" sz="12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11430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 in the US Energy and Data Center Sector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DEB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from employer-published job postings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J. Henderson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54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Kelley School of Business, Indiana University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 postings  ·  100 employers  ·  collected 20–30 September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49440" y="685800"/>
            <a:ext cx="4693615" cy="5074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223760" y="91440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OBSERVATION IN THE SAMPLE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280160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Eversource Energy  ·  the employer's own careers site</a:t>
            </a:r>
            <a:endParaRPr lang="en-US" sz="1200" dirty="0"/>
          </a:p>
        </p:txBody>
      </p:sp>
      <p:pic>
        <p:nvPicPr>
          <p:cNvPr id="11" name="Image 0" descr="Job posting: Eversource Energy, Associate Analyst, Transmission (Hybrid Schedul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627632"/>
            <a:ext cx="4144975" cy="14137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223760" y="3242539"/>
            <a:ext cx="4144975" cy="100584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06640" y="3352267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range, stated further down the posting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3654019"/>
            <a:ext cx="3779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$71,610 – $79,570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385539"/>
            <a:ext cx="4144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 MA, NH and CT: covered through Massachusetts (law in force since October 29, 2025).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Midpoint used in the pay model: $75,590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5257800"/>
            <a:ext cx="4144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 of the employer's posting (October 2026); pay range and coverage from the collected record.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STUDY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in a job posting predicts the pay an employer advertises?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transparency is spreading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US jurisdictions now require a pay range in the posting itself; Colorado was first, in 2021.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6818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15458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hiring is changing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construction is pulling analytical talent into utilities, developers and grid operators.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783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6397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905037" y="1709928"/>
            <a:ext cx="2555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can benchmark offers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377440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graduating student, the posted range is the first price signal of a career.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5120640" cy="22402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749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 as the subject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16052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and roles were benchmarked to the author's résumé: the sectors with the most experience and interest, and roles the author holds or could hold. The same design extends to any student or industry.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3611880"/>
            <a:ext cx="5699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50208"/>
            <a:ext cx="569945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Quach &amp; Taska (2025, NBER WP 34480):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Colorado's posting law raised the share of postings stating pay by about 30 points.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&amp; Pakzad-Hurson (2023, Econometrica):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equilibrium effects of transparency on wages.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 (2024, Journal of Economic Perspectives):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pay transparency good? A review.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sector, all US states, 729 postings; disclosure is modelled as an outcome, not assumed.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BACKGROUND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jurisdictions required a pay range in the posting during the collection window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</p:txBody>
      </p:sp>
      <p:sp>
        <p:nvSpPr>
          <p:cNvPr id="106" name="Shape 104"/>
          <p:cNvSpPr/>
          <p:nvPr/>
        </p:nvSpPr>
        <p:spPr>
          <a:xfrm>
            <a:off x="548640" y="5806440"/>
            <a:ext cx="201168" cy="2011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841248" y="5788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mandate in force (year it took effect)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548640" y="6099048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990000"/>
            </a:solidFill>
            <a:prstDash val="dash"/>
          </a:ln>
        </p:spPr>
      </p:sp>
      <p:sp>
        <p:nvSpPr>
          <p:cNvPr id="109" name="Text 107"/>
          <p:cNvSpPr txBox="1"/>
          <p:nvPr/>
        </p:nvSpPr>
        <p:spPr>
          <a:xfrm>
            <a:off x="841248" y="60807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effect after the window (CT, 2026-10-01)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6720840" y="16002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67208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2" name="Text 110"/>
          <p:cNvSpPr txBox="1"/>
          <p:nvPr/>
        </p:nvSpPr>
        <p:spPr>
          <a:xfrm>
            <a:off x="7315200" y="1600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by date</a:t>
            </a:r>
            <a:endParaRPr lang="en-US" sz="1600" dirty="0"/>
          </a:p>
        </p:txBody>
      </p:sp>
      <p:sp>
        <p:nvSpPr>
          <p:cNvPr id="113" name="Text 111"/>
          <p:cNvSpPr txBox="1"/>
          <p:nvPr/>
        </p:nvSpPr>
        <p:spPr>
          <a:xfrm>
            <a:off x="7315200" y="198424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posting is coded against the laws in force on the day it was seen; CT's rule starts 2026-10-01, after the window.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6720840" y="278892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7208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6" name="Text 114"/>
          <p:cNvSpPr txBox="1"/>
          <p:nvPr/>
        </p:nvSpPr>
        <p:spPr>
          <a:xfrm>
            <a:off x="7315200" y="278892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follows the job</a:t>
            </a:r>
            <a:endParaRPr lang="en-US" sz="1600" dirty="0"/>
          </a:p>
        </p:txBody>
      </p:sp>
      <p:sp>
        <p:nvSpPr>
          <p:cNvPr id="117" name="Text 115"/>
          <p:cNvSpPr txBox="1"/>
          <p:nvPr/>
        </p:nvSpPr>
        <p:spPr>
          <a:xfrm>
            <a:off x="7315200" y="317296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is covered if any listed work location is in a mandate state (14% list more than one).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6720840" y="397764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72084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0" name="Text 118"/>
          <p:cNvSpPr txBox="1"/>
          <p:nvPr/>
        </p:nvSpPr>
        <p:spPr>
          <a:xfrm>
            <a:off x="7315200" y="397764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Elsewhere, disclosure is a choice</a:t>
            </a:r>
            <a:endParaRPr lang="en-US" sz="1600" dirty="0"/>
          </a:p>
        </p:txBody>
      </p:sp>
      <p:sp>
        <p:nvSpPr>
          <p:cNvPr id="121" name="Text 119"/>
          <p:cNvSpPr txBox="1"/>
          <p:nvPr/>
        </p:nvSpPr>
        <p:spPr>
          <a:xfrm>
            <a:off x="7315200" y="4361688"/>
            <a:ext cx="4327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law, stating pay is voluntary, so postings that state pay are a selected group.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6720840" y="5349240"/>
            <a:ext cx="4922215" cy="566928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903720" y="5349240"/>
            <a:ext cx="4556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for the data: does disclosure differ where the law requires it?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WHAT IS IN SCOPE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sample: analytical roles in energy, utilities and data centers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78728" y="1508760"/>
          <a:ext cx="53643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29200"/>
            <a:ext cx="110944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 to the author's résumé.  </a:t>
            </a:r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where the author has the most experience and interest; roles the author is, or could become, qualified for. Every seniority level is kept, because seniority is a regressor; internships are excluded (a different contract and pay regime).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SOURCES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Postings come straight from the job boards employers publish to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25880"/>
                <a:gridCol w="123444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Employers with postings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Postings retrieved*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scope (unique)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Greenhouse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Ashby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USAJOBS (federal)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SmartRecruiters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Recruitee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431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*Every sighting on each of the 7 collection days (2026-09-20 to 2026-09-30). USAJOBS is the federal government's job API. Employer counts sum across sources.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955280" y="1554480"/>
            <a:ext cx="3687775" cy="16002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83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407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875520" y="1645920"/>
            <a:ext cx="1584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searched in the sampling frame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359152"/>
            <a:ext cx="3230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185 had a readable public board on the final run; the rest use systems with no open feed, or none at all.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USED: TERMS PROHIBIT AUTOMATED COLLECTION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55280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55280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867748" y="3886200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867748" y="3886200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0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55280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867748" y="4325112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67748" y="4325112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iCIMS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55280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955280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Cloud HCM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867748" y="4764024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67748" y="4764024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55280" y="5202936"/>
            <a:ext cx="1775308" cy="347472"/>
          </a:xfrm>
          <a:prstGeom prst="roundRect">
            <a:avLst>
              <a:gd name="adj" fmla="val 21053"/>
            </a:avLst>
          </a:prstGeom>
          <a:solidFill>
            <a:srgbClr val="F4F4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955280" y="5202936"/>
            <a:ext cx="17753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careers.electric.coop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SELECTION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17,495 retrieved postings to an estimation sample of 543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66928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7276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17,495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5727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Retrieved from employer job boards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collection days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0100" y="2450592"/>
            <a:ext cx="516636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" y="245059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4,395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217420" y="24505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sector and role screens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3328416"/>
            <a:ext cx="4663440" cy="658368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34440" y="332841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3,427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3284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US, with a resolvable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nationwide remote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03020" y="4206240"/>
            <a:ext cx="4160520" cy="6583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85900" y="42062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729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720340" y="42062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in-scope postings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disclosure sample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554480" y="5084064"/>
            <a:ext cx="3657600" cy="658368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737360" y="5084064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508406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 pay range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pay-model sample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193487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−13,100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934870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outside the taxonomy or an internship 10,952; no energy-sector evidence in the posting 1,713; a sister company outside the sector 435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81269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−968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812694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resolvable US state 572; outside the US 396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69051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−2,698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690518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posting seen again on a later day 2,690; reposted requisitions 8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56834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−186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4568342"/>
            <a:ext cx="3962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pay range stated (kept in the disclosure model)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posting can fail more than one screen; each is removed at the first it fails. Duplicates are matched on employer, title and location.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EMPLOYERS AND GEOGRAPHY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employers in 31 states; the largest supplies 9.0% of the sample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57216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070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08483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9689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3308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57216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6070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7276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08483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9689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621024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133088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45152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NJ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157216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06070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5727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08483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59689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08960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621024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13308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64515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157216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6070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57276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8483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596896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08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TN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621024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4133088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645152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084832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2596896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0896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21024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13308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486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08483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104" name="Shape 102"/>
          <p:cNvSpPr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645152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48640" y="57881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pay: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2331720" y="5806440"/>
            <a:ext cx="201168" cy="201168"/>
          </a:xfrm>
          <a:prstGeom prst="rect">
            <a:avLst/>
          </a:prstGeom>
          <a:solidFill>
            <a:srgbClr val="F2D4D4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258775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337560" y="5806440"/>
            <a:ext cx="201168" cy="201168"/>
          </a:xfrm>
          <a:prstGeom prst="rect">
            <a:avLst/>
          </a:prstGeom>
          <a:solidFill>
            <a:srgbClr val="D98C8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59359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6–20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4343400" y="5806440"/>
            <a:ext cx="201168" cy="20116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459943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21–60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5349240" y="5806440"/>
            <a:ext cx="201168" cy="201168"/>
          </a:xfrm>
          <a:prstGeom prst="rect">
            <a:avLst/>
          </a:prstGeom>
          <a:solidFill>
            <a:srgbClr val="7A0000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605272" y="5788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61+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548640" y="608076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45 nationwide-remote postings with no single state.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720840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720840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800" dirty="0"/>
          </a:p>
        </p:txBody>
      </p:sp>
      <p:sp>
        <p:nvSpPr>
          <p:cNvPr id="118" name="Text 116"/>
          <p:cNvSpPr txBox="1"/>
          <p:nvPr/>
        </p:nvSpPr>
        <p:spPr>
          <a:xfrm>
            <a:off x="6793992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state pay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8407298" y="1600200"/>
            <a:ext cx="1549298" cy="11430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8407298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800" dirty="0"/>
          </a:p>
        </p:txBody>
      </p:sp>
      <p:sp>
        <p:nvSpPr>
          <p:cNvPr id="121" name="Text 119"/>
          <p:cNvSpPr txBox="1"/>
          <p:nvPr/>
        </p:nvSpPr>
        <p:spPr>
          <a:xfrm>
            <a:off x="8480450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(clusters)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10093757" y="1600200"/>
            <a:ext cx="1549298" cy="11430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093757" y="1664208"/>
            <a:ext cx="1549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800" dirty="0"/>
          </a:p>
        </p:txBody>
      </p:sp>
      <p:sp>
        <p:nvSpPr>
          <p:cNvPr id="124" name="Text 122"/>
          <p:cNvSpPr txBox="1"/>
          <p:nvPr/>
        </p:nvSpPr>
        <p:spPr>
          <a:xfrm>
            <a:off x="10166909" y="2231136"/>
            <a:ext cx="1402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largest: Crusoe (49)</a:t>
            </a:r>
            <a:endParaRPr lang="en-US" sz="1100" dirty="0"/>
          </a:p>
        </p:txBody>
      </p:sp>
      <p:graphicFrame>
        <p:nvGraphicFramePr>
          <p:cNvPr id="125" name="Chart 0" descr=""/>
          <p:cNvGraphicFramePr/>
          <p:nvPr/>
        </p:nvGraphicFramePr>
        <p:xfrm>
          <a:off x="6720840" y="2926080"/>
          <a:ext cx="49222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STRATEGY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models: what predicts pay, and what predicts stating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model  ·  N = 543 postings that state pay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α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Seniority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Experience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′γ + ε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is the midpoint of the advertised range, in annual US dollars. X: degree, skills, region, mandate, industry, role family (15 regressors in all).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3008" y="1554480"/>
            <a:ext cx="5410048" cy="19202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691640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model  ·  N = 729 in-scope postings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1031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Pr(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stated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δ + θ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Mandate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indent="0" marL="0">
              <a:buNone/>
            </a:pPr>
            <a:r>
              <a:rPr lang="en-US" sz="17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pPr indent="0" marL="0">
              <a:buNone/>
            </a:pPr>
            <a:r>
              <a:rPr lang="en-US" sz="17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′λ + u</a:t>
            </a:r>
            <a:pPr indent="0" marL="0">
              <a:buNone/>
            </a:pPr>
            <a:r>
              <a:rPr lang="en-US" sz="1700" baseline="-40000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2788920"/>
            <a:ext cx="486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linear probability model. Z controls for seniority, remote eligibility, data-center operator and census region.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60704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hypotheses and their signs were committed before the national sample was collected.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79394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79394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91458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9394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by sample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379394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36.2 observations per regressor (rule: at least 20), so the extended model (27 regressors) is estimated too.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0148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0148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722212" y="4050792"/>
            <a:ext cx="2218106" cy="0"/>
          </a:xfrm>
          <a:prstGeom prst="line">
            <a:avLst/>
          </a:prstGeom>
          <a:noFill/>
          <a:ln w="19050">
            <a:solidFill>
              <a:srgbClr val="D4D6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0148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Few-cluster inference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0148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 (100); every p-value read from a wild cluster bootstrap (Rademacher, 9,999 draws).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40901" y="38404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40901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040901" y="4407408"/>
            <a:ext cx="26021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robustness checks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040901" y="4736592"/>
            <a:ext cx="25564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Price-adjusted pay; without nationwide-remote postings; without Crusoe; without the federal rows.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indexes postings, j employers. Associational design: one cross-section with no time variation, so no difference-in-differences.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is stated in 91% of postings where the law requires it, 48% elsewhere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5394960"/>
            <a:ext cx="4754880" cy="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5205"/>
            <a:ext cx="1554480" cy="3339755"/>
          </a:xfrm>
          <a:prstGeom prst="rect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52285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91.3%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 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449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3657600"/>
            <a:ext cx="1554480" cy="1737360"/>
          </a:xfrm>
          <a:prstGeom prst="rect">
            <a:avLst/>
          </a:prstGeom>
          <a:solidFill>
            <a:srgbClr val="A7A9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6A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47.5%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54681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mandate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280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00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1737360"/>
            <a:ext cx="3642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percentage-point gap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stating pay, mandate minus no mandate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788920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UNDER EVERY CUT OF THE SAMPLE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postings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0" y="33375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1160" y="32552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53184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Virginia (newest law)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0" y="37947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6659" y="37124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38683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Crusoe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0" y="42519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86437" y="41696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78461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federal employers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0" y="4709160"/>
            <a:ext cx="2773375" cy="0"/>
          </a:xfrm>
          <a:prstGeom prst="line">
            <a:avLst/>
          </a:prstGeom>
          <a:noFill/>
          <a:ln w="12700">
            <a:solidFill>
              <a:srgbClr val="D4D6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02761" y="4626864"/>
            <a:ext cx="164592" cy="164592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94785" y="45262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799168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1185855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5349240"/>
            <a:ext cx="579089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5349240"/>
            <a:ext cx="5425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cross-section; employers in mandate states differ in other ways.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DISCLOSURE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controls, a mandate is still associated with a 39-point higher chance of stating pay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 the probability of stating pay, percentage points with 95% CI (N = 729)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0624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12080" y="2148840"/>
            <a:ext cx="0" cy="3328416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5216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23760" y="2148840"/>
            <a:ext cx="0" cy="3328416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5513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14884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23879" y="2386584"/>
            <a:ext cx="1175492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3901" y="230886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0942" y="2185416"/>
            <a:ext cx="0" cy="402336"/>
          </a:xfrm>
          <a:prstGeom prst="line">
            <a:avLst/>
          </a:prstGeom>
          <a:noFill/>
          <a:ln w="15875">
            <a:solidFill>
              <a:srgbClr val="24314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132302" y="192938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gap 43.8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6243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60242" y="2862072"/>
            <a:ext cx="130524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35308" y="278434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099816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099816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42202" y="3337560"/>
            <a:ext cx="1258976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94133" y="325983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575304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43532" y="3813048"/>
            <a:ext cx="97164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51628" y="373532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1" name="Shape 29"/>
          <p:cNvSpPr/>
          <p:nvPr/>
        </p:nvSpPr>
        <p:spPr>
          <a:xfrm>
            <a:off x="548640" y="4050792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405079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96830" y="4288536"/>
            <a:ext cx="98371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10962" y="421081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5262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332976" y="4764024"/>
            <a:ext cx="1279093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4631" y="468630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5001768"/>
            <a:ext cx="6675120" cy="4754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00176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129601" y="5239512"/>
            <a:ext cx="15221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7986" y="516178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errors clustered by employer. R² = 0.335. Crimson: p &lt; 0.05 (clustered; this model has no bootstrap). Region effects are relative to the Midwest.</a:t>
            </a:r>
            <a:endParaRPr lang="en-US" sz="10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7635240" y="1508760"/>
          <a:ext cx="4007815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Shape 41"/>
          <p:cNvSpPr/>
          <p:nvPr/>
        </p:nvSpPr>
        <p:spPr>
          <a:xfrm>
            <a:off x="7635240" y="4754880"/>
            <a:ext cx="4007815" cy="9144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818120" y="4754880"/>
            <a:ext cx="36420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South has the lowest disclosure (42%) and 32% of its postings covered; with region held fixed the gap goes from 43.8 to 38.8 points.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Seniority, required experience and a stated cloud skill predict advertised pay under every check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61104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95344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230368" y="1554480"/>
            <a:ext cx="0" cy="3977640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99632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33872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68896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03136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0" cy="3977640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5568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155448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55448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5092" y="1687068"/>
            <a:ext cx="140588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7132" y="160934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181965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(per step)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47408" y="1952244"/>
            <a:ext cx="33405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5312" y="187452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08483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208483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95566" y="2217420"/>
            <a:ext cx="16600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99806" y="213969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35000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(vs. Midwest)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30378" y="2482596"/>
            <a:ext cx="168747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4058" y="240487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261518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1518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(vs. Midwest)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75738" y="2747772"/>
            <a:ext cx="1269306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13350" y="267004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88036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75057" y="3012948"/>
            <a:ext cx="918071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45999" y="293522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145536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14553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States an experience minimum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13119" y="3278124"/>
            <a:ext cx="1108338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72221" y="320040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41071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02360" y="3543300"/>
            <a:ext cx="1824490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7676" y="3465576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" y="3675888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367588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238125" y="3808476"/>
            <a:ext cx="158564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23209" y="3730752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394106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60564" y="4073652"/>
            <a:ext cx="294360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3894" y="399592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1" name="Shape 49"/>
          <p:cNvSpPr/>
          <p:nvPr/>
        </p:nvSpPr>
        <p:spPr>
          <a:xfrm>
            <a:off x="548640" y="4206240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4206240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(vs. Midwest)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89744" y="4338828"/>
            <a:ext cx="1752014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51318" y="4261104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471416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61341" y="4604004"/>
            <a:ext cx="1180142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56355" y="4526280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640" y="4736592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48640" y="4736592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Remote-eligible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689677" y="4869180"/>
            <a:ext cx="1319651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249570" y="4791456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01768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hourly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264249" y="5134356"/>
            <a:ext cx="1509027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11297" y="505663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5266944"/>
            <a:ext cx="7589520" cy="265176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5266944"/>
            <a:ext cx="2606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267741" y="5399532"/>
            <a:ext cx="973295" cy="0"/>
          </a:xfrm>
          <a:prstGeom prst="line">
            <a:avLst/>
          </a:prstGeom>
          <a:noFill/>
          <a:ln w="28575">
            <a:solidFill>
              <a:srgbClr val="A7A9A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4135" y="5321808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03920" y="155448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517636" y="19796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823960" y="1938528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under every check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23960" y="2194560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seniority, required experience and a stated cloud skill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17636" y="269290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000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823960" y="2651760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or nominal only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8823960" y="2907792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the bootstrap, fails a check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8517636" y="3406140"/>
            <a:ext cx="155448" cy="1554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8823960" y="3364992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8823960" y="3621024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 p &lt; 0.05, bootstrap p ≥ 0.05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8517636" y="4119372"/>
            <a:ext cx="155448" cy="155448"/>
          </a:xfrm>
          <a:prstGeom prst="ellipse">
            <a:avLst/>
          </a:prstGeom>
          <a:solidFill>
            <a:srgbClr val="A7A9AB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823960" y="4078224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significant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03920" y="4846320"/>
            <a:ext cx="3139135" cy="96012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641080" y="4846320"/>
            <a:ext cx="28648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model, N = 543, 100 employer clusters, R² = 0.589. Dot: % effect, e^β − 1. Bar: 95% cluster-robust CI.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PAY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dollars: one seniority step is worth about $17,000 a year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480560" cy="1261872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55448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$17,000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7180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97180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year of required experience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$3,900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4480560" cy="12618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389120"/>
            <a:ext cx="1828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+12.5%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389120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stated cloud skill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$19,000 a year at mean pay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508760"/>
          <a:ext cx="624809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advertised pay $151,839 (median $144,360). Predictions are geometric means from the core model: exp(mean ln pay + β × (rank − mean rank)).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ROBUSTNESS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three results hold under the bootstrap and all four checks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051560"/>
                <a:gridCol w="1051560"/>
                <a:gridCol w="1325880"/>
                <a:gridCol w="1188720"/>
                <a:gridCol w="1188720"/>
                <a:gridCol w="1234440"/>
                <a:gridCol w="1538935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Wild bootstrap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nationwide-remote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Price-adjusted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Crusoe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Without federal rows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 everywhere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Tentative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Overturned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7A9A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significant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Cells: p-values; shaded = p &lt; 0.05. Price-adjusted pay has no bootstrap, so that column is clustered. Tentative: p ≥ 0.02 on the bootstrap or the remote check, or fails a check. Nominal only: fails price adjustment alone.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PRE-REGISTERED HYPOTHESES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seven pre-registered hypotheses are supported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51560"/>
                <a:gridCol w="2103120"/>
                <a:gridCol w="1463040"/>
                <a:gridCol w="217901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(bootstrap)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dominates advertised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 per step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mandate raises disclosure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91.3% vs. 47.5%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Supported, descriptively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 per year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roles carry a premium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required degree raises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Mandate states advertise wider ranges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−5.8% range width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0.497 (clustered)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centers pay more than utilities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E6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Inconclusive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54406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has the wrong sign (−5.0%); clustered errors would call it significant (p = 0.055), the bootstrap does not (p = 0.074).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THE EARLY-CAREER QUESTION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Early-career postings: 80 observations are too few to pin down premiums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9184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07280" y="1554480"/>
            <a:ext cx="0" cy="3950208"/>
          </a:xfrm>
          <a:prstGeom prst="line">
            <a:avLst/>
          </a:prstGeom>
          <a:noFill/>
          <a:ln w="12700">
            <a:solidFill>
              <a:srgbClr val="2431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4152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2272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5696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38160" y="1554480"/>
            <a:ext cx="0" cy="3950208"/>
          </a:xfrm>
          <a:prstGeom prst="line">
            <a:avLst/>
          </a:prstGeom>
          <a:noFill/>
          <a:ln w="9525">
            <a:solidFill>
              <a:srgbClr val="D4D6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55412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155448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155448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experience (per year)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99056" y="1677924"/>
            <a:ext cx="92227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66868" y="160020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80136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88384" y="1924812"/>
            <a:ext cx="680227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40483" y="184708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04825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204825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degree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72487" y="2171700"/>
            <a:ext cx="540719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8162" y="209397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29514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15298" y="2418588"/>
            <a:ext cx="96953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98772" y="234086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54203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54203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2107" y="2665476"/>
            <a:ext cx="510040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03642" y="258775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278892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41728" y="2912364"/>
            <a:ext cx="106364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70099" y="283464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035808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303580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skill (AWS, Azure, GCP)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04349" y="3159252"/>
            <a:ext cx="78104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04271" y="3081528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328269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13207" y="3406140"/>
            <a:ext cx="2897866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8908" y="3328416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3529584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352958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47275" y="3653028"/>
            <a:ext cx="101360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54574" y="3575304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377647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287874" y="3899916"/>
            <a:ext cx="2212033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10800" y="3822192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4023360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402336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911590" y="4146804"/>
            <a:ext cx="88091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57648" y="4069080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8640" y="4270248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025407" y="4393692"/>
            <a:ext cx="2726202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74141" y="4315968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17136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4517136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operator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01833" y="4640580"/>
            <a:ext cx="1635334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85806" y="4562856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476402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311760" y="4887468"/>
            <a:ext cx="204519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66106" y="4809744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48640" y="5010912"/>
            <a:ext cx="7589520" cy="24688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5010912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Pay-transparency mandate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646709" y="5134356"/>
            <a:ext cx="655635" cy="0"/>
          </a:xfrm>
          <a:prstGeom prst="line">
            <a:avLst/>
          </a:prstGeom>
          <a:noFill/>
          <a:ln w="28575">
            <a:solidFill>
              <a:srgbClr val="99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87173" y="5056632"/>
            <a:ext cx="155448" cy="155448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5257800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early career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617584" y="5381244"/>
            <a:ext cx="1206978" cy="0"/>
          </a:xfrm>
          <a:prstGeom prst="line">
            <a:avLst/>
          </a:prstGeom>
          <a:noFill/>
          <a:ln w="28575">
            <a:solidFill>
              <a:srgbClr val="5E6A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111181" y="5303520"/>
            <a:ext cx="155448" cy="1554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A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03920" y="1554480"/>
            <a:ext cx="3139135" cy="137160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686800" y="16002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000" dirty="0"/>
          </a:p>
        </p:txBody>
      </p:sp>
      <p:sp>
        <p:nvSpPr>
          <p:cNvPr id="70" name="Text 68"/>
          <p:cNvSpPr txBox="1"/>
          <p:nvPr/>
        </p:nvSpPr>
        <p:spPr>
          <a:xfrm>
            <a:off x="9966960" y="1645920"/>
            <a:ext cx="1538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postings that state pay, from 36 employers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8686800" y="2468880"/>
            <a:ext cx="2773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sample: N = 543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3108960"/>
            <a:ext cx="3139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sample (core model).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Grey, hollow: </a:t>
            </a:r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early-career subsample (no bootstrap; clustered p).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503920" y="3977640"/>
            <a:ext cx="3139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p &lt; 0.05 (clustered): a stated cloud skill (+24%) and an AI/ML role family (+25%). Intervals this wide cannot be read as findings.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8503920" y="4937760"/>
            <a:ext cx="3139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full sample, requires a degree, ML/AI skill, AI/ML role family, data-center operator and pay-transparency mandate are not significant under the bootstrap.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career: an entry-level title, or a stated experience minimum of 3 years or less. Bars: 95% cluster-robust CI. Seniority is left off the plot: the subsample spans only entry and mid ranks.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WHAT DID NOT HOLD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not hold 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96596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Overturned by the bootstrap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 +9.8%: p = 0.033 clustered, 0.074 bootstrap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role family +8.0%: p = 0.048 clustered, 0.083 bootstrap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75564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degree requirement: wrong sign, inconclusive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42316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to raise pay; estimated −5.0% (bootstrap p = 0.074).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distinguishable from zero at this cluster count.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 degree: tentative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+5.1% (bootstrap p = 0.043), but fails without Crusoe (p = 0.086) and without federal rows (p = 0.051).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840480"/>
            <a:ext cx="5410048" cy="196596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406908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4069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995928"/>
            <a:ext cx="4404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premiums: nominal only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663440"/>
            <a:ext cx="4358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+13.5% nominal; price-adjusted p = 0.149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Northeast +8.9% nominal; price-adjusted p = 0.706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because they were tested: a null or a reversal is a result. The AI/ML premium did not hold, so it is not claimed.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TO VALIDITY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threats, and how each is handled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Advertised is not realized pay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outcome is the midpoint of the posted range; offers can be negotiated in either direction.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169164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82880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6160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5968" y="182880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is selected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055968" y="235000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no law applies only 48% of postings state pay, so pay coefficients are conditional on disclosure. Disclosure is modelled as its own outcome.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Associational, not causal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cross-section with no time variation: no difference-in-differences. Employers in mandate states differ in other ways.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566160"/>
            <a:ext cx="5410048" cy="169164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3794760"/>
            <a:ext cx="420624" cy="420624"/>
          </a:xfrm>
          <a:prstGeom prst="ellipse">
            <a:avLst/>
          </a:prstGeom>
          <a:solidFill>
            <a:srgbClr val="99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160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5968" y="3794760"/>
            <a:ext cx="44042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Few, uneven clusters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315968"/>
            <a:ext cx="435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employers, the largest 9.0% of rows. Every p-value comes from the wild cluster bootstrap; Crusoe is also dropped as a check.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pay is nominal in the headline model (a price-adjusted re-estimate, N = 498, is in the robustness table); scope widened in response to the data, with every change dated in the pre-registration; four Chicago-area employers on iCIMS are absent.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26974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 vs. 48%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follows the law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 law requires it, 91.3% of postings state pay; elsewhere 47.5%. Stable at 43–45 points across every cut. Associational.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2538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+11.2%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and experience set the level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seniority step, and +2.5% per year of required experience, as pre-registered. A cloud skill adds +12.5% (exploratory).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26974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173736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not hold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51460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expected premiums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306324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ML/AI skill, AI/ML role family: overturned by the bootstrap. Degree requirement: wrong sign. West, Northeast: nominal pay only.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805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543 postings from 100 employers, the sharpest regularity is not how much pay is advertised, but whether it is named at all.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492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disclosure: </a:t>
            </a:r>
            <a:pPr indent="0" marL="0">
              <a:buNone/>
            </a:pPr>
            <a:r>
              <a:rPr lang="en-US" sz="11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collection and analysis code and this deck were produced with Claude Code, Anthropic's AI coding assistant. Study design, decisions and interpretation are the author's.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2651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DEB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model tables, definitions, data quality and the employer list.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EDEBE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model (pre-specified): log advertised pay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05840"/>
                <a:gridCol w="1005840"/>
                <a:gridCol w="1143000"/>
                <a:gridCol w="114300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 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235440" y="150876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72600" y="150876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372600" y="199339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235440" y="251460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372600" y="251460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99923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235440" y="352044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372600" y="352044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0.589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400507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235440" y="4526280"/>
            <a:ext cx="2407615" cy="868680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72600" y="4526280"/>
            <a:ext cx="2133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5010912"/>
            <a:ext cx="2133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 (log points)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Crimson rows: bootstrap p &lt; 0.05. Constant 11.334. Wild cluster bootstrap: restricted, Rademacher weights, 9,999 draws, seed 20260922. Regions relative to the Midwest.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A2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Extended model: 27 regressors (clustered SEs, no bootstrap)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77724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Std. err.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Clustered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degree preferred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level (numeric title)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a study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internship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Certification required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or 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Visualization / BI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Big-data tools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Teamwork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named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543, R² = 0.669. Crimson rows: clustered p &lt; 0.05. Estimated because the sample supports it (36.2 observations per core regressor); inference in the main slides uses the core model.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A3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Disclosure model and the price-adjusted pay model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37160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Disclosure (LPM)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Coef.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 CI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[0.21, 0.56]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[−0.02, 0.02]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[−0.06, 0.23]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[−0.26, 0.12]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[−0.32, 0.06]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[−0.52, −0.13]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[−0.20, 0.09]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729, R² = 0.335; clustered by employer.</a:t>
            </a:r>
            <a:endParaRPr lang="en-US" sz="10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508760"/>
          <a:ext cx="5516575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28016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model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Nominal p (boot.)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coef.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pay divides by BEA regional price parities by state (N = 498; nationwide-remote postings have no state and drop out). Crimson rows: significant in nominal pay, not in real pay.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A4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discloses pay: 543 postings that state it vs. 186 that do not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1325880"/>
                <a:gridCol w="128016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disclosed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Mean, withheld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 (per year)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States an experience minimum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degree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(AWS, Azure, GCP)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ML/AI skill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Remote-eligible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Advertised hourly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Northeast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South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 (vs. Midwest)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role family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Indianapolis metro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78240" y="1508760"/>
            <a:ext cx="2864815" cy="2011680"/>
          </a:xfrm>
          <a:prstGeom prst="rect">
            <a:avLst/>
          </a:prstGeom>
          <a:solidFill>
            <a:srgbClr val="F6E3E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961120" y="164592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61120" y="2011680"/>
            <a:ext cx="24990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that state pay differ from those that do not, most of all in location and mandate coverage. Pay coefficients describe the disclosing postings only.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rate 74.5%. Crimson rows: difference significant at 5% (two-sample test).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A5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attributes are coded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Coding rule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(dependent variable)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Midpoint of the advertised range, annualized to US dollars (hourly × 2,080); logged.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 (per step)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Ordinal from the title: 1 entry, 2 mid or unlevelled, 3 senior, 4 staff/principal, 5 manager, 6 director, 7 VP and above.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experience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years parsed from the text; 0 when unstated, with an indicator for stating one at all.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Requires a degree / STEM degree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bachelor's or higher is required (not “or equivalent experience”); the degree must be in a STEM field.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skill / ML/AI skill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AWS, Azure or Google Cloud named; machine learning or artificial intelligence named.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Pay-transparency mandate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 listed work location in a state whose posting law was in force on the day the posting was seen.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region of the work location; Midwest is the reference.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Data-center operator / AI/ML role family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Employer's industry category; role family from the title taxonomy.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Coded from posting text by word-boundary patterns in config/regressors.yaml; every coded value keeps the pattern that produced it. Full definitions: docs/codebook.md.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A6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pay, and the sample-size conditions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63840" y="150876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CONDITIONS (ALL PASS)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863840" y="1874520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01000" y="1874520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372600" y="1874520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 per regressor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20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863840" y="2807208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001000" y="2807208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372600" y="2807208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clusters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≥ 30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739896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3739896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9372600" y="3739896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employer's share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25%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672584"/>
            <a:ext cx="3779215" cy="804672"/>
          </a:xfrm>
          <a:prstGeom prst="rect">
            <a:avLst/>
          </a:prstGeom>
          <a:solidFill>
            <a:srgbClr val="EDEBE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01000" y="4672584"/>
            <a:ext cx="1325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9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4672584"/>
            <a:ext cx="213329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detectable effect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≤ 0.25 log points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$151,839, median $144,360, SD $50,497, range $65,000–$365,000. Interpretable: yes.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A7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1–6)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Regressor coding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systematic false positives, all firing on company boilerplate rather than on anything asked of the applicant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role_family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53 assignments wrong (89%). Four had reached a live measurement and sat in the top eleven rows by pay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seniority_rank, state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of 141 wrong (85.1%). One defect changed the headline disclosure contrast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industry umbrella itself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multi-sector consultancy supplied 22% of the sample and three rows of it were energy work. 337 postings removed; the AI-premium finding did not survive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concept role screen and dedupe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40 titles the new matcher admitted were read: 4 false positives caught before the rebuild. One nested-location repost found in 1,940 records and collapsed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26: all 115 added rows, then the whole corpus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pay parser was still halving 17 Invenergy rows and recording 9 NYISO rows at their floor. Every usable "Hitachi Energy" row belonged to a sister company. Connecticut was coded as a mandate state before its law took effect. Fixing them withdrew mandate_state and region_west, which had passed the bootstrap on the unaudited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A8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quality: 12 rounds of hand-auditing (rounds 7–12)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743200"/>
                <a:gridCol w="7939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audited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found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99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27, the first live run of the description cache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cache reused every posting it held within its window, with no disclosure drift. A second run on the same date had overwritten the first run's files, dropping a closed posting, and an edited requisition was counted twice. Both fixed at the cause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28 (cancelled at employer 209 of 269): all 58 added rows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 Vernova's first collection added 18 rows and a cluster; two were off-taxonomy (packaging compliance, sales). "$1M to $30M" project sizes were read as $30 an hour, the only usable row of a phantom Duke cluster. The Ashby adapter had crashed on every board since the cache commit. The first next-day cache read reused 352 descriptions with no disclosure drift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29, the national frame expansion (133 added rows)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Crusoe's salaries were read as monthly because a "$300 per month" commuter benefit sat above them: nine rows at their ceiling or missing. Austin Energy's postings, labelled with facility names, were rejected as having no state. Six off-taxonomy roles at new employers. Crusoe alone supplied 49 usable rows, reported with a sensitivity check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30 (28 Sep, dispatched early at the owner's request), the first collection of batches 5-12 and USAJOBS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towns named after foreign cities read as non-US (Eversource's Berlin, CT), and a repost differing by one full stop, both fixed between runs. Location forms never met before ("Tucson, AZ - Downtown", "Washington - Pullman", "San Francisco Bay Area") rejected every posting of a newly confirmed employer (SEL) on its first collection. Eleven off-taxonomy postings at new employers (HR, labour compliance, construction, manufacturing quality, product engineering)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31 (29 Sep, dispatched by hand when the cron did not fire), the first collection of the federal energy agencies and batches 13-15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dotted "Washington, D.C." read as Washington State, which put two rows in the West and cost a two-site posting its DC mandate site. A retitled Workday posting lost its posting date, a Model 2 regressor. Generated lists of three names read as one phrase in the summary, paper and deck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A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9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32 (the 29 Sep cron, 6.5 hours late) and 34 (30 Sep, the last collection)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1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lawyer admitted on "commercial development" (Bloom Energy). A pre-registered robustness check, the pay model without federal rows, computed on every run but reported nowhere; in the final data it changes a verdict. Two generated sentences overstated: a list of survivors cut at four, and a control variable described as contradicting a prediction it never had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defect found is pinned by a regression test built from the real title or location string that produced it. Full log: docs/audit-log.md.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A9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100 employers in the pay sample (postings stating pay)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Crusoe (49)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Invenergy (47)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Eversource Energy (38)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AEP Energy (25)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Xcel Energy (20)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Indiana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(18)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Avangrid (16)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 Clean Energy (11)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ISO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Nexamp (10)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Solutions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Tapestry (9)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Ameren Illinois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Oklo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 Schweitzer Engineering Laboratories (8)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Energy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Commonwealth Fusion Systems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Source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EnergyHub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Gridware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Radiant Industries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Nuclear Company (7)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322244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 Data Centers (7)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Guidehouse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X-energy (6)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California ISO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TerraPower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Valar Atomics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(5)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Alliant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Charles River Associates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Leaf Energy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Rowan Digital Infrastructure (4)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Cypress Creek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Flexential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GridUnity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Renewables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Infrastructure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Brattle Group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Voltus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Washington Gas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Xcimer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Energy (3)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Avenue Power (2)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5848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Transmission Co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Avantus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Bonneville Power Administration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Clearway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Equinix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GridCARE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Heron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Itron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Kairos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Energy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Global Data Centers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Power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Landscape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Sunrun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WeaveGrid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Wunder Capital (2)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Adapture Renewables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Ameresco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Argonne National Laboratory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Austin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Brightcore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CARIAN (1)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869451" y="1508760"/>
            <a:ext cx="2636444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Canadian Solar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Power Alliance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Cologix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Energy Solutions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EdgeConneX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Emporia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Vault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and Environmental Economics (E3)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 Power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Electric Manufacturing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Leeward Renewable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LevelTen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Madison Energy Infrastructure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NRECA National Rural Electric Cooperative Association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Omnidian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Orenda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Origis Energy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QTS Data Centers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RMI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Reactivate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Jersey Industries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VELCO (1)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Area Power Administration (1)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by postings. Crusoe is the largest at 9.0%; a robustness check drops 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A10</a:t>
            </a:r>
            <a:endParaRPr lang="en-US" sz="1100" dirty="0"/>
          </a:p>
        </p:txBody>
      </p:sp>
      <p:sp>
        <p:nvSpPr>
          <p:cNvPr id="3" name="Text 3"/>
          <p:cNvSpPr/>
          <p:nvPr>
            <p:ph type="title" hasCustomPrompt="1"/>
          </p:nvPr>
        </p:nvSpPr>
        <p:spPr>
          <a:xfrm>
            <a:off x="548640" y="56692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431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Arnold, D., Quach, S., &amp; Taska, B. (2025).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impact of pay transparency in job postings on the labor market. NBER Working Paper 34480.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Cameron, A. C., Gelbach, J. B., &amp; Miller, D. L. (2008).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Bootstrap-based improvements for inference with clustered errors. Review of Economics and Statistics, 90(3), 414–427.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(2024).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pay transparency good? Journal of Economic Perspectives, 38(1), 153–180.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Cullen, Z. B., &amp; Pakzad-Hurson, B. (2023).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Equilibrium effects of pay transparency. Econometrica, 91(3), 765–802.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Bureau of Economic Analysis.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43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Regional price parities by state (used to price-adjust pay).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code and every generated deliverable: the study repository (pre-registration, codebook, audit log and limitations in docs/).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3679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E6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diana University">
      <a:dk1>
        <a:srgbClr val="243142"/>
      </a:dk1>
      <a:lt1>
        <a:srgbClr val="FFFFFF"/>
      </a:lt1>
      <a:dk2>
        <a:srgbClr val="6B0000"/>
      </a:dk2>
      <a:lt2>
        <a:srgbClr val="EDEBEB"/>
      </a:lt2>
      <a:accent1>
        <a:srgbClr val="990000"/>
      </a:accent1>
      <a:accent2>
        <a:srgbClr val="5E6A78"/>
      </a:accent2>
      <a:accent3>
        <a:srgbClr val="A7A9AB"/>
      </a:accent3>
      <a:accent4>
        <a:srgbClr val="B33A3A"/>
      </a:accent4>
      <a:accent5>
        <a:srgbClr val="D98C8C"/>
      </a:accent5>
      <a:accent6>
        <a:srgbClr val="243142"/>
      </a:accent6>
      <a:hlink>
        <a:srgbClr val="990000"/>
      </a:hlink>
      <a:folHlink>
        <a:srgbClr val="6B0000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Indiana University, Kelley School of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Evidence from employer-published job postings</dc:subject>
  <dc:creator>Alexander J. Henderson</dc:creator>
  <cp:lastModifiedBy>Alexander J. Henderson</cp:lastModifiedBy>
  <cp:revision>1</cp:revision>
  <dcterms:created xsi:type="dcterms:W3CDTF">2026-10-05T01:37:58Z</dcterms:created>
  <dcterms:modified xsi:type="dcterms:W3CDTF">2026-10-05T01:37:58Z</dcterms:modified>
</cp:coreProperties>
</file>