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Current estimation sample: 0 postings with a disclosed pay range. The dependent variable is the log of the midpoint of the employer-stated range, annualized.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Scope is deliberately narrow: core operators only, software/data/analytics roles 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compliance posture — rate limiting, identifying User-Agent, no circumvention — is documented in docs/methods.md.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asymmetry is the study's main source of disclosure variation and its main threat to the metro comparison.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rejection reasons live in data/analysis/selection_funnel.json.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model is re-estimated on every collection run; this slide regenerates from analysis.json.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Stating these plainly is part of the deliverable; docs/limitations.md carries the full treatment.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pip install -r requirements.txt &amp;&amp; python tests/run_all.py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F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 MARKET STUDY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28800"/>
            <a:ext cx="1090879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Advertised Pay in Early-Career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Software and Data Roles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566160"/>
            <a:ext cx="1090879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Utility and data center operators in the Chicago and Indianapolis metros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Regressing log advertised pay on attributes stated in the posting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question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80160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attributes stated in a job posting predict the pay an employer advertises?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194560"/>
            <a:ext cx="6702552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center buildout is driving technical hiring across the utility sector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sectors compete for early-career software and data talent against national tech pay scales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Postings state requirements, benefits, location and work arrangement — all potential pay determinants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Outcome: log of the employer-stated pay range midpoint, annualized to USD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708392" y="2286000"/>
            <a:ext cx="38404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91272" y="2487168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7891272" y="331012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regressors coded from posting text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708392" y="4206240"/>
            <a:ext cx="38404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91272" y="4407408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mi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7891272" y="523036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radius around each metro centroid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not LinkedIn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34440"/>
            <a:ext cx="10908792" cy="1234440"/>
          </a:xfrm>
          <a:prstGeom prst="roundRect">
            <a:avLst>
              <a:gd name="adj" fmla="val 8889"/>
            </a:avLst>
          </a:prstGeom>
          <a:solidFill>
            <a:srgbClr val="F7EDEC"/>
          </a:solidFill>
          <a:ln w="12700">
            <a:solidFill>
              <a:srgbClr val="F7ED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0120" y="1417320"/>
            <a:ext cx="102687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LinkedIn's User Agreement §8.2 prohibits using scripts, robots or crawlers to scrape or copy the Services — including the unauthenticated endpoints used in most tutorials.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743200"/>
            <a:ext cx="10908792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is collected instead from the public, unauthenticated ATS APIs employers publish through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the upstream systems that syndicate postings to job boards, including LinkedIn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Greenhouse, Lever, Ashby, SmartRecruiters, Workable, Recruitee and Workday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untruncated description text and the employer's own stated range — no key, no cost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Aggregators were rejected as a backbone: they truncate text and often return predicted salaries, which would make the regression circular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Illinois makes this possible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72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 3129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3957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effective 1 Jan 2025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251960" y="137160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434840" y="1572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15+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434840" y="23957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 covered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863840" y="137160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46720" y="1572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IN: none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8046720" y="23957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Indiana mandate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383280"/>
            <a:ext cx="10908792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Illinois employers must state the pay scale AND describe benefits in any posting for Illinois work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dependent variable and several benefit regressors are therefore legally required to appear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Indiana has no comparable law, so Indianapolis postings disclose far less often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Those that do disclose are self-selected — the metro comparison carries that caveat explicitly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mandate_state is carried as a regressor so the contrast can be examined, not assumed away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raw postings to the estimation sample</a:t>
            </a:r>
            <a:endParaRPr lang="en-US" sz="3200" dirty="0"/>
          </a:p>
        </p:txBody>
      </p:sp>
      <p:pic>
        <p:nvPicPr>
          <p:cNvPr id="3" name="Image 0" descr="/home/user/modern-labor-market-data-submission/paper/figures/fig1_fun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6949440" cy="40233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955280" y="1463040"/>
            <a:ext cx="3593592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Retrieved: 165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Passed screens: 3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study metro: 0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postings: 0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disclosed: 0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7955280" y="3931920"/>
            <a:ext cx="359359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i="1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rejection is counted and reported by reason, so the sample can be described rather than merely stated.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10908792" cy="2011680"/>
          </a:xfrm>
          <a:prstGeom prst="roundRect">
            <a:avLst>
              <a:gd name="adj" fmla="val 5455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05840" y="1691640"/>
            <a:ext cx="101772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results yet — the estimation sample is still below the threshold for a meaningful model.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2450592"/>
            <a:ext cx="10177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sample: 0 postings with disclosed pay from 0 employers. Collection continues weekly; the model is estimated automatically once the sample supports it.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840480"/>
            <a:ext cx="10908792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specification is pre-registered: a core model of 8-10 regressors, extended only when the sample supports ~20 observations per regressor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the specification from sample size rather than from results is what keeps the estimate honest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errors are clustered by employer, since employers contribute many postings each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data cannot support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89304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97280" y="123444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Advertised, not realized pay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120640" y="1234440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Posted ranges reflect compliance and negotiating posture, not earnings.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221992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2167128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Disclosure is selected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120640" y="2167128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Indiana has no mandate, so its disclosing postings are self-selected.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154680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3099816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Exelon and ComEd are missing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120640" y="3099816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run iCIMS, which has no free public API — the largest Chicago utility employer is absent.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087368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032504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historical backfill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120640" y="4032504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ATS APIs serve only open postings, so the panel starts when collection starts.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5020056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6519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 employer clusters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120640" y="4965192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Clustered standard errors under-covered at 88% in simulation with 12 clusters.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F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28800"/>
            <a:ext cx="1090879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Reproducible end to end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566160"/>
            <a:ext cx="1090879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Collection, screening, coding, estimation and this deck all regenerate from committed artifacts.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GitHub Actions runs extend the panel; every number traces to data/analysis/.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Advertised Pay in Early-Career Software and Data Roles</dc:title>
  <dc:subject>PptxGenJS Presentation</dc:subject>
  <dc:creator>Labor market study</dc:creator>
  <cp:lastModifiedBy>Labor market study</cp:lastModifiedBy>
  <cp:revision>1</cp:revision>
  <dcterms:created xsi:type="dcterms:W3CDTF">2026-09-20T22:53:53Z</dcterms:created>
  <dcterms:modified xsi:type="dcterms:W3CDTF">2026-09-20T22:53:53Z</dcterms:modified>
</cp:coreProperties>
</file>