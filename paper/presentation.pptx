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Current estimation sample: 100 postings with a disclosed pay range. The dependent variable is the log of the midpoint of the employer-stated range, annualized.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Roles stay narrow — an energy-analytics core. Geography and seniority are what widened.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compliance posture — rate limiting, identifying User-Agent, no circumvention — is documented in docs/methods.md.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asymmetry is the study's main source of disclosure variation and its main threat to the metro comparison.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rejection reasons live in data/analysis/selection_funnel.json.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is re-estimated on every collection run; this slide regenerates from analysis.json.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Stating these plainly is part of the deliverable; docs/limitations.md carries the full treatment.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 install -r requirements.txt &amp;&amp; python tests/run_all.py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MARKET STUDY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Advertised Pay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US Energy and Data Center Sector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from employer-published job postings, nationwide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Regressing log advertised pay on attributes stated in the posting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attributes stated in a job posting predict the pay an employer advertises?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94560"/>
            <a:ext cx="6702552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buildout is driving technical and analytical hiring across the energy sector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Seniority and location enter as regressors, not sample filters — which is what makes the disclosure contrast estimable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 state requirements, benefits, location and work arrangement — all potential pay determinants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log of the employer-stated pay range midpoint, annualized to USD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08392" y="228600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91272" y="248716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891272" y="33101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regressors coded from posting text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08392" y="420624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91272" y="440740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891272" y="523036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mandating pay in the posting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LinkedIn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0908792" cy="1234440"/>
          </a:xfrm>
          <a:prstGeom prst="roundRect">
            <a:avLst>
              <a:gd name="adj" fmla="val 8889"/>
            </a:avLst>
          </a:prstGeom>
          <a:solidFill>
            <a:srgbClr val="F7EDEC"/>
          </a:solidFill>
          <a:ln w="12700">
            <a:solidFill>
              <a:srgbClr val="F7ED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417320"/>
            <a:ext cx="102687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LinkedIn's User Agreement §8.2 prohibits using scripts, robots or crawlers to scrape or copy the Services — including the unauthenticated endpoints used in most tutorials.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10908792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collected instead from the public, unauthenticated ATS APIs employers publish through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upstream systems that syndicate postings to job boards, including LinkedIn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Greenhouse, Lever, Ashby, SmartRecruiters, Workable, Recruitee and Workday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untruncated description text and the employer's own stated range — no key, no cost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Aggregators were rejected as a backbone: they truncate text and often return predicted salaries, which would make the regression circular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Illinois makes this possible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 3129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1 Jan 2025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covered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IN: none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Indiana mandate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383280"/>
            <a:ext cx="10908792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Illinois employers must state the pay scale AND describe benefits in any posting for Illinois work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dependent variable and several benefit regressors are therefore legally required to appear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has no comparable law, so Indianapolis postings disclose far less often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that do disclose are self-selected — the metro comparison carries that caveat explicitly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mandate_state is carried as a regressor so the contrast can be examined, not assumed away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postings to the estimation sample</a:t>
            </a:r>
            <a:endParaRPr lang="en-US" sz="3200" dirty="0"/>
          </a:p>
        </p:txBody>
      </p:sp>
      <p:pic>
        <p:nvPicPr>
          <p:cNvPr id="3" name="Image 0" descr="/home/user/modern-labor-market-data-submission/paper/figures/fig1_fu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6949440" cy="40233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955280" y="1463040"/>
            <a:ext cx="359359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Retrieved: 831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screens: 193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study metro: 149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postings: 138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disclosed: 100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955280" y="3931920"/>
            <a:ext cx="359359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rejection is counted and reported by reason, so the sample can be described rather than merely stated.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$107,913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advertised pay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 in the model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0.57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R-squared</a:t>
            </a:r>
            <a:endParaRPr lang="en-US" sz="1200" dirty="0"/>
          </a:p>
        </p:txBody>
      </p:sp>
      <p:pic>
        <p:nvPicPr>
          <p:cNvPr id="12" name="Image 0" descr="/home/user/modern-labor-market-data-submission/paper/figures/fig3_coeffici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200400"/>
            <a:ext cx="1088136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data cannot support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89304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2344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Advertised, not realized pay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1234440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 ranges reflect compliance and negotiating posture, not earnings.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21992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16712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is selected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2167128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has no mandate, so its disclosing postings are self-selected.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15468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09981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Exelon and ComEd are missing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3099816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run iCIMS: its feed goes only to approved job boards, its API is partner-gated, no syndication feed exists, and its terms bar automated access. Verified by reading them, not assumed.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087368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0325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historical backfill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4032504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APIs serve only open postings, so the panel starts when collection starts.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020056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651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employer clusters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4965192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Clustered standard errors under-covered at 88% in simulation with 12 clusters.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end to end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Collection, screening, coding, estimation and this deck all regenerate from committed artifacts.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GitHub Actions runs extend the panel; every number traces to data/analysis/.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Determinants of Advertised Pay in the US Energy and Data Center Sector</dc:title>
  <dc:subject>PptxGenJS Presentation</dc:subject>
  <dc:creator>Labor market study</dc:creator>
  <cp:lastModifiedBy>Labor market study</cp:lastModifiedBy>
  <cp:revision>1</cp:revision>
  <dcterms:created xsi:type="dcterms:W3CDTF">2026-09-21T16:33:04Z</dcterms:created>
  <dcterms:modified xsi:type="dcterms:W3CDTF">2026-09-21T16:33:04Z</dcterms:modified>
</cp:coreProperties>
</file>