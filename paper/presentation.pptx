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Current estimation sample: 220 postings with a disclosed pay range. The dependent variable is the log of the midpoint of the employer-stated range, annualized.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Roles stay narrow — an energy-analytics core. Geography and seniority are what widened.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compliance posture — rate limiting, identifying User-Agent, no circumvention — is documented in docs/methods.md.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Illinois HB 3129 was the original motivation; the study is national now and the contrast spans 13 jurisdictions in force at collection.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rejection reasons live in data/analysis/selection_funnel.json.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 is re-estimated on every collection run; this slide regenerates from analysis.json.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Stating these plainly is part of the deliverable; docs/limitations.md carries the full treatment.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pip install -r requirements.txt &amp;&amp; python tests/run_all.py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 MARKET STUDY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Determinants of Advertised Pay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the US Energy and Data Center Sector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1090879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from employer-published job postings, nationwide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Regressing log advertised pay on attributes stated in the posting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8016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attributes stated in a job posting predict the pay an employer advertises?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94560"/>
            <a:ext cx="6702552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center buildout is driving technical and analytical hiring across the energy sector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Seniority and location enter as regressors, not sample filters — which is what makes the disclosure contrast estimable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Postings state requirements, benefits, location and work arrangement — all potential pay determinants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log of the employer-stated pay range midpoint, annualized to USD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08392" y="2286000"/>
            <a:ext cx="38404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91272" y="248716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7891272" y="331012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regressors coded from posting text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08392" y="4206240"/>
            <a:ext cx="38404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91272" y="440740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7891272" y="523036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jurisdictions mandating pay in the posting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not LinkedIn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10908792" cy="1234440"/>
          </a:xfrm>
          <a:prstGeom prst="roundRect">
            <a:avLst>
              <a:gd name="adj" fmla="val 8889"/>
            </a:avLst>
          </a:prstGeom>
          <a:solidFill>
            <a:srgbClr val="F7EDEC"/>
          </a:solidFill>
          <a:ln w="12700">
            <a:solidFill>
              <a:srgbClr val="F7ED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417320"/>
            <a:ext cx="102687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LinkedIn's User Agreement §8.2 prohibits using scripts, robots or crawlers to scrape or copy the Services — including the unauthenticated endpoints used in most tutorials.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43200"/>
            <a:ext cx="10908792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collected instead from the public, unauthenticated ATS APIs employers publish through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the upstream systems that syndicate postings to job boards, including LinkedIn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Greenhouse, Lever, Ashby, SmartRecruiters, Workable, Recruitee and Workday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untruncated description text and the employer's own stated range — no key, no cost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Aggregators were rejected as a backbone: they truncate text and often return predicted salaries, which would make the regression circular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pay-transparency mandates make this possible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jurisdictions requiring a pay scale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5196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3484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94%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disclose (n=165)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86384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49%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disclose without one (n=132)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383280"/>
            <a:ext cx="10908792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 mandate applies, the employer must state a pay scale in the posting itself — so the dependent variable is legally required to appear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attaches to the JOB's location, so a posting listing any covered place is covered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asymmetry is what makes the disclosure contrast estimable at all, and it is the study's clearest result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mandate_state is carried as a regressor, so the contrast is examined rather than assumed away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associational: one cross-section, no time variation, no difference-in-differences available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raw postings to the estimation sample</a:t>
            </a:r>
            <a:endParaRPr lang="en-US" sz="3200" dirty="0"/>
          </a:p>
        </p:txBody>
      </p:sp>
      <p:pic>
        <p:nvPicPr>
          <p:cNvPr id="3" name="Image 0" descr="/home/user/Modern-Labor-Market-Data-Submission/paper/figures/fig1_fun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6949440" cy="40233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955280" y="1463040"/>
            <a:ext cx="3593592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Retrieved: 2253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 screens: 585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Located in the US: 457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postings: 297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disclosed: 220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955280" y="3931920"/>
            <a:ext cx="359359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i="1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rejection is counted and reported by reason, so the sample can be described rather than merely stated.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35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42–47pp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58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disclosure gap, every cut of the sample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51960" y="123444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34840" y="1435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220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2258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postings, 34 employers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863840" y="123444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1435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258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predictors surviving the bootstrap and the region check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108960"/>
            <a:ext cx="10908792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is stated far more often where a mandate applies, and the gap is stable across every cut — this is the result the study stands behind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disclosed pay, seniority, a Northeast location, a stated cloud skill are the only attributes distinguishable from zero — a stated cloud skill and a Northeast location only narrowly, so read them as tentative; a Northeast location does not survive price adjustment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coefficients reach significance under clustered standard errors and do NOT survive the wild cluster bootstrap — reported as inconclusive, not as findings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Seniority was predicted to dominate and does; it also survives every robustness cut applied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data cannot support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89304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97280" y="123444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Advertised, not realized pay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120640" y="1234440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Posted ranges reflect compliance and negotiating posture, not earnings.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221992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216712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Disclosure is selected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2167128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mandate jurisdictions most postings state no pay, so every pay coefficient is conditional on disclosure. This is the central threat.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154680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09981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Exelon and ComEd are missing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3099816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run iCIMS: its feed goes only to approved job boards, its API is partner-gated, no syndication feed exists, and its terms bar automated access. Verified by reading them, not assumed.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087368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03250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historical backfill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4032504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 APIs serve only open postings, so the panel starts when collection starts.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5020056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6519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employer clusters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4965192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Clustered errors cover at 92% against a nominal 95%. Significance is read off a wild cluster bootstrap, which leaves 3 predictor(s) standing: seniority, a Northeast location, a stated cloud skill.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Reproducible end to end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1090879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Collection, screening, coding, estimation and this deck all regenerate from committed artifacts.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GitHub Actions runs extend the panel; every number traces to data/analysis/.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Determinants of Advertised Pay in the US Energy and Data Center Sector</dc:title>
  <dc:subject>PptxGenJS Presentation</dc:subject>
  <dc:creator>Labor market study</dc:creator>
  <cp:lastModifiedBy>Labor market study</cp:lastModifiedBy>
  <cp:revision>1</cp:revision>
  <dcterms:created xsi:type="dcterms:W3CDTF">2026-09-27T16:50:04Z</dcterms:created>
  <dcterms:modified xsi:type="dcterms:W3CDTF">2026-09-27T16:50:04Z</dcterms:modified>
</cp:coreProperties>
</file>