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9.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b716a6b-3f39-0751-3130-649449ce3bc3}">
          <p14:sldIdLst>
            <p14:sldId id="256"/>
            <p14:sldId id="257"/>
          </p14:sldIdLst>
        </p14:section>
        <p14:section name="Institutional background" id="{fcd9ae4f-8481-981c-cf89-2f8658b4d2d2}">
          <p14:sldIdLst>
            <p14:sldId id="258"/>
          </p14:sldIdLst>
        </p14:section>
        <p14:section name="Data" id="{7045d92b-83eb-faca-18c1-3afedf634b5b}">
          <p14:sldIdLst>
            <p14:sldId id="259"/>
            <p14:sldId id="260"/>
            <p14:sldId id="261"/>
            <p14:sldId id="262"/>
          </p14:sldIdLst>
        </p14:section>
        <p14:section name="Empirical strategy" id="{489d9e92-205d-b444-01d2-a8d21704346e}">
          <p14:sldIdLst>
            <p14:sldId id="263"/>
          </p14:sldIdLst>
        </p14:section>
        <p14:section name="Results" id="{466ff076-b903-7b70-73d0-b303323aa68f}">
          <p14:sldIdLst>
            <p14:sldId id="264"/>
            <p14:sldId id="265"/>
            <p14:sldId id="266"/>
            <p14:sldId id="267"/>
            <p14:sldId id="268"/>
            <p14:sldId id="269"/>
            <p14:sldId id="270"/>
            <p14:sldId id="271"/>
          </p14:sldIdLst>
        </p14:section>
        <p14:section name="Threats to validity" id="{f2f21445-3a0b-e0fa-ab3b-8371eb1891ab}">
          <p14:sldIdLst>
            <p14:sldId id="272"/>
          </p14:sldIdLst>
        </p14:section>
        <p14:section name="Conclusion" id="{b08e1a2f-5d16-ca6c-2519-f1d030e6734a}">
          <p14:sldIdLst>
            <p14:sldId id="273"/>
          </p14:sldIdLst>
        </p14:section>
        <p14:section name="Appendix" id="{ab2e0455-f07b-c525-74eb-fc3bf918fd89}">
          <p14:sldIdLst>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43142"/>
                </a:solidFill>
                <a:latin typeface="Arial"/>
              </a:defRPr>
            </a:pPr>
            <a:r>
              <a:rPr sz="1200" b="0" i="0" u="none" strike="noStrike">
                <a:solidFill>
                  <a:srgbClr val="243142"/>
                </a:solidFill>
                <a:latin typeface="Arial"/>
              </a:rPr>
              <a:t>In-scope postings by industry (N = 729)</a:t>
            </a:r>
          </a:p>
        </c:rich>
      </c:tx>
      <c:layout/>
      <c:overlay val="0"/>
    </c:title>
    <c:autoTitleDeleted val="0"/>
    <c:plotArea>
      <c:layout/>
      <c:barChart>
        <c:barDir val="bar"/>
        <c:grouping val="clustered"/>
        <c:varyColors val="0"/>
        <c:ser>
          <c:idx val="0"/>
          <c:order val="0"/>
          <c:tx>
            <c:strRef>
              <c:f>Sheet1!$B$1</c:f>
              <c:strCache>
                <c:ptCount val="1"/>
                <c:pt idx="0">
                  <c:v>Postings</c:v>
                </c:pt>
              </c:strCache>
            </c:strRef>
          </c:tx>
          <c:spPr>
            <a:solidFill>
              <a:srgbClr val="990000"/>
            </a:solidFill>
            <a:effectLst/>
          </c:spPr>
          <c:invertIfNegative val="0"/>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cat>
            <c:multiLvlStrRef>
              <c:f>Sheet1!$A$2:$A$11</c:f>
              <c:multiLvlStrCache>
                <c:ptCount val="10"/>
                <c:lvl>
                  <c:pt idx="0">
                    <c:v>Electric utilities</c:v>
                  </c:pt>
                  <c:pt idx="1">
                    <c:v>Developers (renewables, storage)</c:v>
                  </c:pt>
                  <c:pt idx="2">
                    <c:v>Data-center operators</c:v>
                  </c:pt>
                  <c:pt idx="3">
                    <c:v>Energy analytics &amp; software</c:v>
                  </c:pt>
                  <c:pt idx="4">
                    <c:v>Grid-technology vendors</c:v>
                  </c:pt>
                  <c:pt idx="5">
                    <c:v>Energy consultancies</c:v>
                  </c:pt>
                  <c:pt idx="6">
                    <c:v>Grid operators (ISOs/RTOs)</c:v>
                  </c:pt>
                  <c:pt idx="7">
                    <c:v>Competitive retailers</c:v>
                  </c:pt>
                  <c:pt idx="8">
                    <c:v>Electric cooperatives</c:v>
                  </c:pt>
                  <c:pt idx="9">
                    <c:v>Gas utilities</c:v>
                  </c:pt>
                </c:lvl>
              </c:multiLvlStrCache>
            </c:multiLvlStrRef>
          </c:cat>
          <c:val>
            <c:numRef>
              <c:f>Sheet1!$B$2:$B$11</c:f>
              <c:numCache>
                <c:formatCode>General</c:formatCode>
                <c:ptCount val="10"/>
                <c:pt idx="0">
                  <c:v>208</c:v>
                </c:pt>
                <c:pt idx="1">
                  <c:v>152</c:v>
                </c:pt>
                <c:pt idx="2">
                  <c:v>110</c:v>
                </c:pt>
                <c:pt idx="3">
                  <c:v>75</c:v>
                </c:pt>
                <c:pt idx="4">
                  <c:v>54</c:v>
                </c:pt>
                <c:pt idx="5">
                  <c:v>44</c:v>
                </c:pt>
                <c:pt idx="6">
                  <c:v>39</c:v>
                </c:pt>
                <c:pt idx="7">
                  <c:v>38</c:v>
                </c:pt>
                <c:pt idx="8">
                  <c:v>6</c:v>
                </c:pt>
                <c:pt idx="9">
                  <c:v>3</c:v>
                </c:pt>
              </c:numCache>
            </c:numRef>
          </c:val>
        </c:ser>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43142"/>
                </a:solidFill>
                <a:latin typeface="Arial"/>
              </a:defRPr>
            </a:pPr>
            <a:endParaRPr lang="en-US"/>
          </a:p>
        </c:txPr>
        <c:crossAx val="2094734552"/>
        <c:crosses val="autoZero"/>
        <c:auto val="1"/>
        <c:lblAlgn val="ctr"/>
        <c:noMultiLvlLbl val="1"/>
      </c:catAx>
      <c:valAx>
        <c:axId val="2094734552"/>
        <c:scaling>
          <c:orientation val="minMax"/>
          <c:max val="245.4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43142"/>
                </a:solidFill>
                <a:latin typeface="Arial"/>
              </a:defRPr>
            </a:pPr>
            <a:r>
              <a:rPr sz="1200" b="0" i="0" u="none" strike="noStrike">
                <a:solidFill>
                  <a:srgbClr val="243142"/>
                </a:solidFill>
                <a:latin typeface="Arial"/>
              </a:rPr>
              <a:t>In-scope postings by role family (N = 729)</a:t>
            </a:r>
          </a:p>
        </c:rich>
      </c:tx>
      <c:layout/>
      <c:overlay val="0"/>
    </c:title>
    <c:autoTitleDeleted val="0"/>
    <c:plotArea>
      <c:layout/>
      <c:barChart>
        <c:barDir val="bar"/>
        <c:grouping val="clustered"/>
        <c:varyColors val="0"/>
        <c:ser>
          <c:idx val="0"/>
          <c:order val="0"/>
          <c:tx>
            <c:strRef>
              <c:f>Sheet1!$B$1</c:f>
              <c:strCache>
                <c:ptCount val="1"/>
                <c:pt idx="0">
                  <c:v>Postings</c:v>
                </c:pt>
              </c:strCache>
            </c:strRef>
          </c:tx>
          <c:spPr>
            <a:solidFill>
              <a:srgbClr val="990000"/>
            </a:solidFill>
            <a:effectLst/>
          </c:spPr>
          <c:invertIfNegative val="0"/>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cat>
            <c:multiLvlStrRef>
              <c:f>Sheet1!$A$2:$A$10</c:f>
              <c:multiLvlStrCache>
                <c:ptCount val="9"/>
                <c:lvl>
                  <c:pt idx="0">
                    <c:v>Software &amp; data</c:v>
                  </c:pt>
                  <c:pt idx="1">
                    <c:v>Grid &amp; power systems</c:v>
                  </c:pt>
                  <c:pt idx="2">
                    <c:v>Siting &amp; development</c:v>
                  </c:pt>
                  <c:pt idx="3">
                    <c:v>Market &amp; commercial</c:v>
                  </c:pt>
                  <c:pt idx="4">
                    <c:v>AI &amp; machine learning</c:v>
                  </c:pt>
                  <c:pt idx="5">
                    <c:v>Regulatory &amp; compliance</c:v>
                  </c:pt>
                  <c:pt idx="6">
                    <c:v>Other analytics-adjacent</c:v>
                  </c:pt>
                  <c:pt idx="7">
                    <c:v>GIS</c:v>
                  </c:pt>
                  <c:pt idx="8">
                    <c:v>Sustainability analytics</c:v>
                  </c:pt>
                </c:lvl>
              </c:multiLvlStrCache>
            </c:multiLvlStrRef>
          </c:cat>
          <c:val>
            <c:numRef>
              <c:f>Sheet1!$B$2:$B$10</c:f>
              <c:numCache>
                <c:formatCode>General</c:formatCode>
                <c:ptCount val="9"/>
                <c:pt idx="0">
                  <c:v>154</c:v>
                </c:pt>
                <c:pt idx="1">
                  <c:v>137</c:v>
                </c:pt>
                <c:pt idx="2">
                  <c:v>123</c:v>
                </c:pt>
                <c:pt idx="3">
                  <c:v>108</c:v>
                </c:pt>
                <c:pt idx="4">
                  <c:v>71</c:v>
                </c:pt>
                <c:pt idx="5">
                  <c:v>59</c:v>
                </c:pt>
                <c:pt idx="6">
                  <c:v>54</c:v>
                </c:pt>
                <c:pt idx="7">
                  <c:v>12</c:v>
                </c:pt>
                <c:pt idx="8">
                  <c:v>11</c:v>
                </c:pt>
              </c:numCache>
            </c:numRef>
          </c:val>
        </c:ser>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43142"/>
                </a:solidFill>
                <a:latin typeface="Arial"/>
              </a:defRPr>
            </a:pPr>
            <a:endParaRPr lang="en-US"/>
          </a:p>
        </c:txPr>
        <c:crossAx val="2094734552"/>
        <c:crosses val="autoZero"/>
        <c:auto val="1"/>
        <c:lblAlgn val="ctr"/>
        <c:noMultiLvlLbl val="1"/>
      </c:catAx>
      <c:valAx>
        <c:axId val="2094734552"/>
        <c:scaling>
          <c:orientation val="minMax"/>
          <c:max val="181.7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43142"/>
                </a:solidFill>
                <a:latin typeface="Arial"/>
              </a:defRPr>
            </a:pPr>
            <a:r>
              <a:rPr sz="1200" b="0" i="0" u="none" strike="noStrike">
                <a:solidFill>
                  <a:srgbClr val="243142"/>
                </a:solidFill>
                <a:latin typeface="Arial"/>
              </a:rPr>
              <a:t>Employers stating pay, by industry</a:t>
            </a:r>
          </a:p>
        </c:rich>
      </c:tx>
      <c:layout/>
      <c:overlay val="0"/>
    </c:title>
    <c:autoTitleDeleted val="0"/>
    <c:plotArea>
      <c:layout/>
      <c:barChart>
        <c:barDir val="bar"/>
        <c:grouping val="clustered"/>
        <c:varyColors val="0"/>
        <c:ser>
          <c:idx val="0"/>
          <c:order val="0"/>
          <c:tx>
            <c:strRef>
              <c:f>Sheet1!$B$1</c:f>
              <c:strCache>
                <c:ptCount val="1"/>
                <c:pt idx="0">
                  <c:v>Employers</c:v>
                </c:pt>
              </c:strCache>
            </c:strRef>
          </c:tx>
          <c:spPr>
            <a:solidFill>
              <a:srgbClr val="990000"/>
            </a:solidFill>
            <a:effectLst/>
          </c:spPr>
          <c:invertIfNegative val="0"/>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cat>
            <c:multiLvlStrRef>
              <c:f>Sheet1!$A$2:$A$11</c:f>
              <c:multiLvlStrCache>
                <c:ptCount val="10"/>
                <c:lvl>
                  <c:pt idx="0">
                    <c:v>Developers (renewables, storage)</c:v>
                  </c:pt>
                  <c:pt idx="1">
                    <c:v>Energy analytics &amp; software</c:v>
                  </c:pt>
                  <c:pt idx="2">
                    <c:v>Electric utilities</c:v>
                  </c:pt>
                  <c:pt idx="3">
                    <c:v>Data-center operators</c:v>
                  </c:pt>
                  <c:pt idx="4">
                    <c:v>Grid-technology vendors</c:v>
                  </c:pt>
                  <c:pt idx="5">
                    <c:v>Energy consultancies</c:v>
                  </c:pt>
                  <c:pt idx="6">
                    <c:v>Grid operators (ISOs/RTOs)</c:v>
                  </c:pt>
                  <c:pt idx="7">
                    <c:v>Electric cooperatives</c:v>
                  </c:pt>
                  <c:pt idx="8">
                    <c:v>Gas utilities</c:v>
                  </c:pt>
                  <c:pt idx="9">
                    <c:v>Competitive retailers</c:v>
                  </c:pt>
                </c:lvl>
              </c:multiLvlStrCache>
            </c:multiLvlStrRef>
          </c:cat>
          <c:val>
            <c:numRef>
              <c:f>Sheet1!$B$2:$B$11</c:f>
              <c:numCache>
                <c:formatCode>General</c:formatCode>
                <c:ptCount val="10"/>
                <c:pt idx="0">
                  <c:v>31</c:v>
                </c:pt>
                <c:pt idx="1">
                  <c:v>19</c:v>
                </c:pt>
                <c:pt idx="2">
                  <c:v>14</c:v>
                </c:pt>
                <c:pt idx="3">
                  <c:v>11</c:v>
                </c:pt>
                <c:pt idx="4">
                  <c:v>10</c:v>
                </c:pt>
                <c:pt idx="5">
                  <c:v>9</c:v>
                </c:pt>
                <c:pt idx="6">
                  <c:v>3</c:v>
                </c:pt>
                <c:pt idx="7">
                  <c:v>1</c:v>
                </c:pt>
                <c:pt idx="8">
                  <c:v>1</c:v>
                </c:pt>
                <c:pt idx="9">
                  <c:v>1</c:v>
                </c:pt>
              </c:numCache>
            </c:numRef>
          </c:val>
        </c:ser>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43142"/>
                </a:solidFill>
                <a:latin typeface="Arial"/>
              </a:defRPr>
            </a:pPr>
            <a:endParaRPr lang="en-US"/>
          </a:p>
        </c:txPr>
        <c:crossAx val="2094734552"/>
        <c:crosses val="autoZero"/>
        <c:auto val="1"/>
        <c:lblAlgn val="ctr"/>
        <c:noMultiLvlLbl val="1"/>
      </c:catAx>
      <c:valAx>
        <c:axId val="2094734552"/>
        <c:scaling>
          <c:orientation val="minMax"/>
          <c:max val="37.19999999999999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43142"/>
                </a:solidFill>
                <a:latin typeface="Arial"/>
              </a:defRPr>
            </a:pPr>
            <a:r>
              <a:rPr sz="1200" b="0" i="0" u="none" strike="noStrike">
                <a:solidFill>
                  <a:srgbClr val="243142"/>
                </a:solidFill>
                <a:latin typeface="Arial"/>
              </a:rPr>
              <a:t>Share stating pay, by region</a:t>
            </a:r>
          </a:p>
        </c:rich>
      </c:tx>
      <c:layout/>
      <c:overlay val="0"/>
    </c:title>
    <c:autoTitleDeleted val="0"/>
    <c:plotArea>
      <c:layout/>
      <c:barChart>
        <c:barDir val="bar"/>
        <c:grouping val="clustered"/>
        <c:varyColors val="0"/>
        <c:ser>
          <c:idx val="0"/>
          <c:order val="0"/>
          <c:tx>
            <c:strRef>
              <c:f>Sheet1!$B$1</c:f>
              <c:strCache>
                <c:ptCount val="1"/>
                <c:pt idx="0">
                  <c:v>Share</c:v>
                </c:pt>
              </c:strCache>
            </c:strRef>
          </c:tx>
          <c:spPr>
            <a:solidFill>
              <a:srgbClr val="990000"/>
            </a:solidFill>
            <a:effectLst/>
          </c:spPr>
          <c:invertIfNegative val="0"/>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cat>
            <c:multiLvlStrRef>
              <c:f>Sheet1!$A$2:$A$6</c:f>
              <c:multiLvlStrCache>
                <c:ptCount val="5"/>
                <c:lvl>
                  <c:pt idx="0">
                    <c:v>West (95% covered)</c:v>
                  </c:pt>
                  <c:pt idx="1">
                    <c:v>Nationwide remote (0% covered)</c:v>
                  </c:pt>
                  <c:pt idx="2">
                    <c:v>Northeast (79% covered)</c:v>
                  </c:pt>
                  <c:pt idx="3">
                    <c:v>Midwest (49% covered)</c:v>
                  </c:pt>
                  <c:pt idx="4">
                    <c:v>South (32% covered)</c:v>
                  </c:pt>
                </c:lvl>
              </c:multiLvlStrCache>
            </c:multiLvlStrRef>
          </c:cat>
          <c:val>
            <c:numRef>
              <c:f>Sheet1!$B$2:$B$6</c:f>
              <c:numCache>
                <c:formatCode>General</c:formatCode>
                <c:ptCount val="5"/>
                <c:pt idx="0">
                  <c:v>0.9356</c:v>
                </c:pt>
                <c:pt idx="1">
                  <c:v>0.8182</c:v>
                </c:pt>
                <c:pt idx="2">
                  <c:v>0.8138</c:v>
                </c:pt>
                <c:pt idx="3">
                  <c:v>0.7636</c:v>
                </c:pt>
                <c:pt idx="4">
                  <c:v>0.4194</c:v>
                </c:pt>
              </c:numCache>
            </c:numRef>
          </c:val>
        </c:ser>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43142"/>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43142"/>
                </a:solidFill>
                <a:latin typeface="Arial"/>
              </a:defRPr>
            </a:pPr>
            <a:r>
              <a:rPr sz="1200" b="0" i="0" u="none" strike="noStrike">
                <a:solidFill>
                  <a:srgbClr val="243142"/>
                </a:solidFill>
                <a:latin typeface="Arial"/>
              </a:rPr>
              <a:t>Predicted advertised pay by seniority, other attributes at sample means</a:t>
            </a:r>
          </a:p>
        </c:rich>
      </c:tx>
      <c:layout/>
      <c:overlay val="0"/>
    </c:title>
    <c:autoTitleDeleted val="0"/>
    <c:plotArea>
      <c:layout/>
      <c:barChart>
        <c:barDir val="col"/>
        <c:grouping val="clustered"/>
        <c:varyColors val="0"/>
        <c:ser>
          <c:idx val="0"/>
          <c:order val="0"/>
          <c:tx>
            <c:strRef>
              <c:f>Sheet1!$B$1</c:f>
              <c:strCache>
                <c:ptCount val="1"/>
                <c:pt idx="0">
                  <c:v>Predicted pay</c:v>
                </c:pt>
              </c:strCache>
            </c:strRef>
          </c:tx>
          <c:spPr>
            <a:solidFill>
              <a:srgbClr val="990000"/>
            </a:solidFill>
            <a:effectLst/>
          </c:spPr>
          <c:invertIfNegative val="0"/>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cat>
            <c:multiLvlStrRef>
              <c:f>Sheet1!$A$2:$A$8</c:f>
              <c:multiLvlStrCache>
                <c:ptCount val="7"/>
                <c:lvl>
                  <c:pt idx="0">
                    <c:v>Entry
(n=42)</c:v>
                  </c:pt>
                  <c:pt idx="1">
                    <c:v>Mid
(n=125)</c:v>
                  </c:pt>
                  <c:pt idx="2">
                    <c:v>Senior
(n=157)</c:v>
                  </c:pt>
                  <c:pt idx="3">
                    <c:v>Staff / principal
(n=62)</c:v>
                  </c:pt>
                  <c:pt idx="4">
                    <c:v>Manager
(n=108)</c:v>
                  </c:pt>
                  <c:pt idx="5">
                    <c:v>Director
(n=46)</c:v>
                  </c:pt>
                  <c:pt idx="6">
                    <c:v>Executive
(n=3)</c:v>
                  </c:pt>
                </c:lvl>
              </c:multiLvlStrCache>
            </c:multiLvlStrRef>
          </c:cat>
          <c:val>
            <c:numRef>
              <c:f>Sheet1!$B$2:$B$8</c:f>
              <c:numCache>
                <c:formatCode>General</c:formatCode>
                <c:ptCount val="7"/>
                <c:pt idx="0">
                  <c:v>111613.68440180742</c:v>
                </c:pt>
                <c:pt idx="1">
                  <c:v>124082.12720227371</c:v>
                </c:pt>
                <c:pt idx="2">
                  <c:v>137943.42847436646</c:v>
                </c:pt>
                <c:pt idx="3">
                  <c:v>153353.18541278178</c:v>
                </c:pt>
                <c:pt idx="4">
                  <c:v>170484.37708373432</c:v>
                </c:pt>
                <c:pt idx="5">
                  <c:v>189529.3061659898</c:v>
                </c:pt>
                <c:pt idx="6">
                  <c:v>210701.7576051472</c:v>
                </c:pt>
              </c:numCache>
            </c:numRef>
          </c:val>
        </c:ser>
        <c:dLbls>
          <c:numFmt formatCode="$#,##0" sourceLinked="0"/>
          <c:txPr>
            <a:bodyPr/>
            <a:lstStyle/>
            <a:p>
              <a:pPr>
                <a:defRPr b="0" i="0" strike="noStrike" sz="1100" u="none">
                  <a:solidFill>
                    <a:srgbClr val="243142"/>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43142"/>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43142"/>
                </a:solidFill>
                <a:latin typeface="Arial"/>
              </a:defRPr>
            </a:pPr>
            <a:r>
              <a:rPr sz="1200" b="0" i="0" u="none" strike="noStrike">
                <a:solidFill>
                  <a:srgbClr val="243142"/>
                </a:solidFill>
                <a:latin typeface="Arial"/>
              </a:rPr>
              <a:t>Range midpoints, $25k bins (N = 543)</a:t>
            </a:r>
          </a:p>
        </c:rich>
      </c:tx>
      <c:layout/>
      <c:overlay val="0"/>
    </c:title>
    <c:autoTitleDeleted val="0"/>
    <c:plotArea>
      <c:layout/>
      <c:barChart>
        <c:barDir val="col"/>
        <c:grouping val="clustered"/>
        <c:varyColors val="0"/>
        <c:ser>
          <c:idx val="0"/>
          <c:order val="0"/>
          <c:tx>
            <c:strRef>
              <c:f>Sheet1!$B$1</c:f>
              <c:strCache>
                <c:ptCount val="1"/>
                <c:pt idx="0">
                  <c:v>Postings</c:v>
                </c:pt>
              </c:strCache>
            </c:strRef>
          </c:tx>
          <c:spPr>
            <a:solidFill>
              <a:srgbClr val="990000"/>
            </a:solidFill>
            <a:effectLst/>
          </c:spPr>
          <c:invertIfNegative val="0"/>
          <c:dLbls>
            <c:numFmt formatCode="#,##0" sourceLinked="0"/>
            <c:txPr>
              <a:bodyPr/>
              <a:lstStyle/>
              <a:p>
                <a:pPr>
                  <a:defRPr b="0" i="0" strike="noStrike" sz="1000" u="none">
                    <a:solidFill>
                      <a:srgbClr val="243142"/>
                    </a:solidFill>
                    <a:latin typeface="Arial"/>
                  </a:defRPr>
                </a:pPr>
              </a:p>
            </c:txPr>
            <c:showLegendKey val="0"/>
            <c:showVal val="1"/>
            <c:showCatName val="0"/>
            <c:showSerName val="0"/>
            <c:showPercent val="0"/>
            <c:showBubbleSize val="0"/>
            <c:showLeaderLines val="0"/>
          </c:dLbls>
          <c:cat>
            <c:multiLvlStrRef>
              <c:f>Sheet1!$A$2:$A$14</c:f>
              <c:multiLvlStrCache>
                <c:ptCount val="13"/>
                <c:lvl>
                  <c:pt idx="0">
                    <c:v>$50k</c:v>
                  </c:pt>
                  <c:pt idx="1">
                    <c:v>$75k</c:v>
                  </c:pt>
                  <c:pt idx="2">
                    <c:v>$100k</c:v>
                  </c:pt>
                  <c:pt idx="3">
                    <c:v>$125k</c:v>
                  </c:pt>
                  <c:pt idx="4">
                    <c:v>$150k</c:v>
                  </c:pt>
                  <c:pt idx="5">
                    <c:v>$175k</c:v>
                  </c:pt>
                  <c:pt idx="6">
                    <c:v>$200k</c:v>
                  </c:pt>
                  <c:pt idx="7">
                    <c:v>$225k</c:v>
                  </c:pt>
                  <c:pt idx="8">
                    <c:v>$250k</c:v>
                  </c:pt>
                  <c:pt idx="9">
                    <c:v>$275k</c:v>
                  </c:pt>
                  <c:pt idx="10">
                    <c:v>$300k</c:v>
                  </c:pt>
                  <c:pt idx="11">
                    <c:v>$325k</c:v>
                  </c:pt>
                  <c:pt idx="12">
                    <c:v>$350k</c:v>
                  </c:pt>
                </c:lvl>
              </c:multiLvlStrCache>
            </c:multiLvlStrRef>
          </c:cat>
          <c:val>
            <c:numRef>
              <c:f>Sheet1!$B$2:$B$14</c:f>
              <c:numCache>
                <c:formatCode>General</c:formatCode>
                <c:ptCount val="13"/>
                <c:pt idx="0">
                  <c:v>12</c:v>
                </c:pt>
                <c:pt idx="1">
                  <c:v>65</c:v>
                </c:pt>
                <c:pt idx="2">
                  <c:v>99</c:v>
                </c:pt>
                <c:pt idx="3">
                  <c:v>119</c:v>
                </c:pt>
                <c:pt idx="4">
                  <c:v>90</c:v>
                </c:pt>
                <c:pt idx="5">
                  <c:v>70</c:v>
                </c:pt>
                <c:pt idx="6">
                  <c:v>33</c:v>
                </c:pt>
                <c:pt idx="7">
                  <c:v>28</c:v>
                </c:pt>
                <c:pt idx="8">
                  <c:v>12</c:v>
                </c:pt>
                <c:pt idx="9">
                  <c:v>9</c:v>
                </c:pt>
                <c:pt idx="10">
                  <c:v>5</c:v>
                </c:pt>
                <c:pt idx="11">
                  <c:v>0</c:v>
                </c:pt>
                <c:pt idx="12">
                  <c:v>1</c:v>
                </c:pt>
              </c:numCache>
            </c:numRef>
          </c:val>
        </c:ser>
        <c:dLbls>
          <c:numFmt formatCode="#,##0" sourceLinked="0"/>
          <c:txPr>
            <a:bodyPr/>
            <a:lstStyle/>
            <a:p>
              <a:pPr>
                <a:defRPr b="0" i="0" strike="noStrike" sz="1000" u="none">
                  <a:solidFill>
                    <a:srgbClr val="243142"/>
                  </a:solidFill>
                  <a:latin typeface="Arial"/>
                </a:defRPr>
              </a:pPr>
            </a:p>
          </c:txPr>
          <c:showLegendKey val="0"/>
          <c:showVal val="1"/>
          <c:showCatName val="0"/>
          <c:showSerName val="0"/>
          <c:showPercent val="0"/>
          <c:showBubbleSize val="0"/>
          <c:showLeaderLines val="0"/>
        </c:dLbls>
        <c:gapWidth val="1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43142"/>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study asks what in a job posting predicts the pay an employer advertises, in the US energy and data-center sector. It uses 543 postings with a stated pay range from 100 employers, collected directly from employers' own job boards between 2026-09-20 and 2026-09-30. The panel on the right is one observation: an entry-level analyst posting in Chicago, where Illinois law requires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Pay-transparency laws are spreading quickly across US states, the energy sector is hiring analysts because of data-center growth, and for a student the posted range is the first price signal of a career. The study uses the author as the subject: the industries and roles were benchmarked to the author's own résumé, but nothing in the method is specific to one person, so it extends to any student or industry. Related work: Arnold, Quach and Taska find Colorado's 2021 law raised disclosure by about 30 points; Cullen and Pakzad-Hurson model the equilibrium wage effects; Cullen's JEP article reviews the evidence. This study's contribution is a sector-specific national cross-section in which disclosure itself is an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last snapshot, 13 jurisdictions required a pay scale in the posting itself: CA, CO, DC, HI, IL, MA, MD, MN, NJ, NY, VA, VT and WA. Colorado was first, in 2021; Virginia is the newest, effective July 1, 2026. Connecticut's posting rule starts October 1, 2026, after collection closed, so no posting here counts as covered by it. Coverage attaches to the location of the work, so a posting listing several locations is covered if any of them is covered. Where there is no law, disclosure is voluntary, which is why the study models disclosure as an outcome in its own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covers 10 industry categories under one energy, utility and data-center umbrella, and an analytical role taxonomy: software and data, grid and power systems, siting and development, market and commercial, AI and machine learning, regulatory, GIS and sustainability analytics. These were chosen from the author's résumé: the industries with the most experience and interest, and roles the author is or could become qualified for. All seniority levels are kept because seniority is the headline regressor; internships are excluded. The bars count the 729 unique in-scope postings, before restricting to those that state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posting comes from a public, unauthenticated feed that employers publish to: the applicant tracking systems Greenhouse, Workday, Ashby, Lever, Workable, SmartRecruiters and Recruitee, plus the federal USAJOBS API for federal energy agencies. These are the upstream source that job aggregators copy from. Sources whose terms forbid automated collection were read and ruled out rather than worked around: LinkedIn, Indeed, Handshake, iCIMS, Oracle Cloud HCM, UKG, and the electric cooperatives' careers site. The frame lists 407 employers; 185 had a readable board on the final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funnel. 17,495 postings were retrieved across the collection days. 13,100 fail the sector and role screens: most are roles outside the analytical taxonomy, internships, postings with no energy-sector evidence, or sister companies outside the sector. 968 have no resolvable US state or are outside the US. The large drop to 729 is not lost data: 2,690 are the same posting seen again on later collection days. 729 unique postings form the disclosure sample; the 543 that state a range form the pay-model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543 postings with a stated range come from 100 distinct employers across 31 states, plus 45 nationwide-remote postings. California, Colorado, Massachusetts and Illinois supply the most. The largest single employer, Crusoe, supplies 49 postings, 9.0% of the sample, well under the pre-registered ceiling of 25%; a robustness check drops it entirely. Employers are the clustering unit for inference, so the count of employers matters more than the count of postings.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The pay model regresses the log of the advertised range midpoint on posting attributes, on the postings that state pay. The disclosure model is a linear probability model of whether pay is stated at all, on every in-scope posting, with the mandate indicator as the variable of interest. Hypotheses and signs were pre-registered. The specification is chosen by sample size, not by results: at 36.2 observations per regressor the extended model is also estimated. Postings from one employer are correlated, so standard errors are clustered by employer. With 100 clusters of very uneven size, conventional clustered p-values over-reject, so every significance claim is read from a wild cluster bootstrap (Cameron, Gelbach and Miller 2008): it resamples residuals by employer, flipping signs at random, to build the test's distribution under the null. Four robustness checks follow. The design is associational: a single cross-section cannot separate the law from the employers who operate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clearest result is about disclosure rather than the level of pay. In mandate states 91.3% of 449 postings state pay; elsewhere 47.5% of 280: a gap of 43.8 points. It ranges only from 43.2 to 45.2 points across cuts: dropping Virginia, whose law took effect on July 1, 2026; dropping the largest employer; dropping the federal agencies. This is associational. There is no time variation, so no difference-in-differences, and employers in mandate states differ from others in ways the data cannot control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economist will ask whether the raw gap is just geography. Holding region, seniority, remote eligibility and industry fixed, a mandate is associated with a 38.8-point higher probability of stating pay, 95% interval 21.2 to 56.3. So controls absorb some of the raw 43.8-point gap, but most of it remains. The South is the outlier: 32% of its postings are covered and disclosure is lowest, 42%. The Northeast, the West, remote eligibility, a data-center operator and seniority do not predict disclosure at 5%. This model has no bootstrap, so its p-values are the clustered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 model. Each row is one attribute; the dot is its percentage effect on advertised pay and the bar its 95% interval. Seniority, required experience and a stated cloud skill hold under the bootstrap and all four robustness checks. Hollow crimson dots pass the bootstrap but fail a check: stating an experience minimum, a STEM degree, a West location and a Northeast location. Grey dots are a stated ML/AI skill and an AI/ML role family, which clustered errors call significant but the bootstrap overturns, and attributes with no detectable effect. A stated cloud skill carried no prediction in the pre-registration, so it is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Translating log points into dollars at mean pay of $151,839: +11.2% per seniority step, about $17,000 a year at mean pay; +2.5% per year of required experience, about $3,900 a year at mean pay; +12.5% for a stated cloud skill, about $19,000 a year at mean pay. The chart traces predicted pay up the seniority ladder holding everything else at its sample mean, from about $112k at entry level to about $211k at the top. The executive level has only 3 postings, so read that bar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study's credibility check. Each row is an attribute; each column a test. Shaded cells pass at 5%. Seniority, required experience and a stated cloud skill pass everything. A West location and a Northeast location pass in nominal pay but not once pay is adjusted for regional price levels, so they reflect cost of living. Stating an experience minimum and a STEM degree are tentative. A stated ML/AI skill and an AI/ML role family are significant under clustered errors but overturned by the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hypotheses were written down, with their signs, before the national sample was collected, and every one is scored here whether or not it held. H1, seniority dominates advertised pay: supported; H2, a mandate raises disclosure: supported, descriptively; H3, required experience raises pay: supported; H4, AI/ML roles carry a premium: inconclusive; H5, a required degree raises pay: inconclusive; H6, mandate states advertise wider ranges: inconclusive; H7, data centers pay more than utilities: inconclusive. H5 is the instructive case: the estimate is negative, opposite to the prediction, and the conventional and bootstrap procedures disagree about it, which is exactly the situation the pre-registration anticipated.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began as a question about early-career pay specifically, so that subsample is reported on its own: 80 postings from 36 employers. Its intervals, in grey, are several times wider than the full sample's, in crimson. Under clustered errors only a stated cloud skill and an AI/ML role family reach 5%, with no bootstrap on this model and intervals running from +0.1% to +54%. For a student, the practical reading is the full-sample one: seniority, required experience and a stated cloud skill are what move the posted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that did not hold are reported as carefully as those that did. Overturned by the bootstrap. ML/AI skill +9.8%: p = 0.033 clustered, 0.074 bootstrap; AI/ML role family +8.0%: p = 0.048 clustered, 0.083 bootstrap. A degree requirement: wrong sign, inconclusive. Predicted to raise pay; estimated −5.0% (bootstrap p = 0.074); Not distinguishable from zero at this cluster count. STEM degree: tentative. +5.1% (bootstrap p = 0.043), but fails without Crusoe (p = 0.086) and without federal rows (p = 0.051). Regional premiums: nominal only. West +13.5% nominal; price-adjusted p = 0.149; Northeast +8.9% nominal; price-adjusted p = 0.706. The AI and machine-learning premium is the one most people would expect; under clustered errors it looks significant, but the bootstrap, which this study pre-registered for exactly this situation, does not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threats. First, the outcome is advertised pay, not what anyone is paid. Second, and most important, disclosure is selected: where there is no law, only 48% of postings state pay, so every pay coefficient describes the postings that chose to disclose. That is why disclosure is modelled as an outcome rather than assumed away. Third, the mandate contrast is associational. Fourth, there are few employer clusters of uneven size, which is why every p-value comes from the wild cluster bootstrap and the largest employer is dropped as a check. The other threats in the paper's section 6 are on the caption: nominal pay, scope changes made after seeing data and recorded as dated amendments, and the iCIMS employers who could not be collected under their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First, disclosure tracks the law: a gap of 43.8 points that is stable under every cut, though associational. Second, within postings that state pay, seniority (+11.2%), required experience (+2.5%) and a stated cloud skill (+12.5%) hold under every check. Third, what did not hold: ML/AI skill, AI/ML role family: overturned by the bootstrap. Degree requirement: wrong sign. West, Northeast: nominal pay only. The sharpest regularity is about whether pay is named at all. Finally, a disclosure: an AI coding assistant was used to build the collection and analysis code and this deck; design and interpretation are the 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336792"/>
            <a:ext cx="329184" cy="329184"/>
          </a:xfrm>
          <a:prstGeom prst="rect">
            <a:avLst/>
          </a:prstGeom>
          <a:solidFill>
            <a:srgbClr val="990000"/>
          </a:solidFill>
          <a:ln/>
        </p:spPr>
      </p:sp>
      <p:sp>
        <p:nvSpPr>
          <p:cNvPr id="3" name="Text 1"/>
          <p:cNvSpPr/>
          <p:nvPr/>
        </p:nvSpPr>
        <p:spPr>
          <a:xfrm>
            <a:off x="548640" y="63367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IU</a:t>
            </a:r>
            <a:endParaRPr lang="en-US" sz="1400" dirty="0"/>
          </a:p>
        </p:txBody>
      </p:sp>
      <p:sp>
        <p:nvSpPr>
          <p:cNvPr id="4" name="Text 2"/>
          <p:cNvSpPr/>
          <p:nvPr/>
        </p:nvSpPr>
        <p:spPr>
          <a:xfrm>
            <a:off x="1005840" y="6336792"/>
            <a:ext cx="5486400" cy="329184"/>
          </a:xfrm>
          <a:prstGeom prst="rect">
            <a:avLst/>
          </a:prstGeom>
          <a:noFill/>
          <a:ln/>
        </p:spPr>
        <p:txBody>
          <a:bodyPr wrap="square" lIns="0" tIns="0" rIns="0" bIns="0" rtlCol="0" anchor="ctr"/>
          <a:lstStyle/>
          <a:p>
            <a:pPr indent="0" marL="0">
              <a:buNone/>
            </a:pPr>
            <a:r>
              <a:rPr lang="en-US" sz="900" b="1" spc="150" kern="0" dirty="0">
                <a:solidFill>
                  <a:srgbClr val="990000"/>
                </a:solidFill>
                <a:latin typeface="Arial" pitchFamily="34" charset="0"/>
                <a:ea typeface="Arial" pitchFamily="34" charset="-122"/>
                <a:cs typeface="Arial" pitchFamily="34" charset="-120"/>
              </a:rPr>
              <a:t>INDIANA UNIVERSITY  ·  KELLEY SCHOOL OF BUSINESS</a:t>
            </a:r>
            <a:endParaRPr lang="en-US" sz="9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990000"/>
        </a:solidFill>
      </p:bgPr>
    </p:bg>
    <p:spTree>
      <p:nvGrpSpPr>
        <p:cNvPr id="1" name=""/>
        <p:cNvGrpSpPr/>
        <p:nvPr/>
      </p:nvGrpSpPr>
      <p:grpSpPr>
        <a:xfrm>
          <a:off x="0" y="0"/>
          <a:ext cx="0" cy="0"/>
          <a:chOff x="0" y="0"/>
          <a:chExt cx="0" cy="0"/>
        </a:xfrm>
      </p:grpSpPr>
      <p:sp>
        <p:nvSpPr>
          <p:cNvPr id="2" name="Shape 0"/>
          <p:cNvSpPr/>
          <p:nvPr/>
        </p:nvSpPr>
        <p:spPr>
          <a:xfrm>
            <a:off x="548640" y="6336792"/>
            <a:ext cx="329184" cy="329184"/>
          </a:xfrm>
          <a:prstGeom prst="rect">
            <a:avLst/>
          </a:prstGeom>
          <a:solidFill>
            <a:srgbClr val="FFFFFF"/>
          </a:solidFill>
          <a:ln/>
        </p:spPr>
      </p:sp>
      <p:sp>
        <p:nvSpPr>
          <p:cNvPr id="3" name="Text 1"/>
          <p:cNvSpPr/>
          <p:nvPr/>
        </p:nvSpPr>
        <p:spPr>
          <a:xfrm>
            <a:off x="548640" y="6336792"/>
            <a:ext cx="329184" cy="329184"/>
          </a:xfrm>
          <a:prstGeom prst="rect">
            <a:avLst/>
          </a:prstGeom>
          <a:noFill/>
          <a:ln/>
        </p:spPr>
        <p:txBody>
          <a:bodyPr wrap="square" lIns="0" tIns="0" rIns="0" bIns="0" rtlCol="0" anchor="ctr"/>
          <a:lstStyle/>
          <a:p>
            <a:pPr algn="ctr" indent="0" marL="0">
              <a:buNone/>
            </a:pPr>
            <a:r>
              <a:rPr lang="en-US" sz="1400" b="1" dirty="0">
                <a:solidFill>
                  <a:srgbClr val="990000"/>
                </a:solidFill>
                <a:latin typeface="Cambria" pitchFamily="34" charset="0"/>
                <a:ea typeface="Cambria" pitchFamily="34" charset="-122"/>
                <a:cs typeface="Cambria" pitchFamily="34" charset="-120"/>
              </a:rPr>
              <a:t>IU</a:t>
            </a:r>
            <a:endParaRPr lang="en-US" sz="1400" dirty="0"/>
          </a:p>
        </p:txBody>
      </p:sp>
      <p:sp>
        <p:nvSpPr>
          <p:cNvPr id="4" name="Text 2"/>
          <p:cNvSpPr/>
          <p:nvPr/>
        </p:nvSpPr>
        <p:spPr>
          <a:xfrm>
            <a:off x="1005840" y="6336792"/>
            <a:ext cx="5486400" cy="329184"/>
          </a:xfrm>
          <a:prstGeom prst="rect">
            <a:avLst/>
          </a:prstGeom>
          <a:noFill/>
          <a:ln/>
        </p:spPr>
        <p:txBody>
          <a:bodyPr wrap="square" lIns="0" tIns="0" rIns="0" bIns="0"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INDIANA UNIVERSITY  ·  KELLEY SCHOOL OF BUSINESS</a:t>
            </a:r>
            <a:endParaRPr lang="en-US" sz="9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EDEBEB"/>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85800"/>
            <a:ext cx="6400800" cy="274320"/>
          </a:xfrm>
          <a:prstGeom prst="rect">
            <a:avLst/>
          </a:prstGeom>
          <a:noFill/>
          <a:ln/>
        </p:spPr>
        <p:txBody>
          <a:bodyPr wrap="square" lIns="0" tIns="0" rIns="0" bIns="0" rtlCol="0" anchor="t"/>
          <a:lstStyle/>
          <a:p>
            <a:pPr indent="0" marL="0">
              <a:buNone/>
            </a:pPr>
            <a:r>
              <a:rPr lang="en-US" sz="1200" b="1" spc="300" kern="0" dirty="0">
                <a:solidFill>
                  <a:srgbClr val="EDEBEB"/>
                </a:solidFill>
                <a:latin typeface="Arial" pitchFamily="34" charset="0"/>
                <a:ea typeface="Arial" pitchFamily="34" charset="-122"/>
                <a:cs typeface="Arial" pitchFamily="34" charset="-120"/>
              </a:rPr>
              <a:t>RESEARCH PRESENTATION  ·  OCTOBER 2026</a:t>
            </a:r>
            <a:endParaRPr lang="en-US" sz="1200" dirty="0"/>
          </a:p>
        </p:txBody>
      </p:sp>
      <p:sp>
        <p:nvSpPr>
          <p:cNvPr id="3" name="Text 1"/>
          <p:cNvSpPr txBox="1"/>
          <p:nvPr/>
        </p:nvSpPr>
        <p:spPr>
          <a:xfrm>
            <a:off x="548640" y="1143000"/>
            <a:ext cx="6309360" cy="21031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Determinants of Advertised Pay in the US Energy and Data Center Sector</a:t>
            </a:r>
            <a:endParaRPr lang="en-US" sz="3600" dirty="0"/>
          </a:p>
        </p:txBody>
      </p:sp>
      <p:sp>
        <p:nvSpPr>
          <p:cNvPr id="4" name="Text 2"/>
          <p:cNvSpPr txBox="1"/>
          <p:nvPr/>
        </p:nvSpPr>
        <p:spPr>
          <a:xfrm>
            <a:off x="548640" y="3291840"/>
            <a:ext cx="6309360" cy="457200"/>
          </a:xfrm>
          <a:prstGeom prst="rect">
            <a:avLst/>
          </a:prstGeom>
          <a:noFill/>
          <a:ln/>
        </p:spPr>
        <p:txBody>
          <a:bodyPr wrap="square" lIns="0" tIns="0" rIns="0" bIns="0" rtlCol="0" anchor="t"/>
          <a:lstStyle/>
          <a:p>
            <a:pPr indent="0" marL="0">
              <a:buNone/>
            </a:pPr>
            <a:r>
              <a:rPr lang="en-US" sz="2000" i="1" dirty="0">
                <a:solidFill>
                  <a:srgbClr val="EDEBEB"/>
                </a:solidFill>
                <a:latin typeface="Cambria" pitchFamily="34" charset="0"/>
                <a:ea typeface="Cambria" pitchFamily="34" charset="-122"/>
                <a:cs typeface="Cambria" pitchFamily="34" charset="-120"/>
              </a:rPr>
              <a:t>Evidence from employer-published job postings</a:t>
            </a:r>
            <a:endParaRPr lang="en-US" sz="2000" dirty="0"/>
          </a:p>
        </p:txBody>
      </p:sp>
      <p:sp>
        <p:nvSpPr>
          <p:cNvPr id="5" name="Text 3"/>
          <p:cNvSpPr txBox="1"/>
          <p:nvPr/>
        </p:nvSpPr>
        <p:spPr>
          <a:xfrm>
            <a:off x="548640" y="4343400"/>
            <a:ext cx="630936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Alexander J. Henderson</a:t>
            </a:r>
            <a:endParaRPr lang="en-US" sz="2000" dirty="0"/>
          </a:p>
        </p:txBody>
      </p:sp>
      <p:sp>
        <p:nvSpPr>
          <p:cNvPr id="6" name="Text 4"/>
          <p:cNvSpPr txBox="1"/>
          <p:nvPr/>
        </p:nvSpPr>
        <p:spPr>
          <a:xfrm>
            <a:off x="548640" y="4754880"/>
            <a:ext cx="6309360" cy="365760"/>
          </a:xfrm>
          <a:prstGeom prst="rect">
            <a:avLst/>
          </a:prstGeom>
          <a:noFill/>
          <a:ln/>
        </p:spPr>
        <p:txBody>
          <a:bodyPr wrap="square" lIns="0" tIns="0" rIns="0" bIns="0" rtlCol="0" anchor="t"/>
          <a:lstStyle/>
          <a:p>
            <a:pPr indent="0" marL="0">
              <a:buNone/>
            </a:pPr>
            <a:r>
              <a:rPr lang="en-US" sz="1500" dirty="0">
                <a:solidFill>
                  <a:srgbClr val="EDEBEB"/>
                </a:solidFill>
                <a:latin typeface="Arial" pitchFamily="34" charset="0"/>
                <a:ea typeface="Arial" pitchFamily="34" charset="-122"/>
                <a:cs typeface="Arial" pitchFamily="34" charset="-120"/>
              </a:rPr>
              <a:t>Kelley School of Business, Indiana University</a:t>
            </a:r>
            <a:endParaRPr lang="en-US" sz="1500" dirty="0"/>
          </a:p>
        </p:txBody>
      </p:sp>
      <p:sp>
        <p:nvSpPr>
          <p:cNvPr id="7" name="Text 5"/>
          <p:cNvSpPr txBox="1"/>
          <p:nvPr/>
        </p:nvSpPr>
        <p:spPr>
          <a:xfrm>
            <a:off x="548640" y="5257800"/>
            <a:ext cx="6309360" cy="320040"/>
          </a:xfrm>
          <a:prstGeom prst="rect">
            <a:avLst/>
          </a:prstGeom>
          <a:noFill/>
          <a:ln/>
        </p:spPr>
        <p:txBody>
          <a:bodyPr wrap="square" lIns="0" tIns="0" rIns="0" bIns="0" rtlCol="0" anchor="t"/>
          <a:lstStyle/>
          <a:p>
            <a:pPr indent="0" marL="0">
              <a:buNone/>
            </a:pPr>
            <a:r>
              <a:rPr lang="en-US" sz="1300" dirty="0">
                <a:solidFill>
                  <a:srgbClr val="EDEBEB"/>
                </a:solidFill>
                <a:latin typeface="Arial" pitchFamily="34" charset="0"/>
                <a:ea typeface="Arial" pitchFamily="34" charset="-122"/>
                <a:cs typeface="Arial" pitchFamily="34" charset="-120"/>
              </a:rPr>
              <a:t>543 postings  ·  100 employers  ·  collected 20–30 September 2026</a:t>
            </a:r>
            <a:endParaRPr lang="en-US" sz="1300" dirty="0"/>
          </a:p>
        </p:txBody>
      </p:sp>
      <p:sp>
        <p:nvSpPr>
          <p:cNvPr id="8" name="Shape 6"/>
          <p:cNvSpPr/>
          <p:nvPr/>
        </p:nvSpPr>
        <p:spPr>
          <a:xfrm>
            <a:off x="7315200" y="685800"/>
            <a:ext cx="4327855" cy="5074920"/>
          </a:xfrm>
          <a:prstGeom prst="rect">
            <a:avLst/>
          </a:prstGeom>
          <a:solidFill>
            <a:srgbClr val="FFFFFF"/>
          </a:solidFill>
          <a:ln/>
          <a:effectLst>
            <a:outerShdw sx="100000" sy="100000" kx="0" ky="0" algn="bl" rotWithShape="0" blurRad="152400" dist="50800" dir="5400000">
              <a:srgbClr val="000000">
                <a:alpha val="35000"/>
              </a:srgbClr>
            </a:outerShdw>
          </a:effectLst>
        </p:spPr>
      </p:sp>
      <p:sp>
        <p:nvSpPr>
          <p:cNvPr id="9" name="Text 7"/>
          <p:cNvSpPr txBox="1"/>
          <p:nvPr/>
        </p:nvSpPr>
        <p:spPr>
          <a:xfrm>
            <a:off x="7635240" y="1005840"/>
            <a:ext cx="3687775" cy="274320"/>
          </a:xfrm>
          <a:prstGeom prst="rect">
            <a:avLst/>
          </a:prstGeom>
          <a:noFill/>
          <a:ln/>
        </p:spPr>
        <p:txBody>
          <a:bodyPr wrap="square" lIns="0" tIns="0" rIns="0" bIns="0" rtlCol="0" anchor="t"/>
          <a:lstStyle/>
          <a:p>
            <a:pPr indent="0" marL="0">
              <a:buNone/>
            </a:pPr>
            <a:r>
              <a:rPr lang="en-US" sz="1000" b="1" spc="200" kern="0" dirty="0">
                <a:solidFill>
                  <a:srgbClr val="990000"/>
                </a:solidFill>
                <a:latin typeface="Arial" pitchFamily="34" charset="0"/>
                <a:ea typeface="Arial" pitchFamily="34" charset="-122"/>
                <a:cs typeface="Arial" pitchFamily="34" charset="-120"/>
              </a:rPr>
              <a:t>AN OBSERVATION IN THE SAMPLE</a:t>
            </a:r>
            <a:endParaRPr lang="en-US" sz="1000" dirty="0"/>
          </a:p>
        </p:txBody>
      </p:sp>
      <p:sp>
        <p:nvSpPr>
          <p:cNvPr id="10" name="Text 8"/>
          <p:cNvSpPr txBox="1"/>
          <p:nvPr/>
        </p:nvSpPr>
        <p:spPr>
          <a:xfrm>
            <a:off x="7635240" y="1417320"/>
            <a:ext cx="3687775" cy="320040"/>
          </a:xfrm>
          <a:prstGeom prst="rect">
            <a:avLst/>
          </a:prstGeom>
          <a:noFill/>
          <a:ln/>
        </p:spPr>
        <p:txBody>
          <a:bodyPr wrap="square" lIns="0" tIns="0" rIns="0" bIns="0" rtlCol="0" anchor="t"/>
          <a:lstStyle/>
          <a:p>
            <a:pPr indent="0" marL="0">
              <a:buNone/>
            </a:pPr>
            <a:r>
              <a:rPr lang="en-US" sz="1400" dirty="0">
                <a:solidFill>
                  <a:srgbClr val="5E6A78"/>
                </a:solidFill>
                <a:latin typeface="Arial" pitchFamily="34" charset="0"/>
                <a:ea typeface="Arial" pitchFamily="34" charset="-122"/>
                <a:cs typeface="Arial" pitchFamily="34" charset="-120"/>
              </a:rPr>
              <a:t>Invenergy</a:t>
            </a:r>
            <a:endParaRPr lang="en-US" sz="1400" dirty="0"/>
          </a:p>
        </p:txBody>
      </p:sp>
      <p:sp>
        <p:nvSpPr>
          <p:cNvPr id="11" name="Text 9"/>
          <p:cNvSpPr txBox="1"/>
          <p:nvPr/>
        </p:nvSpPr>
        <p:spPr>
          <a:xfrm>
            <a:off x="7635240" y="1737360"/>
            <a:ext cx="3687775" cy="548640"/>
          </a:xfrm>
          <a:prstGeom prst="rect">
            <a:avLst/>
          </a:prstGeom>
          <a:noFill/>
          <a:ln/>
        </p:spPr>
        <p:txBody>
          <a:bodyPr wrap="square" lIns="0" tIns="0" rIns="0" bIns="0" rtlCol="0" anchor="t"/>
          <a:lstStyle/>
          <a:p>
            <a:pPr indent="0" marL="0">
              <a:buNone/>
            </a:pPr>
            <a:r>
              <a:rPr lang="en-US" sz="2400" b="1" dirty="0">
                <a:solidFill>
                  <a:srgbClr val="243142"/>
                </a:solidFill>
                <a:latin typeface="Cambria" pitchFamily="34" charset="0"/>
                <a:ea typeface="Cambria" pitchFamily="34" charset="-122"/>
                <a:cs typeface="Cambria" pitchFamily="34" charset="-120"/>
              </a:rPr>
              <a:t>Analyst, Development</a:t>
            </a:r>
            <a:endParaRPr lang="en-US" sz="2400" dirty="0"/>
          </a:p>
        </p:txBody>
      </p:sp>
      <p:sp>
        <p:nvSpPr>
          <p:cNvPr id="12" name="Text 10"/>
          <p:cNvSpPr txBox="1"/>
          <p:nvPr/>
        </p:nvSpPr>
        <p:spPr>
          <a:xfrm>
            <a:off x="7635240" y="2331720"/>
            <a:ext cx="3687775" cy="274320"/>
          </a:xfrm>
          <a:prstGeom prst="rect">
            <a:avLst/>
          </a:prstGeom>
          <a:noFill/>
          <a:ln/>
        </p:spPr>
        <p:txBody>
          <a:bodyPr wrap="square" lIns="0" tIns="0" rIns="0" bIns="0" rtlCol="0" anchor="t"/>
          <a:lstStyle/>
          <a:p>
            <a:pPr indent="0" marL="0">
              <a:buNone/>
            </a:pPr>
            <a:r>
              <a:rPr lang="en-US" sz="1300" dirty="0">
                <a:solidFill>
                  <a:srgbClr val="5E6A78"/>
                </a:solidFill>
                <a:latin typeface="Arial" pitchFamily="34" charset="0"/>
                <a:ea typeface="Arial" pitchFamily="34" charset="-122"/>
                <a:cs typeface="Arial" pitchFamily="34" charset="-120"/>
              </a:rPr>
              <a:t>Chicago, Illinois  ·  Full time</a:t>
            </a:r>
            <a:endParaRPr lang="en-US" sz="1300" dirty="0"/>
          </a:p>
        </p:txBody>
      </p:sp>
      <p:sp>
        <p:nvSpPr>
          <p:cNvPr id="13" name="Shape 11"/>
          <p:cNvSpPr/>
          <p:nvPr/>
        </p:nvSpPr>
        <p:spPr>
          <a:xfrm>
            <a:off x="7635240" y="2834640"/>
            <a:ext cx="3687775" cy="1143000"/>
          </a:xfrm>
          <a:prstGeom prst="rect">
            <a:avLst/>
          </a:prstGeom>
          <a:solidFill>
            <a:srgbClr val="F6E3E3"/>
          </a:solidFill>
          <a:ln/>
        </p:spPr>
      </p:sp>
      <p:sp>
        <p:nvSpPr>
          <p:cNvPr id="14" name="Text 12"/>
          <p:cNvSpPr txBox="1"/>
          <p:nvPr/>
        </p:nvSpPr>
        <p:spPr>
          <a:xfrm>
            <a:off x="7818120" y="2953512"/>
            <a:ext cx="3322015" cy="274320"/>
          </a:xfrm>
          <a:prstGeom prst="rect">
            <a:avLst/>
          </a:prstGeom>
          <a:noFill/>
          <a:ln/>
        </p:spPr>
        <p:txBody>
          <a:bodyPr wrap="square" lIns="0" tIns="0" rIns="0" bIns="0" rtlCol="0" anchor="t"/>
          <a:lstStyle/>
          <a:p>
            <a:pPr indent="0" marL="0">
              <a:buNone/>
            </a:pPr>
            <a:r>
              <a:rPr lang="en-US" sz="1200" b="1" dirty="0">
                <a:solidFill>
                  <a:srgbClr val="6B0000"/>
                </a:solidFill>
                <a:latin typeface="Arial" pitchFamily="34" charset="0"/>
                <a:ea typeface="Arial" pitchFamily="34" charset="-122"/>
                <a:cs typeface="Arial" pitchFamily="34" charset="-120"/>
              </a:rPr>
              <a:t>Pay range</a:t>
            </a:r>
            <a:endParaRPr lang="en-US" sz="1200" dirty="0"/>
          </a:p>
        </p:txBody>
      </p:sp>
      <p:sp>
        <p:nvSpPr>
          <p:cNvPr id="15" name="Text 13"/>
          <p:cNvSpPr txBox="1"/>
          <p:nvPr/>
        </p:nvSpPr>
        <p:spPr>
          <a:xfrm>
            <a:off x="7818120" y="3246120"/>
            <a:ext cx="3322015" cy="548640"/>
          </a:xfrm>
          <a:prstGeom prst="rect">
            <a:avLst/>
          </a:prstGeom>
          <a:noFill/>
          <a:ln/>
        </p:spPr>
        <p:txBody>
          <a:bodyPr wrap="square" lIns="0" tIns="0" rIns="0" bIns="0" rtlCol="0" anchor="t"/>
          <a:lstStyle/>
          <a:p>
            <a:pPr indent="0" marL="0">
              <a:buNone/>
            </a:pPr>
            <a:r>
              <a:rPr lang="en-US" sz="2800" b="1" dirty="0">
                <a:solidFill>
                  <a:srgbClr val="990000"/>
                </a:solidFill>
                <a:latin typeface="Cambria" pitchFamily="34" charset="0"/>
                <a:ea typeface="Cambria" pitchFamily="34" charset="-122"/>
                <a:cs typeface="Cambria" pitchFamily="34" charset="-120"/>
              </a:rPr>
              <a:t>$60,000 – $77,000</a:t>
            </a:r>
            <a:endParaRPr lang="en-US" sz="2800" dirty="0"/>
          </a:p>
        </p:txBody>
      </p:sp>
      <p:sp>
        <p:nvSpPr>
          <p:cNvPr id="16" name="Text 14"/>
          <p:cNvSpPr txBox="1"/>
          <p:nvPr/>
        </p:nvSpPr>
        <p:spPr>
          <a:xfrm>
            <a:off x="7635240" y="4206240"/>
            <a:ext cx="3687775" cy="685800"/>
          </a:xfrm>
          <a:prstGeom prst="rect">
            <a:avLst/>
          </a:prstGeom>
          <a:noFill/>
          <a:ln/>
        </p:spPr>
        <p:txBody>
          <a:bodyPr wrap="square" lIns="0" tIns="0" rIns="0" bIns="0" rtlCol="0" anchor="t"/>
          <a:lstStyle/>
          <a:p>
            <a:pPr indent="0" marL="0">
              <a:buNone/>
            </a:pPr>
            <a:r>
              <a:rPr lang="en-US" sz="1200" dirty="0">
                <a:solidFill>
                  <a:srgbClr val="243142"/>
                </a:solidFill>
                <a:latin typeface="Arial" pitchFamily="34" charset="0"/>
                <a:ea typeface="Arial" pitchFamily="34" charset="-122"/>
                <a:cs typeface="Arial" pitchFamily="34" charset="-120"/>
              </a:rPr>
              <a:t>Illinois requires a pay scale in every posting (HB 3129, 2025).</a:t>
            </a:r>
            <a:endParaRPr lang="en-US" sz="1200" dirty="0"/>
          </a:p>
          <a:p>
            <a:pPr indent="0" marL="0">
              <a:buNone/>
            </a:pPr>
            <a:r>
              <a:rPr lang="en-US" sz="1200" dirty="0">
                <a:solidFill>
                  <a:srgbClr val="243142"/>
                </a:solidFill>
                <a:latin typeface="Arial" pitchFamily="34" charset="0"/>
                <a:ea typeface="Arial" pitchFamily="34" charset="-122"/>
                <a:cs typeface="Arial" pitchFamily="34" charset="-120"/>
              </a:rPr>
              <a:t>Midpoint used in the pay model: $68,500</a:t>
            </a:r>
            <a:endParaRPr lang="en-US" sz="1200" dirty="0"/>
          </a:p>
        </p:txBody>
      </p:sp>
      <p:sp>
        <p:nvSpPr>
          <p:cNvPr id="17" name="Text 15"/>
          <p:cNvSpPr txBox="1"/>
          <p:nvPr/>
        </p:nvSpPr>
        <p:spPr>
          <a:xfrm>
            <a:off x="7635240" y="5212080"/>
            <a:ext cx="3687775" cy="365760"/>
          </a:xfrm>
          <a:prstGeom prst="rect">
            <a:avLst/>
          </a:prstGeom>
          <a:noFill/>
          <a:ln/>
        </p:spPr>
        <p:txBody>
          <a:bodyPr wrap="square" lIns="0" tIns="0" rIns="0" bIns="0" rtlCol="0" anchor="t"/>
          <a:lstStyle/>
          <a:p>
            <a:pPr indent="0" marL="0">
              <a:buNone/>
            </a:pPr>
            <a:r>
              <a:rPr lang="en-US" sz="1000" i="1" dirty="0">
                <a:solidFill>
                  <a:srgbClr val="5E6A78"/>
                </a:solidFill>
                <a:latin typeface="Arial" pitchFamily="34" charset="0"/>
                <a:ea typeface="Arial" pitchFamily="34" charset="-122"/>
                <a:cs typeface="Arial" pitchFamily="34" charset="-120"/>
              </a:rPr>
              <a:t>Drawn from the dataset record; the author's screenshot of this posting replaces this panel.</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EDEBEB"/>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WHY THIS STUDY</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What in a job posting predicts the pay an employer advertises?</a:t>
            </a:r>
            <a:endParaRPr lang="en-US" sz="2600" dirty="0"/>
          </a:p>
        </p:txBody>
      </p:sp>
      <p:sp>
        <p:nvSpPr>
          <p:cNvPr id="4" name="Shape 2"/>
          <p:cNvSpPr/>
          <p:nvPr/>
        </p:nvSpPr>
        <p:spPr>
          <a:xfrm>
            <a:off x="548640" y="1600200"/>
            <a:ext cx="3515258" cy="1691640"/>
          </a:xfrm>
          <a:prstGeom prst="rect">
            <a:avLst/>
          </a:prstGeom>
          <a:solidFill>
            <a:srgbClr val="EDEBEB"/>
          </a:solidFill>
          <a:ln/>
        </p:spPr>
      </p:sp>
      <p:sp>
        <p:nvSpPr>
          <p:cNvPr id="5" name="Shape 3"/>
          <p:cNvSpPr/>
          <p:nvPr/>
        </p:nvSpPr>
        <p:spPr>
          <a:xfrm>
            <a:off x="777240" y="1783080"/>
            <a:ext cx="420624" cy="420624"/>
          </a:xfrm>
          <a:prstGeom prst="ellipse">
            <a:avLst/>
          </a:prstGeom>
          <a:solidFill>
            <a:srgbClr val="990000"/>
          </a:solidFill>
          <a:ln/>
        </p:spPr>
      </p:sp>
      <p:sp>
        <p:nvSpPr>
          <p:cNvPr id="6" name="Text 4"/>
          <p:cNvSpPr txBox="1"/>
          <p:nvPr/>
        </p:nvSpPr>
        <p:spPr>
          <a:xfrm>
            <a:off x="777240" y="17830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25880" y="1709928"/>
            <a:ext cx="2555138" cy="566928"/>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Pay transparency is spreading</a:t>
            </a:r>
            <a:endParaRPr lang="en-US" sz="1700" dirty="0"/>
          </a:p>
        </p:txBody>
      </p:sp>
      <p:sp>
        <p:nvSpPr>
          <p:cNvPr id="8" name="Text 6"/>
          <p:cNvSpPr txBox="1"/>
          <p:nvPr/>
        </p:nvSpPr>
        <p:spPr>
          <a:xfrm>
            <a:off x="777240" y="2377440"/>
            <a:ext cx="3058058" cy="1097280"/>
          </a:xfrm>
          <a:prstGeom prst="rect">
            <a:avLst/>
          </a:prstGeom>
          <a:noFill/>
          <a:ln/>
        </p:spPr>
        <p:txBody>
          <a:bodyPr wrap="square" lIns="0" tIns="0" rIns="0" bIns="0" rtlCol="0" anchor="t"/>
          <a:lstStyle/>
          <a:p>
            <a:pPr indent="0" marL="0">
              <a:buNone/>
            </a:pPr>
            <a:r>
              <a:rPr lang="en-US" sz="1400" dirty="0">
                <a:solidFill>
                  <a:srgbClr val="243142"/>
                </a:solidFill>
                <a:latin typeface="Arial" pitchFamily="34" charset="0"/>
                <a:ea typeface="Arial" pitchFamily="34" charset="-122"/>
                <a:cs typeface="Arial" pitchFamily="34" charset="-120"/>
              </a:rPr>
              <a:t>13 US jurisdictions now require a pay range in the posting itself; Colorado was first, in 2021.</a:t>
            </a:r>
            <a:endParaRPr lang="en-US" sz="1400" dirty="0"/>
          </a:p>
        </p:txBody>
      </p:sp>
      <p:sp>
        <p:nvSpPr>
          <p:cNvPr id="9" name="Shape 7"/>
          <p:cNvSpPr/>
          <p:nvPr/>
        </p:nvSpPr>
        <p:spPr>
          <a:xfrm>
            <a:off x="4338218" y="1600200"/>
            <a:ext cx="3515258" cy="1691640"/>
          </a:xfrm>
          <a:prstGeom prst="rect">
            <a:avLst/>
          </a:prstGeom>
          <a:solidFill>
            <a:srgbClr val="EDEBEB"/>
          </a:solidFill>
          <a:ln/>
        </p:spPr>
      </p:sp>
      <p:sp>
        <p:nvSpPr>
          <p:cNvPr id="10" name="Shape 8"/>
          <p:cNvSpPr/>
          <p:nvPr/>
        </p:nvSpPr>
        <p:spPr>
          <a:xfrm>
            <a:off x="4566818" y="1783080"/>
            <a:ext cx="420624" cy="420624"/>
          </a:xfrm>
          <a:prstGeom prst="ellipse">
            <a:avLst/>
          </a:prstGeom>
          <a:solidFill>
            <a:srgbClr val="990000"/>
          </a:solidFill>
          <a:ln/>
        </p:spPr>
      </p:sp>
      <p:sp>
        <p:nvSpPr>
          <p:cNvPr id="11" name="Text 9"/>
          <p:cNvSpPr txBox="1"/>
          <p:nvPr/>
        </p:nvSpPr>
        <p:spPr>
          <a:xfrm>
            <a:off x="4566818" y="17830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5115458" y="1709928"/>
            <a:ext cx="2555138" cy="566928"/>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Energy hiring is changing</a:t>
            </a:r>
            <a:endParaRPr lang="en-US" sz="1700" dirty="0"/>
          </a:p>
        </p:txBody>
      </p:sp>
      <p:sp>
        <p:nvSpPr>
          <p:cNvPr id="13" name="Text 11"/>
          <p:cNvSpPr txBox="1"/>
          <p:nvPr/>
        </p:nvSpPr>
        <p:spPr>
          <a:xfrm>
            <a:off x="4566818" y="2377440"/>
            <a:ext cx="3058058" cy="1097280"/>
          </a:xfrm>
          <a:prstGeom prst="rect">
            <a:avLst/>
          </a:prstGeom>
          <a:noFill/>
          <a:ln/>
        </p:spPr>
        <p:txBody>
          <a:bodyPr wrap="square" lIns="0" tIns="0" rIns="0" bIns="0" rtlCol="0" anchor="t"/>
          <a:lstStyle/>
          <a:p>
            <a:pPr indent="0" marL="0">
              <a:buNone/>
            </a:pPr>
            <a:r>
              <a:rPr lang="en-US" sz="1400" dirty="0">
                <a:solidFill>
                  <a:srgbClr val="243142"/>
                </a:solidFill>
                <a:latin typeface="Arial" pitchFamily="34" charset="0"/>
                <a:ea typeface="Arial" pitchFamily="34" charset="-122"/>
                <a:cs typeface="Arial" pitchFamily="34" charset="-120"/>
              </a:rPr>
              <a:t>Data-center construction is pulling analytical talent into utilities, developers and grid operators.</a:t>
            </a:r>
            <a:endParaRPr lang="en-US" sz="1400" dirty="0"/>
          </a:p>
        </p:txBody>
      </p:sp>
      <p:sp>
        <p:nvSpPr>
          <p:cNvPr id="14" name="Shape 12"/>
          <p:cNvSpPr/>
          <p:nvPr/>
        </p:nvSpPr>
        <p:spPr>
          <a:xfrm>
            <a:off x="8127797" y="1600200"/>
            <a:ext cx="3515258" cy="1691640"/>
          </a:xfrm>
          <a:prstGeom prst="rect">
            <a:avLst/>
          </a:prstGeom>
          <a:solidFill>
            <a:srgbClr val="EDEBEB"/>
          </a:solidFill>
          <a:ln/>
        </p:spPr>
      </p:sp>
      <p:sp>
        <p:nvSpPr>
          <p:cNvPr id="15" name="Shape 13"/>
          <p:cNvSpPr/>
          <p:nvPr/>
        </p:nvSpPr>
        <p:spPr>
          <a:xfrm>
            <a:off x="8356397" y="1783080"/>
            <a:ext cx="420624" cy="420624"/>
          </a:xfrm>
          <a:prstGeom prst="ellipse">
            <a:avLst/>
          </a:prstGeom>
          <a:solidFill>
            <a:srgbClr val="990000"/>
          </a:solidFill>
          <a:ln/>
        </p:spPr>
      </p:sp>
      <p:sp>
        <p:nvSpPr>
          <p:cNvPr id="16" name="Text 14"/>
          <p:cNvSpPr txBox="1"/>
          <p:nvPr/>
        </p:nvSpPr>
        <p:spPr>
          <a:xfrm>
            <a:off x="8356397" y="17830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8905037" y="1709928"/>
            <a:ext cx="2555138" cy="566928"/>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Students can benchmark offers</a:t>
            </a:r>
            <a:endParaRPr lang="en-US" sz="1700" dirty="0"/>
          </a:p>
        </p:txBody>
      </p:sp>
      <p:sp>
        <p:nvSpPr>
          <p:cNvPr id="18" name="Text 16"/>
          <p:cNvSpPr txBox="1"/>
          <p:nvPr/>
        </p:nvSpPr>
        <p:spPr>
          <a:xfrm>
            <a:off x="8356397" y="2377440"/>
            <a:ext cx="3058058" cy="1097280"/>
          </a:xfrm>
          <a:prstGeom prst="rect">
            <a:avLst/>
          </a:prstGeom>
          <a:noFill/>
          <a:ln/>
        </p:spPr>
        <p:txBody>
          <a:bodyPr wrap="square" lIns="0" tIns="0" rIns="0" bIns="0" rtlCol="0" anchor="t"/>
          <a:lstStyle/>
          <a:p>
            <a:pPr indent="0" marL="0">
              <a:buNone/>
            </a:pPr>
            <a:r>
              <a:rPr lang="en-US" sz="1400" dirty="0">
                <a:solidFill>
                  <a:srgbClr val="243142"/>
                </a:solidFill>
                <a:latin typeface="Arial" pitchFamily="34" charset="0"/>
                <a:ea typeface="Arial" pitchFamily="34" charset="-122"/>
                <a:cs typeface="Arial" pitchFamily="34" charset="-120"/>
              </a:rPr>
              <a:t>For a graduating student, the posted range is the first price signal of a career.</a:t>
            </a:r>
            <a:endParaRPr lang="en-US" sz="1400" dirty="0"/>
          </a:p>
        </p:txBody>
      </p:sp>
      <p:sp>
        <p:nvSpPr>
          <p:cNvPr id="19" name="Shape 17"/>
          <p:cNvSpPr/>
          <p:nvPr/>
        </p:nvSpPr>
        <p:spPr>
          <a:xfrm>
            <a:off x="548640" y="3566160"/>
            <a:ext cx="5120640" cy="2240280"/>
          </a:xfrm>
          <a:prstGeom prst="rect">
            <a:avLst/>
          </a:prstGeom>
          <a:solidFill>
            <a:srgbClr val="F6E3E3"/>
          </a:solidFill>
          <a:ln/>
        </p:spPr>
      </p:sp>
      <p:sp>
        <p:nvSpPr>
          <p:cNvPr id="20" name="Text 18"/>
          <p:cNvSpPr txBox="1"/>
          <p:nvPr/>
        </p:nvSpPr>
        <p:spPr>
          <a:xfrm>
            <a:off x="777240" y="3749040"/>
            <a:ext cx="4663440" cy="320040"/>
          </a:xfrm>
          <a:prstGeom prst="rect">
            <a:avLst/>
          </a:prstGeom>
          <a:noFill/>
          <a:ln/>
        </p:spPr>
        <p:txBody>
          <a:bodyPr wrap="square" lIns="0" tIns="0" rIns="0" bIns="0" rtlCol="0" anchor="t"/>
          <a:lstStyle/>
          <a:p>
            <a:pPr indent="0" marL="0">
              <a:buNone/>
            </a:pPr>
            <a:r>
              <a:rPr lang="en-US" sz="1500" b="1" dirty="0">
                <a:solidFill>
                  <a:srgbClr val="6B0000"/>
                </a:solidFill>
                <a:latin typeface="Arial" pitchFamily="34" charset="0"/>
                <a:ea typeface="Arial" pitchFamily="34" charset="-122"/>
                <a:cs typeface="Arial" pitchFamily="34" charset="-120"/>
              </a:rPr>
              <a:t>The author as the subject</a:t>
            </a:r>
            <a:endParaRPr lang="en-US" sz="1500" dirty="0"/>
          </a:p>
        </p:txBody>
      </p:sp>
      <p:sp>
        <p:nvSpPr>
          <p:cNvPr id="21" name="Text 19"/>
          <p:cNvSpPr txBox="1"/>
          <p:nvPr/>
        </p:nvSpPr>
        <p:spPr>
          <a:xfrm>
            <a:off x="777240" y="4160520"/>
            <a:ext cx="4663440" cy="1463040"/>
          </a:xfrm>
          <a:prstGeom prst="rect">
            <a:avLst/>
          </a:prstGeom>
          <a:noFill/>
          <a:ln/>
        </p:spPr>
        <p:txBody>
          <a:bodyPr wrap="square" lIns="0" tIns="0" rIns="0" bIns="0" rtlCol="0" anchor="t"/>
          <a:lstStyle/>
          <a:p>
            <a:pPr indent="0" marL="0">
              <a:buNone/>
            </a:pPr>
            <a:r>
              <a:rPr lang="en-US" sz="1400" dirty="0">
                <a:solidFill>
                  <a:srgbClr val="243142"/>
                </a:solidFill>
                <a:latin typeface="Arial" pitchFamily="34" charset="0"/>
                <a:ea typeface="Arial" pitchFamily="34" charset="-122"/>
                <a:cs typeface="Arial" pitchFamily="34" charset="-120"/>
              </a:rPr>
              <a:t>Industries and roles were benchmarked to the author's résumé: the sectors with the most experience and interest, and roles the author holds or could hold. The same design extends to any student or industry.</a:t>
            </a:r>
            <a:endParaRPr lang="en-US" sz="1400" dirty="0"/>
          </a:p>
        </p:txBody>
      </p:sp>
      <p:sp>
        <p:nvSpPr>
          <p:cNvPr id="22" name="Text 20"/>
          <p:cNvSpPr txBox="1"/>
          <p:nvPr/>
        </p:nvSpPr>
        <p:spPr>
          <a:xfrm>
            <a:off x="5943600" y="3611880"/>
            <a:ext cx="5699455" cy="274320"/>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RELATED WORK</a:t>
            </a:r>
            <a:endParaRPr lang="en-US" sz="1100" dirty="0"/>
          </a:p>
        </p:txBody>
      </p:sp>
      <p:sp>
        <p:nvSpPr>
          <p:cNvPr id="23" name="Text 21"/>
          <p:cNvSpPr txBox="1"/>
          <p:nvPr/>
        </p:nvSpPr>
        <p:spPr>
          <a:xfrm>
            <a:off x="5943600" y="3950208"/>
            <a:ext cx="5699455" cy="1874520"/>
          </a:xfrm>
          <a:prstGeom prst="rect">
            <a:avLst/>
          </a:prstGeom>
          <a:noFill/>
          <a:ln/>
        </p:spPr>
        <p:txBody>
          <a:bodyPr wrap="square" lIns="0" tIns="0" rIns="0" bIns="0" rtlCol="0" anchor="t"/>
          <a:lstStyle/>
          <a:p>
            <a:pPr indent="0" marL="0">
              <a:spcAft>
                <a:spcPts val="600"/>
              </a:spcAft>
              <a:buNone/>
            </a:pPr>
            <a:r>
              <a:rPr lang="en-US" sz="1300" b="1" dirty="0">
                <a:solidFill>
                  <a:srgbClr val="243142"/>
                </a:solidFill>
                <a:latin typeface="Arial" pitchFamily="34" charset="0"/>
                <a:ea typeface="Arial" pitchFamily="34" charset="-122"/>
                <a:cs typeface="Arial" pitchFamily="34" charset="-120"/>
              </a:rPr>
              <a:t>Arnold, Quach &amp; Taska (2025, NBER WP 34480): </a:t>
            </a:r>
            <a:pPr indent="0" marL="0">
              <a:spcAft>
                <a:spcPts val="600"/>
              </a:spcAft>
              <a:buNone/>
            </a:pPr>
            <a:r>
              <a:rPr lang="en-US" sz="1300" dirty="0">
                <a:solidFill>
                  <a:srgbClr val="243142"/>
                </a:solidFill>
                <a:latin typeface="Arial" pitchFamily="34" charset="0"/>
                <a:ea typeface="Arial" pitchFamily="34" charset="-122"/>
                <a:cs typeface="Arial" pitchFamily="34" charset="-120"/>
              </a:rPr>
              <a:t>Colorado's posting law raised the share of postings stating pay by about 30 points.</a:t>
            </a:r>
            <a:endParaRPr lang="en-US" sz="1300" dirty="0"/>
          </a:p>
          <a:p>
            <a:pPr indent="0" marL="0">
              <a:spcAft>
                <a:spcPts val="600"/>
              </a:spcAft>
              <a:buNone/>
            </a:pPr>
            <a:r>
              <a:rPr lang="en-US" sz="1300" b="1" dirty="0">
                <a:solidFill>
                  <a:srgbClr val="243142"/>
                </a:solidFill>
                <a:latin typeface="Arial" pitchFamily="34" charset="0"/>
                <a:ea typeface="Arial" pitchFamily="34" charset="-122"/>
                <a:cs typeface="Arial" pitchFamily="34" charset="-120"/>
              </a:rPr>
              <a:t>Cullen &amp; Pakzad-Hurson (2023, Econometrica): </a:t>
            </a:r>
            <a:pPr indent="0" marL="0">
              <a:spcAft>
                <a:spcPts val="600"/>
              </a:spcAft>
              <a:buNone/>
            </a:pPr>
            <a:r>
              <a:rPr lang="en-US" sz="1300" dirty="0">
                <a:solidFill>
                  <a:srgbClr val="243142"/>
                </a:solidFill>
                <a:latin typeface="Arial" pitchFamily="34" charset="0"/>
                <a:ea typeface="Arial" pitchFamily="34" charset="-122"/>
                <a:cs typeface="Arial" pitchFamily="34" charset="-120"/>
              </a:rPr>
              <a:t>equilibrium effects of transparency on wages.</a:t>
            </a:r>
            <a:endParaRPr lang="en-US" sz="1300" dirty="0"/>
          </a:p>
          <a:p>
            <a:pPr indent="0" marL="0">
              <a:spcAft>
                <a:spcPts val="600"/>
              </a:spcAft>
              <a:buNone/>
            </a:pPr>
            <a:r>
              <a:rPr lang="en-US" sz="1300" b="1" dirty="0">
                <a:solidFill>
                  <a:srgbClr val="243142"/>
                </a:solidFill>
                <a:latin typeface="Arial" pitchFamily="34" charset="0"/>
                <a:ea typeface="Arial" pitchFamily="34" charset="-122"/>
                <a:cs typeface="Arial" pitchFamily="34" charset="-120"/>
              </a:rPr>
              <a:t>Cullen (2024, Journal of Economic Perspectives): </a:t>
            </a:r>
            <a:pPr indent="0" marL="0">
              <a:spcAft>
                <a:spcPts val="600"/>
              </a:spcAft>
              <a:buNone/>
            </a:pPr>
            <a:r>
              <a:rPr lang="en-US" sz="1300" dirty="0">
                <a:solidFill>
                  <a:srgbClr val="243142"/>
                </a:solidFill>
                <a:latin typeface="Arial" pitchFamily="34" charset="0"/>
                <a:ea typeface="Arial" pitchFamily="34" charset="-122"/>
                <a:cs typeface="Arial" pitchFamily="34" charset="-120"/>
              </a:rPr>
              <a:t>is pay transparency good? A review.</a:t>
            </a:r>
            <a:endParaRPr lang="en-US" sz="1300" dirty="0"/>
          </a:p>
          <a:p>
            <a:pPr indent="0" marL="0">
              <a:spcAft>
                <a:spcPts val="600"/>
              </a:spcAft>
              <a:buNone/>
            </a:pPr>
            <a:r>
              <a:rPr lang="en-US" sz="1300" b="1" dirty="0">
                <a:solidFill>
                  <a:srgbClr val="990000"/>
                </a:solidFill>
                <a:latin typeface="Arial" pitchFamily="34" charset="0"/>
                <a:ea typeface="Arial" pitchFamily="34" charset="-122"/>
                <a:cs typeface="Arial" pitchFamily="34" charset="-120"/>
              </a:rPr>
              <a:t>This study: </a:t>
            </a:r>
            <a:pPr indent="0" marL="0">
              <a:spcAft>
                <a:spcPts val="600"/>
              </a:spcAft>
              <a:buNone/>
            </a:pPr>
            <a:r>
              <a:rPr lang="en-US" sz="1300" dirty="0">
                <a:solidFill>
                  <a:srgbClr val="243142"/>
                </a:solidFill>
                <a:latin typeface="Arial" pitchFamily="34" charset="0"/>
                <a:ea typeface="Arial" pitchFamily="34" charset="-122"/>
                <a:cs typeface="Arial" pitchFamily="34" charset="-120"/>
              </a:rPr>
              <a:t>one sector, all US states, 729 postings; disclosure is modelled as an outcome, not assumed.</a:t>
            </a:r>
            <a:endParaRPr lang="en-US" sz="13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INSTITUTIONAL BACKGROUND</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13 jurisdictions required a pay range in the posting during the collection window</a:t>
            </a:r>
            <a:endParaRPr lang="en-US" sz="2600" dirty="0"/>
          </a:p>
        </p:txBody>
      </p:sp>
      <p:sp>
        <p:nvSpPr>
          <p:cNvPr id="4" name="Shape 2"/>
          <p:cNvSpPr/>
          <p:nvPr/>
        </p:nvSpPr>
        <p:spPr>
          <a:xfrm>
            <a:off x="548640" y="1600200"/>
            <a:ext cx="457200" cy="457200"/>
          </a:xfrm>
          <a:prstGeom prst="rect">
            <a:avLst/>
          </a:prstGeom>
          <a:solidFill>
            <a:srgbClr val="EDEBEB"/>
          </a:solidFill>
          <a:ln/>
        </p:spPr>
      </p:sp>
      <p:sp>
        <p:nvSpPr>
          <p:cNvPr id="5" name="Text 3"/>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AK</a:t>
            </a:r>
            <a:endParaRPr lang="en-US" sz="1400" dirty="0"/>
          </a:p>
        </p:txBody>
      </p:sp>
      <p:sp>
        <p:nvSpPr>
          <p:cNvPr id="6" name="Shape 4"/>
          <p:cNvSpPr/>
          <p:nvPr/>
        </p:nvSpPr>
        <p:spPr>
          <a:xfrm>
            <a:off x="5669280" y="1600200"/>
            <a:ext cx="457200" cy="457200"/>
          </a:xfrm>
          <a:prstGeom prst="rect">
            <a:avLst/>
          </a:prstGeom>
          <a:solidFill>
            <a:srgbClr val="EDEBEB"/>
          </a:solidFill>
          <a:ln/>
        </p:spPr>
      </p:sp>
      <p:sp>
        <p:nvSpPr>
          <p:cNvPr id="7" name="Text 5"/>
          <p:cNvSpPr txBox="1"/>
          <p:nvPr/>
        </p:nvSpPr>
        <p:spPr>
          <a:xfrm>
            <a:off x="5669280" y="160020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ME</a:t>
            </a:r>
            <a:endParaRPr lang="en-US" sz="1400" dirty="0"/>
          </a:p>
        </p:txBody>
      </p:sp>
      <p:sp>
        <p:nvSpPr>
          <p:cNvPr id="8" name="Shape 6"/>
          <p:cNvSpPr/>
          <p:nvPr/>
        </p:nvSpPr>
        <p:spPr>
          <a:xfrm>
            <a:off x="5157216" y="2112264"/>
            <a:ext cx="457200" cy="457200"/>
          </a:xfrm>
          <a:prstGeom prst="rect">
            <a:avLst/>
          </a:prstGeom>
          <a:solidFill>
            <a:srgbClr val="990000"/>
          </a:solidFill>
          <a:ln/>
        </p:spPr>
      </p:sp>
      <p:sp>
        <p:nvSpPr>
          <p:cNvPr id="9" name="Text 7"/>
          <p:cNvSpPr txBox="1"/>
          <p:nvPr/>
        </p:nvSpPr>
        <p:spPr>
          <a:xfrm>
            <a:off x="5157216" y="211226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VT</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2025</a:t>
            </a:r>
            <a:endParaRPr lang="en-US" sz="1400" dirty="0"/>
          </a:p>
        </p:txBody>
      </p:sp>
      <p:sp>
        <p:nvSpPr>
          <p:cNvPr id="10" name="Shape 8"/>
          <p:cNvSpPr/>
          <p:nvPr/>
        </p:nvSpPr>
        <p:spPr>
          <a:xfrm>
            <a:off x="5669280" y="2112264"/>
            <a:ext cx="457200" cy="457200"/>
          </a:xfrm>
          <a:prstGeom prst="rect">
            <a:avLst/>
          </a:prstGeom>
          <a:solidFill>
            <a:srgbClr val="EDEBEB"/>
          </a:solidFill>
          <a:ln/>
        </p:spPr>
      </p:sp>
      <p:sp>
        <p:nvSpPr>
          <p:cNvPr id="11" name="Text 9"/>
          <p:cNvSpPr txBox="1"/>
          <p:nvPr/>
        </p:nvSpPr>
        <p:spPr>
          <a:xfrm>
            <a:off x="5669280" y="211226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NH</a:t>
            </a:r>
            <a:endParaRPr lang="en-US" sz="1400" dirty="0"/>
          </a:p>
        </p:txBody>
      </p:sp>
      <p:sp>
        <p:nvSpPr>
          <p:cNvPr id="12" name="Shape 10"/>
          <p:cNvSpPr/>
          <p:nvPr/>
        </p:nvSpPr>
        <p:spPr>
          <a:xfrm>
            <a:off x="548640" y="2624328"/>
            <a:ext cx="457200" cy="457200"/>
          </a:xfrm>
          <a:prstGeom prst="rect">
            <a:avLst/>
          </a:prstGeom>
          <a:solidFill>
            <a:srgbClr val="990000"/>
          </a:solidFill>
          <a:ln/>
        </p:spPr>
      </p:sp>
      <p:sp>
        <p:nvSpPr>
          <p:cNvPr id="13" name="Text 11"/>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WA</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2023</a:t>
            </a:r>
            <a:endParaRPr lang="en-US" sz="1400" dirty="0"/>
          </a:p>
        </p:txBody>
      </p:sp>
      <p:sp>
        <p:nvSpPr>
          <p:cNvPr id="14" name="Shape 12"/>
          <p:cNvSpPr/>
          <p:nvPr/>
        </p:nvSpPr>
        <p:spPr>
          <a:xfrm>
            <a:off x="1060704" y="2624328"/>
            <a:ext cx="457200" cy="457200"/>
          </a:xfrm>
          <a:prstGeom prst="rect">
            <a:avLst/>
          </a:prstGeom>
          <a:solidFill>
            <a:srgbClr val="EDEBEB"/>
          </a:solidFill>
          <a:ln/>
        </p:spPr>
      </p:sp>
      <p:sp>
        <p:nvSpPr>
          <p:cNvPr id="15" name="Text 13"/>
          <p:cNvSpPr txBox="1"/>
          <p:nvPr/>
        </p:nvSpPr>
        <p:spPr>
          <a:xfrm>
            <a:off x="1060704"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ID</a:t>
            </a:r>
            <a:endParaRPr lang="en-US" sz="1400" dirty="0"/>
          </a:p>
        </p:txBody>
      </p:sp>
      <p:sp>
        <p:nvSpPr>
          <p:cNvPr id="16" name="Shape 14"/>
          <p:cNvSpPr/>
          <p:nvPr/>
        </p:nvSpPr>
        <p:spPr>
          <a:xfrm>
            <a:off x="1572768" y="2624328"/>
            <a:ext cx="457200" cy="457200"/>
          </a:xfrm>
          <a:prstGeom prst="rect">
            <a:avLst/>
          </a:prstGeom>
          <a:solidFill>
            <a:srgbClr val="EDEBEB"/>
          </a:solidFill>
          <a:ln/>
        </p:spPr>
      </p:sp>
      <p:sp>
        <p:nvSpPr>
          <p:cNvPr id="17" name="Text 15"/>
          <p:cNvSpPr txBox="1"/>
          <p:nvPr/>
        </p:nvSpPr>
        <p:spPr>
          <a:xfrm>
            <a:off x="1572768"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MT</a:t>
            </a:r>
            <a:endParaRPr lang="en-US" sz="1400" dirty="0"/>
          </a:p>
        </p:txBody>
      </p:sp>
      <p:sp>
        <p:nvSpPr>
          <p:cNvPr id="18" name="Shape 16"/>
          <p:cNvSpPr/>
          <p:nvPr/>
        </p:nvSpPr>
        <p:spPr>
          <a:xfrm>
            <a:off x="2084832" y="2624328"/>
            <a:ext cx="457200" cy="457200"/>
          </a:xfrm>
          <a:prstGeom prst="rect">
            <a:avLst/>
          </a:prstGeom>
          <a:solidFill>
            <a:srgbClr val="EDEBEB"/>
          </a:solidFill>
          <a:ln/>
        </p:spPr>
      </p:sp>
      <p:sp>
        <p:nvSpPr>
          <p:cNvPr id="19" name="Text 17"/>
          <p:cNvSpPr txBox="1"/>
          <p:nvPr/>
        </p:nvSpPr>
        <p:spPr>
          <a:xfrm>
            <a:off x="2084832"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ND</a:t>
            </a:r>
            <a:endParaRPr lang="en-US" sz="1400" dirty="0"/>
          </a:p>
        </p:txBody>
      </p:sp>
      <p:sp>
        <p:nvSpPr>
          <p:cNvPr id="20" name="Shape 18"/>
          <p:cNvSpPr/>
          <p:nvPr/>
        </p:nvSpPr>
        <p:spPr>
          <a:xfrm>
            <a:off x="2596896" y="2624328"/>
            <a:ext cx="457200" cy="457200"/>
          </a:xfrm>
          <a:prstGeom prst="rect">
            <a:avLst/>
          </a:prstGeom>
          <a:solidFill>
            <a:srgbClr val="990000"/>
          </a:solidFill>
          <a:ln/>
        </p:spPr>
      </p:sp>
      <p:sp>
        <p:nvSpPr>
          <p:cNvPr id="21" name="Text 19"/>
          <p:cNvSpPr txBox="1"/>
          <p:nvPr/>
        </p:nvSpPr>
        <p:spPr>
          <a:xfrm>
            <a:off x="2596896"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MN</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2025</a:t>
            </a:r>
            <a:endParaRPr lang="en-US" sz="1400" dirty="0"/>
          </a:p>
        </p:txBody>
      </p:sp>
      <p:sp>
        <p:nvSpPr>
          <p:cNvPr id="22" name="Shape 20"/>
          <p:cNvSpPr/>
          <p:nvPr/>
        </p:nvSpPr>
        <p:spPr>
          <a:xfrm>
            <a:off x="3108960" y="2624328"/>
            <a:ext cx="457200" cy="457200"/>
          </a:xfrm>
          <a:prstGeom prst="rect">
            <a:avLst/>
          </a:prstGeom>
          <a:solidFill>
            <a:srgbClr val="990000"/>
          </a:solidFill>
          <a:ln/>
        </p:spPr>
      </p:sp>
      <p:sp>
        <p:nvSpPr>
          <p:cNvPr id="23" name="Text 21"/>
          <p:cNvSpPr txBox="1"/>
          <p:nvPr/>
        </p:nvSpPr>
        <p:spPr>
          <a:xfrm>
            <a:off x="3108960"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IL</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2025</a:t>
            </a:r>
            <a:endParaRPr lang="en-US" sz="1400" dirty="0"/>
          </a:p>
        </p:txBody>
      </p:sp>
      <p:sp>
        <p:nvSpPr>
          <p:cNvPr id="24" name="Shape 22"/>
          <p:cNvSpPr/>
          <p:nvPr/>
        </p:nvSpPr>
        <p:spPr>
          <a:xfrm>
            <a:off x="3621024" y="2624328"/>
            <a:ext cx="457200" cy="457200"/>
          </a:xfrm>
          <a:prstGeom prst="rect">
            <a:avLst/>
          </a:prstGeom>
          <a:solidFill>
            <a:srgbClr val="EDEBEB"/>
          </a:solidFill>
          <a:ln/>
        </p:spPr>
      </p:sp>
      <p:sp>
        <p:nvSpPr>
          <p:cNvPr id="25" name="Text 23"/>
          <p:cNvSpPr txBox="1"/>
          <p:nvPr/>
        </p:nvSpPr>
        <p:spPr>
          <a:xfrm>
            <a:off x="3621024"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WI</a:t>
            </a:r>
            <a:endParaRPr lang="en-US" sz="1400" dirty="0"/>
          </a:p>
        </p:txBody>
      </p:sp>
      <p:sp>
        <p:nvSpPr>
          <p:cNvPr id="26" name="Shape 24"/>
          <p:cNvSpPr/>
          <p:nvPr/>
        </p:nvSpPr>
        <p:spPr>
          <a:xfrm>
            <a:off x="4133088" y="2624328"/>
            <a:ext cx="457200" cy="457200"/>
          </a:xfrm>
          <a:prstGeom prst="rect">
            <a:avLst/>
          </a:prstGeom>
          <a:solidFill>
            <a:srgbClr val="EDEBEB"/>
          </a:solidFill>
          <a:ln/>
        </p:spPr>
      </p:sp>
      <p:sp>
        <p:nvSpPr>
          <p:cNvPr id="27" name="Text 25"/>
          <p:cNvSpPr txBox="1"/>
          <p:nvPr/>
        </p:nvSpPr>
        <p:spPr>
          <a:xfrm>
            <a:off x="4133088"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MI</a:t>
            </a:r>
            <a:endParaRPr lang="en-US" sz="1400" dirty="0"/>
          </a:p>
        </p:txBody>
      </p:sp>
      <p:sp>
        <p:nvSpPr>
          <p:cNvPr id="28" name="Shape 26"/>
          <p:cNvSpPr/>
          <p:nvPr/>
        </p:nvSpPr>
        <p:spPr>
          <a:xfrm>
            <a:off x="4645152" y="2624328"/>
            <a:ext cx="457200" cy="457200"/>
          </a:xfrm>
          <a:prstGeom prst="rect">
            <a:avLst/>
          </a:prstGeom>
          <a:solidFill>
            <a:srgbClr val="990000"/>
          </a:solidFill>
          <a:ln/>
        </p:spPr>
      </p:sp>
      <p:sp>
        <p:nvSpPr>
          <p:cNvPr id="29" name="Text 27"/>
          <p:cNvSpPr txBox="1"/>
          <p:nvPr/>
        </p:nvSpPr>
        <p:spPr>
          <a:xfrm>
            <a:off x="4645152"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NY</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2023</a:t>
            </a:r>
            <a:endParaRPr lang="en-US" sz="1400" dirty="0"/>
          </a:p>
        </p:txBody>
      </p:sp>
      <p:sp>
        <p:nvSpPr>
          <p:cNvPr id="30" name="Shape 28"/>
          <p:cNvSpPr/>
          <p:nvPr/>
        </p:nvSpPr>
        <p:spPr>
          <a:xfrm>
            <a:off x="5157216" y="2624328"/>
            <a:ext cx="457200" cy="457200"/>
          </a:xfrm>
          <a:prstGeom prst="rect">
            <a:avLst/>
          </a:prstGeom>
          <a:solidFill>
            <a:srgbClr val="EDEBEB"/>
          </a:solidFill>
          <a:ln/>
        </p:spPr>
      </p:sp>
      <p:sp>
        <p:nvSpPr>
          <p:cNvPr id="31" name="Text 29"/>
          <p:cNvSpPr txBox="1"/>
          <p:nvPr/>
        </p:nvSpPr>
        <p:spPr>
          <a:xfrm>
            <a:off x="5157216"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RI</a:t>
            </a:r>
            <a:endParaRPr lang="en-US" sz="1400" dirty="0"/>
          </a:p>
        </p:txBody>
      </p:sp>
      <p:sp>
        <p:nvSpPr>
          <p:cNvPr id="32" name="Shape 30"/>
          <p:cNvSpPr/>
          <p:nvPr/>
        </p:nvSpPr>
        <p:spPr>
          <a:xfrm>
            <a:off x="5669280" y="2624328"/>
            <a:ext cx="457200" cy="457200"/>
          </a:xfrm>
          <a:prstGeom prst="rect">
            <a:avLst/>
          </a:prstGeom>
          <a:solidFill>
            <a:srgbClr val="990000"/>
          </a:solidFill>
          <a:ln/>
        </p:spPr>
      </p:sp>
      <p:sp>
        <p:nvSpPr>
          <p:cNvPr id="33" name="Text 31"/>
          <p:cNvSpPr txBox="1"/>
          <p:nvPr/>
        </p:nvSpPr>
        <p:spPr>
          <a:xfrm>
            <a:off x="5669280"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2025</a:t>
            </a:r>
            <a:endParaRPr lang="en-US" sz="1400" dirty="0"/>
          </a:p>
        </p:txBody>
      </p:sp>
      <p:sp>
        <p:nvSpPr>
          <p:cNvPr id="34" name="Shape 32"/>
          <p:cNvSpPr/>
          <p:nvPr/>
        </p:nvSpPr>
        <p:spPr>
          <a:xfrm>
            <a:off x="548640" y="3136392"/>
            <a:ext cx="457200" cy="457200"/>
          </a:xfrm>
          <a:prstGeom prst="rect">
            <a:avLst/>
          </a:prstGeom>
          <a:solidFill>
            <a:srgbClr val="EDEBEB"/>
          </a:solidFill>
          <a:ln/>
        </p:spPr>
      </p:sp>
      <p:sp>
        <p:nvSpPr>
          <p:cNvPr id="35" name="Text 33"/>
          <p:cNvSpPr txBox="1"/>
          <p:nvPr/>
        </p:nvSpPr>
        <p:spPr>
          <a:xfrm>
            <a:off x="548640"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OR</a:t>
            </a:r>
            <a:endParaRPr lang="en-US" sz="1400" dirty="0"/>
          </a:p>
        </p:txBody>
      </p:sp>
      <p:sp>
        <p:nvSpPr>
          <p:cNvPr id="36" name="Shape 34"/>
          <p:cNvSpPr/>
          <p:nvPr/>
        </p:nvSpPr>
        <p:spPr>
          <a:xfrm>
            <a:off x="1060704" y="3136392"/>
            <a:ext cx="457200" cy="457200"/>
          </a:xfrm>
          <a:prstGeom prst="rect">
            <a:avLst/>
          </a:prstGeom>
          <a:solidFill>
            <a:srgbClr val="EDEBEB"/>
          </a:solidFill>
          <a:ln/>
        </p:spPr>
      </p:sp>
      <p:sp>
        <p:nvSpPr>
          <p:cNvPr id="37" name="Text 35"/>
          <p:cNvSpPr txBox="1"/>
          <p:nvPr/>
        </p:nvSpPr>
        <p:spPr>
          <a:xfrm>
            <a:off x="1060704"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NV</a:t>
            </a:r>
            <a:endParaRPr lang="en-US" sz="1400" dirty="0"/>
          </a:p>
        </p:txBody>
      </p:sp>
      <p:sp>
        <p:nvSpPr>
          <p:cNvPr id="38" name="Shape 36"/>
          <p:cNvSpPr/>
          <p:nvPr/>
        </p:nvSpPr>
        <p:spPr>
          <a:xfrm>
            <a:off x="1572768" y="3136392"/>
            <a:ext cx="457200" cy="457200"/>
          </a:xfrm>
          <a:prstGeom prst="rect">
            <a:avLst/>
          </a:prstGeom>
          <a:solidFill>
            <a:srgbClr val="EDEBEB"/>
          </a:solidFill>
          <a:ln/>
        </p:spPr>
      </p:sp>
      <p:sp>
        <p:nvSpPr>
          <p:cNvPr id="39" name="Text 37"/>
          <p:cNvSpPr txBox="1"/>
          <p:nvPr/>
        </p:nvSpPr>
        <p:spPr>
          <a:xfrm>
            <a:off x="1572768"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WY</a:t>
            </a:r>
            <a:endParaRPr lang="en-US" sz="1400" dirty="0"/>
          </a:p>
        </p:txBody>
      </p:sp>
      <p:sp>
        <p:nvSpPr>
          <p:cNvPr id="40" name="Shape 38"/>
          <p:cNvSpPr/>
          <p:nvPr/>
        </p:nvSpPr>
        <p:spPr>
          <a:xfrm>
            <a:off x="2084832" y="3136392"/>
            <a:ext cx="457200" cy="457200"/>
          </a:xfrm>
          <a:prstGeom prst="rect">
            <a:avLst/>
          </a:prstGeom>
          <a:solidFill>
            <a:srgbClr val="EDEBEB"/>
          </a:solidFill>
          <a:ln/>
        </p:spPr>
      </p:sp>
      <p:sp>
        <p:nvSpPr>
          <p:cNvPr id="41" name="Text 39"/>
          <p:cNvSpPr txBox="1"/>
          <p:nvPr/>
        </p:nvSpPr>
        <p:spPr>
          <a:xfrm>
            <a:off x="2084832"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SD</a:t>
            </a:r>
            <a:endParaRPr lang="en-US" sz="1400" dirty="0"/>
          </a:p>
        </p:txBody>
      </p:sp>
      <p:sp>
        <p:nvSpPr>
          <p:cNvPr id="42" name="Shape 40"/>
          <p:cNvSpPr/>
          <p:nvPr/>
        </p:nvSpPr>
        <p:spPr>
          <a:xfrm>
            <a:off x="2596896" y="3136392"/>
            <a:ext cx="457200" cy="457200"/>
          </a:xfrm>
          <a:prstGeom prst="rect">
            <a:avLst/>
          </a:prstGeom>
          <a:solidFill>
            <a:srgbClr val="EDEBEB"/>
          </a:solidFill>
          <a:ln/>
        </p:spPr>
      </p:sp>
      <p:sp>
        <p:nvSpPr>
          <p:cNvPr id="43" name="Text 41"/>
          <p:cNvSpPr txBox="1"/>
          <p:nvPr/>
        </p:nvSpPr>
        <p:spPr>
          <a:xfrm>
            <a:off x="2596896"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IA</a:t>
            </a:r>
            <a:endParaRPr lang="en-US" sz="1400" dirty="0"/>
          </a:p>
        </p:txBody>
      </p:sp>
      <p:sp>
        <p:nvSpPr>
          <p:cNvPr id="44" name="Shape 42"/>
          <p:cNvSpPr/>
          <p:nvPr/>
        </p:nvSpPr>
        <p:spPr>
          <a:xfrm>
            <a:off x="3108960" y="3136392"/>
            <a:ext cx="457200" cy="457200"/>
          </a:xfrm>
          <a:prstGeom prst="rect">
            <a:avLst/>
          </a:prstGeom>
          <a:solidFill>
            <a:srgbClr val="EDEBEB"/>
          </a:solidFill>
          <a:ln/>
        </p:spPr>
      </p:sp>
      <p:sp>
        <p:nvSpPr>
          <p:cNvPr id="45" name="Text 43"/>
          <p:cNvSpPr txBox="1"/>
          <p:nvPr/>
        </p:nvSpPr>
        <p:spPr>
          <a:xfrm>
            <a:off x="3108960"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IN</a:t>
            </a:r>
            <a:endParaRPr lang="en-US" sz="1400" dirty="0"/>
          </a:p>
        </p:txBody>
      </p:sp>
      <p:sp>
        <p:nvSpPr>
          <p:cNvPr id="46" name="Shape 44"/>
          <p:cNvSpPr/>
          <p:nvPr/>
        </p:nvSpPr>
        <p:spPr>
          <a:xfrm>
            <a:off x="3621024" y="3136392"/>
            <a:ext cx="457200" cy="457200"/>
          </a:xfrm>
          <a:prstGeom prst="rect">
            <a:avLst/>
          </a:prstGeom>
          <a:solidFill>
            <a:srgbClr val="EDEBEB"/>
          </a:solidFill>
          <a:ln/>
        </p:spPr>
      </p:sp>
      <p:sp>
        <p:nvSpPr>
          <p:cNvPr id="47" name="Text 45"/>
          <p:cNvSpPr txBox="1"/>
          <p:nvPr/>
        </p:nvSpPr>
        <p:spPr>
          <a:xfrm>
            <a:off x="3621024"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OH</a:t>
            </a:r>
            <a:endParaRPr lang="en-US" sz="1400" dirty="0"/>
          </a:p>
        </p:txBody>
      </p:sp>
      <p:sp>
        <p:nvSpPr>
          <p:cNvPr id="48" name="Shape 46"/>
          <p:cNvSpPr/>
          <p:nvPr/>
        </p:nvSpPr>
        <p:spPr>
          <a:xfrm>
            <a:off x="4133088" y="3136392"/>
            <a:ext cx="457200" cy="457200"/>
          </a:xfrm>
          <a:prstGeom prst="rect">
            <a:avLst/>
          </a:prstGeom>
          <a:solidFill>
            <a:srgbClr val="EDEBEB"/>
          </a:solidFill>
          <a:ln/>
        </p:spPr>
      </p:sp>
      <p:sp>
        <p:nvSpPr>
          <p:cNvPr id="49" name="Text 47"/>
          <p:cNvSpPr txBox="1"/>
          <p:nvPr/>
        </p:nvSpPr>
        <p:spPr>
          <a:xfrm>
            <a:off x="4133088"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PA</a:t>
            </a:r>
            <a:endParaRPr lang="en-US" sz="1400" dirty="0"/>
          </a:p>
        </p:txBody>
      </p:sp>
      <p:sp>
        <p:nvSpPr>
          <p:cNvPr id="50" name="Shape 48"/>
          <p:cNvSpPr/>
          <p:nvPr/>
        </p:nvSpPr>
        <p:spPr>
          <a:xfrm>
            <a:off x="4645152" y="3136392"/>
            <a:ext cx="457200" cy="457200"/>
          </a:xfrm>
          <a:prstGeom prst="rect">
            <a:avLst/>
          </a:prstGeom>
          <a:solidFill>
            <a:srgbClr val="990000"/>
          </a:solidFill>
          <a:ln/>
        </p:spPr>
      </p:sp>
      <p:sp>
        <p:nvSpPr>
          <p:cNvPr id="51" name="Text 49"/>
          <p:cNvSpPr txBox="1"/>
          <p:nvPr/>
        </p:nvSpPr>
        <p:spPr>
          <a:xfrm>
            <a:off x="4645152" y="313639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NJ</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2025</a:t>
            </a:r>
            <a:endParaRPr lang="en-US" sz="1400" dirty="0"/>
          </a:p>
        </p:txBody>
      </p:sp>
      <p:sp>
        <p:nvSpPr>
          <p:cNvPr id="52" name="Shape 50"/>
          <p:cNvSpPr/>
          <p:nvPr/>
        </p:nvSpPr>
        <p:spPr>
          <a:xfrm>
            <a:off x="5157216" y="3136392"/>
            <a:ext cx="457200" cy="457200"/>
          </a:xfrm>
          <a:prstGeom prst="rect">
            <a:avLst/>
          </a:prstGeom>
          <a:solidFill>
            <a:srgbClr val="FFFFFF"/>
          </a:solidFill>
          <a:ln w="19050">
            <a:solidFill>
              <a:srgbClr val="990000"/>
            </a:solidFill>
            <a:prstDash val="dash"/>
          </a:ln>
        </p:spPr>
      </p:sp>
      <p:sp>
        <p:nvSpPr>
          <p:cNvPr id="53" name="Text 51"/>
          <p:cNvSpPr txBox="1"/>
          <p:nvPr/>
        </p:nvSpPr>
        <p:spPr>
          <a:xfrm>
            <a:off x="5157216" y="3136392"/>
            <a:ext cx="457200" cy="457200"/>
          </a:xfrm>
          <a:prstGeom prst="rect">
            <a:avLst/>
          </a:prstGeom>
          <a:noFill/>
          <a:ln/>
        </p:spPr>
        <p:txBody>
          <a:bodyPr wrap="square" lIns="0" tIns="0" rIns="0" bIns="0" rtlCol="0" anchor="ctr"/>
          <a:lstStyle/>
          <a:p>
            <a:pPr algn="ctr" indent="0" marL="0">
              <a:buNone/>
            </a:pPr>
            <a:r>
              <a:rPr lang="en-US" sz="1100" b="1" dirty="0">
                <a:solidFill>
                  <a:srgbClr val="990000"/>
                </a:solidFill>
                <a:latin typeface="Arial" pitchFamily="34" charset="0"/>
                <a:ea typeface="Arial" pitchFamily="34" charset="-122"/>
                <a:cs typeface="Arial" pitchFamily="34" charset="-120"/>
              </a:rPr>
              <a:t>CT</a:t>
            </a:r>
            <a:endParaRPr lang="en-US" sz="1400" dirty="0"/>
          </a:p>
          <a:p>
            <a:pPr algn="ctr" indent="0" marL="0">
              <a:buNone/>
            </a:pPr>
            <a:r>
              <a:rPr lang="en-US" sz="900" dirty="0">
                <a:solidFill>
                  <a:srgbClr val="990000"/>
                </a:solidFill>
                <a:latin typeface="Arial" pitchFamily="34" charset="0"/>
                <a:ea typeface="Arial" pitchFamily="34" charset="-122"/>
                <a:cs typeface="Arial" pitchFamily="34" charset="-120"/>
              </a:rPr>
              <a:t>2026</a:t>
            </a:r>
            <a:endParaRPr lang="en-US" sz="1400" dirty="0"/>
          </a:p>
        </p:txBody>
      </p:sp>
      <p:sp>
        <p:nvSpPr>
          <p:cNvPr id="54" name="Shape 52"/>
          <p:cNvSpPr/>
          <p:nvPr/>
        </p:nvSpPr>
        <p:spPr>
          <a:xfrm>
            <a:off x="548640" y="3648456"/>
            <a:ext cx="457200" cy="457200"/>
          </a:xfrm>
          <a:prstGeom prst="rect">
            <a:avLst/>
          </a:prstGeom>
          <a:solidFill>
            <a:srgbClr val="990000"/>
          </a:solidFill>
          <a:ln/>
        </p:spPr>
      </p:sp>
      <p:sp>
        <p:nvSpPr>
          <p:cNvPr id="55" name="Text 53"/>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2023</a:t>
            </a:r>
            <a:endParaRPr lang="en-US" sz="1400" dirty="0"/>
          </a:p>
        </p:txBody>
      </p:sp>
      <p:sp>
        <p:nvSpPr>
          <p:cNvPr id="56" name="Shape 54"/>
          <p:cNvSpPr/>
          <p:nvPr/>
        </p:nvSpPr>
        <p:spPr>
          <a:xfrm>
            <a:off x="1060704" y="3648456"/>
            <a:ext cx="457200" cy="457200"/>
          </a:xfrm>
          <a:prstGeom prst="rect">
            <a:avLst/>
          </a:prstGeom>
          <a:solidFill>
            <a:srgbClr val="EDEBEB"/>
          </a:solidFill>
          <a:ln/>
        </p:spPr>
      </p:sp>
      <p:sp>
        <p:nvSpPr>
          <p:cNvPr id="57" name="Text 55"/>
          <p:cNvSpPr txBox="1"/>
          <p:nvPr/>
        </p:nvSpPr>
        <p:spPr>
          <a:xfrm>
            <a:off x="1060704"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UT</a:t>
            </a:r>
            <a:endParaRPr lang="en-US" sz="1400" dirty="0"/>
          </a:p>
        </p:txBody>
      </p:sp>
      <p:sp>
        <p:nvSpPr>
          <p:cNvPr id="58" name="Shape 56"/>
          <p:cNvSpPr/>
          <p:nvPr/>
        </p:nvSpPr>
        <p:spPr>
          <a:xfrm>
            <a:off x="1572768" y="3648456"/>
            <a:ext cx="457200" cy="457200"/>
          </a:xfrm>
          <a:prstGeom prst="rect">
            <a:avLst/>
          </a:prstGeom>
          <a:solidFill>
            <a:srgbClr val="990000"/>
          </a:solidFill>
          <a:ln/>
        </p:spPr>
      </p:sp>
      <p:sp>
        <p:nvSpPr>
          <p:cNvPr id="59" name="Text 57"/>
          <p:cNvSpPr txBox="1"/>
          <p:nvPr/>
        </p:nvSpPr>
        <p:spPr>
          <a:xfrm>
            <a:off x="1572768" y="36484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2021</a:t>
            </a:r>
            <a:endParaRPr lang="en-US" sz="1400" dirty="0"/>
          </a:p>
        </p:txBody>
      </p:sp>
      <p:sp>
        <p:nvSpPr>
          <p:cNvPr id="60" name="Shape 58"/>
          <p:cNvSpPr/>
          <p:nvPr/>
        </p:nvSpPr>
        <p:spPr>
          <a:xfrm>
            <a:off x="2084832" y="3648456"/>
            <a:ext cx="457200" cy="457200"/>
          </a:xfrm>
          <a:prstGeom prst="rect">
            <a:avLst/>
          </a:prstGeom>
          <a:solidFill>
            <a:srgbClr val="EDEBEB"/>
          </a:solidFill>
          <a:ln/>
        </p:spPr>
      </p:sp>
      <p:sp>
        <p:nvSpPr>
          <p:cNvPr id="61" name="Text 59"/>
          <p:cNvSpPr txBox="1"/>
          <p:nvPr/>
        </p:nvSpPr>
        <p:spPr>
          <a:xfrm>
            <a:off x="2084832"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NE</a:t>
            </a:r>
            <a:endParaRPr lang="en-US" sz="1400" dirty="0"/>
          </a:p>
        </p:txBody>
      </p:sp>
      <p:sp>
        <p:nvSpPr>
          <p:cNvPr id="62" name="Shape 60"/>
          <p:cNvSpPr/>
          <p:nvPr/>
        </p:nvSpPr>
        <p:spPr>
          <a:xfrm>
            <a:off x="2596896" y="3648456"/>
            <a:ext cx="457200" cy="457200"/>
          </a:xfrm>
          <a:prstGeom prst="rect">
            <a:avLst/>
          </a:prstGeom>
          <a:solidFill>
            <a:srgbClr val="EDEBEB"/>
          </a:solidFill>
          <a:ln/>
        </p:spPr>
      </p:sp>
      <p:sp>
        <p:nvSpPr>
          <p:cNvPr id="63" name="Text 61"/>
          <p:cNvSpPr txBox="1"/>
          <p:nvPr/>
        </p:nvSpPr>
        <p:spPr>
          <a:xfrm>
            <a:off x="2596896"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MO</a:t>
            </a:r>
            <a:endParaRPr lang="en-US" sz="1400" dirty="0"/>
          </a:p>
        </p:txBody>
      </p:sp>
      <p:sp>
        <p:nvSpPr>
          <p:cNvPr id="64" name="Shape 62"/>
          <p:cNvSpPr/>
          <p:nvPr/>
        </p:nvSpPr>
        <p:spPr>
          <a:xfrm>
            <a:off x="3108960" y="3648456"/>
            <a:ext cx="457200" cy="457200"/>
          </a:xfrm>
          <a:prstGeom prst="rect">
            <a:avLst/>
          </a:prstGeom>
          <a:solidFill>
            <a:srgbClr val="EDEBEB"/>
          </a:solidFill>
          <a:ln/>
        </p:spPr>
      </p:sp>
      <p:sp>
        <p:nvSpPr>
          <p:cNvPr id="65" name="Text 63"/>
          <p:cNvSpPr txBox="1"/>
          <p:nvPr/>
        </p:nvSpPr>
        <p:spPr>
          <a:xfrm>
            <a:off x="3108960"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KY</a:t>
            </a:r>
            <a:endParaRPr lang="en-US" sz="1400" dirty="0"/>
          </a:p>
        </p:txBody>
      </p:sp>
      <p:sp>
        <p:nvSpPr>
          <p:cNvPr id="66" name="Shape 64"/>
          <p:cNvSpPr/>
          <p:nvPr/>
        </p:nvSpPr>
        <p:spPr>
          <a:xfrm>
            <a:off x="3621024" y="3648456"/>
            <a:ext cx="457200" cy="457200"/>
          </a:xfrm>
          <a:prstGeom prst="rect">
            <a:avLst/>
          </a:prstGeom>
          <a:solidFill>
            <a:srgbClr val="EDEBEB"/>
          </a:solidFill>
          <a:ln/>
        </p:spPr>
      </p:sp>
      <p:sp>
        <p:nvSpPr>
          <p:cNvPr id="67" name="Text 65"/>
          <p:cNvSpPr txBox="1"/>
          <p:nvPr/>
        </p:nvSpPr>
        <p:spPr>
          <a:xfrm>
            <a:off x="3621024"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WV</a:t>
            </a:r>
            <a:endParaRPr lang="en-US" sz="1400" dirty="0"/>
          </a:p>
        </p:txBody>
      </p:sp>
      <p:sp>
        <p:nvSpPr>
          <p:cNvPr id="68" name="Shape 66"/>
          <p:cNvSpPr/>
          <p:nvPr/>
        </p:nvSpPr>
        <p:spPr>
          <a:xfrm>
            <a:off x="4133088" y="3648456"/>
            <a:ext cx="457200" cy="457200"/>
          </a:xfrm>
          <a:prstGeom prst="rect">
            <a:avLst/>
          </a:prstGeom>
          <a:solidFill>
            <a:srgbClr val="990000"/>
          </a:solidFill>
          <a:ln/>
        </p:spPr>
      </p:sp>
      <p:sp>
        <p:nvSpPr>
          <p:cNvPr id="69" name="Text 67"/>
          <p:cNvSpPr txBox="1"/>
          <p:nvPr/>
        </p:nvSpPr>
        <p:spPr>
          <a:xfrm>
            <a:off x="4133088" y="36484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VA</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2026</a:t>
            </a:r>
            <a:endParaRPr lang="en-US" sz="1400" dirty="0"/>
          </a:p>
        </p:txBody>
      </p:sp>
      <p:sp>
        <p:nvSpPr>
          <p:cNvPr id="70" name="Shape 68"/>
          <p:cNvSpPr/>
          <p:nvPr/>
        </p:nvSpPr>
        <p:spPr>
          <a:xfrm>
            <a:off x="4645152" y="3648456"/>
            <a:ext cx="457200" cy="457200"/>
          </a:xfrm>
          <a:prstGeom prst="rect">
            <a:avLst/>
          </a:prstGeom>
          <a:solidFill>
            <a:srgbClr val="990000"/>
          </a:solidFill>
          <a:ln/>
        </p:spPr>
      </p:sp>
      <p:sp>
        <p:nvSpPr>
          <p:cNvPr id="71" name="Text 69"/>
          <p:cNvSpPr txBox="1"/>
          <p:nvPr/>
        </p:nvSpPr>
        <p:spPr>
          <a:xfrm>
            <a:off x="4645152" y="36484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MD</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2024</a:t>
            </a:r>
            <a:endParaRPr lang="en-US" sz="1400" dirty="0"/>
          </a:p>
        </p:txBody>
      </p:sp>
      <p:sp>
        <p:nvSpPr>
          <p:cNvPr id="72" name="Shape 70"/>
          <p:cNvSpPr/>
          <p:nvPr/>
        </p:nvSpPr>
        <p:spPr>
          <a:xfrm>
            <a:off x="5157216" y="3648456"/>
            <a:ext cx="457200" cy="457200"/>
          </a:xfrm>
          <a:prstGeom prst="rect">
            <a:avLst/>
          </a:prstGeom>
          <a:solidFill>
            <a:srgbClr val="EDEBEB"/>
          </a:solidFill>
          <a:ln/>
        </p:spPr>
      </p:sp>
      <p:sp>
        <p:nvSpPr>
          <p:cNvPr id="73" name="Text 71"/>
          <p:cNvSpPr txBox="1"/>
          <p:nvPr/>
        </p:nvSpPr>
        <p:spPr>
          <a:xfrm>
            <a:off x="5157216"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DE</a:t>
            </a:r>
            <a:endParaRPr lang="en-US" sz="1400" dirty="0"/>
          </a:p>
        </p:txBody>
      </p:sp>
      <p:sp>
        <p:nvSpPr>
          <p:cNvPr id="74" name="Shape 72"/>
          <p:cNvSpPr/>
          <p:nvPr/>
        </p:nvSpPr>
        <p:spPr>
          <a:xfrm>
            <a:off x="1060704" y="4160520"/>
            <a:ext cx="457200" cy="457200"/>
          </a:xfrm>
          <a:prstGeom prst="rect">
            <a:avLst/>
          </a:prstGeom>
          <a:solidFill>
            <a:srgbClr val="EDEBEB"/>
          </a:solidFill>
          <a:ln/>
        </p:spPr>
      </p:sp>
      <p:sp>
        <p:nvSpPr>
          <p:cNvPr id="75" name="Text 73"/>
          <p:cNvSpPr txBox="1"/>
          <p:nvPr/>
        </p:nvSpPr>
        <p:spPr>
          <a:xfrm>
            <a:off x="1060704"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AZ</a:t>
            </a:r>
            <a:endParaRPr lang="en-US" sz="1400" dirty="0"/>
          </a:p>
        </p:txBody>
      </p:sp>
      <p:sp>
        <p:nvSpPr>
          <p:cNvPr id="76" name="Shape 74"/>
          <p:cNvSpPr/>
          <p:nvPr/>
        </p:nvSpPr>
        <p:spPr>
          <a:xfrm>
            <a:off x="1572768" y="4160520"/>
            <a:ext cx="457200" cy="457200"/>
          </a:xfrm>
          <a:prstGeom prst="rect">
            <a:avLst/>
          </a:prstGeom>
          <a:solidFill>
            <a:srgbClr val="EDEBEB"/>
          </a:solidFill>
          <a:ln/>
        </p:spPr>
      </p:sp>
      <p:sp>
        <p:nvSpPr>
          <p:cNvPr id="77" name="Text 75"/>
          <p:cNvSpPr txBox="1"/>
          <p:nvPr/>
        </p:nvSpPr>
        <p:spPr>
          <a:xfrm>
            <a:off x="1572768"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NM</a:t>
            </a:r>
            <a:endParaRPr lang="en-US" sz="1400" dirty="0"/>
          </a:p>
        </p:txBody>
      </p:sp>
      <p:sp>
        <p:nvSpPr>
          <p:cNvPr id="78" name="Shape 76"/>
          <p:cNvSpPr/>
          <p:nvPr/>
        </p:nvSpPr>
        <p:spPr>
          <a:xfrm>
            <a:off x="2084832" y="4160520"/>
            <a:ext cx="457200" cy="457200"/>
          </a:xfrm>
          <a:prstGeom prst="rect">
            <a:avLst/>
          </a:prstGeom>
          <a:solidFill>
            <a:srgbClr val="EDEBEB"/>
          </a:solidFill>
          <a:ln/>
        </p:spPr>
      </p:sp>
      <p:sp>
        <p:nvSpPr>
          <p:cNvPr id="79" name="Text 77"/>
          <p:cNvSpPr txBox="1"/>
          <p:nvPr/>
        </p:nvSpPr>
        <p:spPr>
          <a:xfrm>
            <a:off x="2084832"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KS</a:t>
            </a:r>
            <a:endParaRPr lang="en-US" sz="1400" dirty="0"/>
          </a:p>
        </p:txBody>
      </p:sp>
      <p:sp>
        <p:nvSpPr>
          <p:cNvPr id="80" name="Shape 78"/>
          <p:cNvSpPr/>
          <p:nvPr/>
        </p:nvSpPr>
        <p:spPr>
          <a:xfrm>
            <a:off x="2596896" y="4160520"/>
            <a:ext cx="457200" cy="457200"/>
          </a:xfrm>
          <a:prstGeom prst="rect">
            <a:avLst/>
          </a:prstGeom>
          <a:solidFill>
            <a:srgbClr val="EDEBEB"/>
          </a:solidFill>
          <a:ln/>
        </p:spPr>
      </p:sp>
      <p:sp>
        <p:nvSpPr>
          <p:cNvPr id="81" name="Text 79"/>
          <p:cNvSpPr txBox="1"/>
          <p:nvPr/>
        </p:nvSpPr>
        <p:spPr>
          <a:xfrm>
            <a:off x="2596896"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AR</a:t>
            </a:r>
            <a:endParaRPr lang="en-US" sz="1400" dirty="0"/>
          </a:p>
        </p:txBody>
      </p:sp>
      <p:sp>
        <p:nvSpPr>
          <p:cNvPr id="82" name="Shape 80"/>
          <p:cNvSpPr/>
          <p:nvPr/>
        </p:nvSpPr>
        <p:spPr>
          <a:xfrm>
            <a:off x="3108960" y="4160520"/>
            <a:ext cx="457200" cy="457200"/>
          </a:xfrm>
          <a:prstGeom prst="rect">
            <a:avLst/>
          </a:prstGeom>
          <a:solidFill>
            <a:srgbClr val="EDEBEB"/>
          </a:solidFill>
          <a:ln/>
        </p:spPr>
      </p:sp>
      <p:sp>
        <p:nvSpPr>
          <p:cNvPr id="83" name="Text 81"/>
          <p:cNvSpPr txBox="1"/>
          <p:nvPr/>
        </p:nvSpPr>
        <p:spPr>
          <a:xfrm>
            <a:off x="3108960"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TN</a:t>
            </a:r>
            <a:endParaRPr lang="en-US" sz="1400" dirty="0"/>
          </a:p>
        </p:txBody>
      </p:sp>
      <p:sp>
        <p:nvSpPr>
          <p:cNvPr id="84" name="Shape 82"/>
          <p:cNvSpPr/>
          <p:nvPr/>
        </p:nvSpPr>
        <p:spPr>
          <a:xfrm>
            <a:off x="3621024" y="4160520"/>
            <a:ext cx="457200" cy="457200"/>
          </a:xfrm>
          <a:prstGeom prst="rect">
            <a:avLst/>
          </a:prstGeom>
          <a:solidFill>
            <a:srgbClr val="EDEBEB"/>
          </a:solidFill>
          <a:ln/>
        </p:spPr>
      </p:sp>
      <p:sp>
        <p:nvSpPr>
          <p:cNvPr id="85" name="Text 83"/>
          <p:cNvSpPr txBox="1"/>
          <p:nvPr/>
        </p:nvSpPr>
        <p:spPr>
          <a:xfrm>
            <a:off x="3621024"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NC</a:t>
            </a:r>
            <a:endParaRPr lang="en-US" sz="1400" dirty="0"/>
          </a:p>
        </p:txBody>
      </p:sp>
      <p:sp>
        <p:nvSpPr>
          <p:cNvPr id="86" name="Shape 84"/>
          <p:cNvSpPr/>
          <p:nvPr/>
        </p:nvSpPr>
        <p:spPr>
          <a:xfrm>
            <a:off x="4133088" y="4160520"/>
            <a:ext cx="457200" cy="457200"/>
          </a:xfrm>
          <a:prstGeom prst="rect">
            <a:avLst/>
          </a:prstGeom>
          <a:solidFill>
            <a:srgbClr val="EDEBEB"/>
          </a:solidFill>
          <a:ln/>
        </p:spPr>
      </p:sp>
      <p:sp>
        <p:nvSpPr>
          <p:cNvPr id="87" name="Text 85"/>
          <p:cNvSpPr txBox="1"/>
          <p:nvPr/>
        </p:nvSpPr>
        <p:spPr>
          <a:xfrm>
            <a:off x="4133088"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SC</a:t>
            </a:r>
            <a:endParaRPr lang="en-US" sz="1400" dirty="0"/>
          </a:p>
        </p:txBody>
      </p:sp>
      <p:sp>
        <p:nvSpPr>
          <p:cNvPr id="88" name="Shape 86"/>
          <p:cNvSpPr/>
          <p:nvPr/>
        </p:nvSpPr>
        <p:spPr>
          <a:xfrm>
            <a:off x="4645152" y="4160520"/>
            <a:ext cx="457200" cy="457200"/>
          </a:xfrm>
          <a:prstGeom prst="rect">
            <a:avLst/>
          </a:prstGeom>
          <a:solidFill>
            <a:srgbClr val="990000"/>
          </a:solidFill>
          <a:ln/>
        </p:spPr>
      </p:sp>
      <p:sp>
        <p:nvSpPr>
          <p:cNvPr id="89" name="Text 87"/>
          <p:cNvSpPr txBox="1"/>
          <p:nvPr/>
        </p:nvSpPr>
        <p:spPr>
          <a:xfrm>
            <a:off x="4645152" y="416052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DC</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2024</a:t>
            </a:r>
            <a:endParaRPr lang="en-US" sz="1400" dirty="0"/>
          </a:p>
        </p:txBody>
      </p:sp>
      <p:sp>
        <p:nvSpPr>
          <p:cNvPr id="90" name="Shape 88"/>
          <p:cNvSpPr/>
          <p:nvPr/>
        </p:nvSpPr>
        <p:spPr>
          <a:xfrm>
            <a:off x="2084832" y="4672584"/>
            <a:ext cx="457200" cy="457200"/>
          </a:xfrm>
          <a:prstGeom prst="rect">
            <a:avLst/>
          </a:prstGeom>
          <a:solidFill>
            <a:srgbClr val="EDEBEB"/>
          </a:solidFill>
          <a:ln/>
        </p:spPr>
      </p:sp>
      <p:sp>
        <p:nvSpPr>
          <p:cNvPr id="91" name="Text 89"/>
          <p:cNvSpPr txBox="1"/>
          <p:nvPr/>
        </p:nvSpPr>
        <p:spPr>
          <a:xfrm>
            <a:off x="2084832"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OK</a:t>
            </a:r>
            <a:endParaRPr lang="en-US" sz="1400" dirty="0"/>
          </a:p>
        </p:txBody>
      </p:sp>
      <p:sp>
        <p:nvSpPr>
          <p:cNvPr id="92" name="Shape 90"/>
          <p:cNvSpPr/>
          <p:nvPr/>
        </p:nvSpPr>
        <p:spPr>
          <a:xfrm>
            <a:off x="2596896" y="4672584"/>
            <a:ext cx="457200" cy="457200"/>
          </a:xfrm>
          <a:prstGeom prst="rect">
            <a:avLst/>
          </a:prstGeom>
          <a:solidFill>
            <a:srgbClr val="EDEBEB"/>
          </a:solidFill>
          <a:ln/>
        </p:spPr>
      </p:sp>
      <p:sp>
        <p:nvSpPr>
          <p:cNvPr id="93" name="Text 91"/>
          <p:cNvSpPr txBox="1"/>
          <p:nvPr/>
        </p:nvSpPr>
        <p:spPr>
          <a:xfrm>
            <a:off x="2596896"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LA</a:t>
            </a:r>
            <a:endParaRPr lang="en-US" sz="1400" dirty="0"/>
          </a:p>
        </p:txBody>
      </p:sp>
      <p:sp>
        <p:nvSpPr>
          <p:cNvPr id="94" name="Shape 92"/>
          <p:cNvSpPr/>
          <p:nvPr/>
        </p:nvSpPr>
        <p:spPr>
          <a:xfrm>
            <a:off x="3108960" y="4672584"/>
            <a:ext cx="457200" cy="457200"/>
          </a:xfrm>
          <a:prstGeom prst="rect">
            <a:avLst/>
          </a:prstGeom>
          <a:solidFill>
            <a:srgbClr val="EDEBEB"/>
          </a:solidFill>
          <a:ln/>
        </p:spPr>
      </p:sp>
      <p:sp>
        <p:nvSpPr>
          <p:cNvPr id="95" name="Text 93"/>
          <p:cNvSpPr txBox="1"/>
          <p:nvPr/>
        </p:nvSpPr>
        <p:spPr>
          <a:xfrm>
            <a:off x="3108960"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MS</a:t>
            </a:r>
            <a:endParaRPr lang="en-US" sz="1400" dirty="0"/>
          </a:p>
        </p:txBody>
      </p:sp>
      <p:sp>
        <p:nvSpPr>
          <p:cNvPr id="96" name="Shape 94"/>
          <p:cNvSpPr/>
          <p:nvPr/>
        </p:nvSpPr>
        <p:spPr>
          <a:xfrm>
            <a:off x="3621024" y="4672584"/>
            <a:ext cx="457200" cy="457200"/>
          </a:xfrm>
          <a:prstGeom prst="rect">
            <a:avLst/>
          </a:prstGeom>
          <a:solidFill>
            <a:srgbClr val="EDEBEB"/>
          </a:solidFill>
          <a:ln/>
        </p:spPr>
      </p:sp>
      <p:sp>
        <p:nvSpPr>
          <p:cNvPr id="97" name="Text 95"/>
          <p:cNvSpPr txBox="1"/>
          <p:nvPr/>
        </p:nvSpPr>
        <p:spPr>
          <a:xfrm>
            <a:off x="3621024"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AL</a:t>
            </a:r>
            <a:endParaRPr lang="en-US" sz="1400" dirty="0"/>
          </a:p>
        </p:txBody>
      </p:sp>
      <p:sp>
        <p:nvSpPr>
          <p:cNvPr id="98" name="Shape 96"/>
          <p:cNvSpPr/>
          <p:nvPr/>
        </p:nvSpPr>
        <p:spPr>
          <a:xfrm>
            <a:off x="4133088" y="4672584"/>
            <a:ext cx="457200" cy="457200"/>
          </a:xfrm>
          <a:prstGeom prst="rect">
            <a:avLst/>
          </a:prstGeom>
          <a:solidFill>
            <a:srgbClr val="EDEBEB"/>
          </a:solidFill>
          <a:ln/>
        </p:spPr>
      </p:sp>
      <p:sp>
        <p:nvSpPr>
          <p:cNvPr id="99" name="Text 97"/>
          <p:cNvSpPr txBox="1"/>
          <p:nvPr/>
        </p:nvSpPr>
        <p:spPr>
          <a:xfrm>
            <a:off x="4133088"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GA</a:t>
            </a:r>
            <a:endParaRPr lang="en-US" sz="1400" dirty="0"/>
          </a:p>
        </p:txBody>
      </p:sp>
      <p:sp>
        <p:nvSpPr>
          <p:cNvPr id="100" name="Shape 98"/>
          <p:cNvSpPr/>
          <p:nvPr/>
        </p:nvSpPr>
        <p:spPr>
          <a:xfrm>
            <a:off x="548640" y="5184648"/>
            <a:ext cx="457200" cy="457200"/>
          </a:xfrm>
          <a:prstGeom prst="rect">
            <a:avLst/>
          </a:prstGeom>
          <a:solidFill>
            <a:srgbClr val="990000"/>
          </a:solidFill>
          <a:ln/>
        </p:spPr>
      </p:sp>
      <p:sp>
        <p:nvSpPr>
          <p:cNvPr id="101" name="Text 99"/>
          <p:cNvSpPr txBox="1"/>
          <p:nvPr/>
        </p:nvSpPr>
        <p:spPr>
          <a:xfrm>
            <a:off x="548640" y="518464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HI</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2024</a:t>
            </a:r>
            <a:endParaRPr lang="en-US" sz="1400" dirty="0"/>
          </a:p>
        </p:txBody>
      </p:sp>
      <p:sp>
        <p:nvSpPr>
          <p:cNvPr id="102" name="Shape 100"/>
          <p:cNvSpPr/>
          <p:nvPr/>
        </p:nvSpPr>
        <p:spPr>
          <a:xfrm>
            <a:off x="2084832" y="5184648"/>
            <a:ext cx="457200" cy="457200"/>
          </a:xfrm>
          <a:prstGeom prst="rect">
            <a:avLst/>
          </a:prstGeom>
          <a:solidFill>
            <a:srgbClr val="EDEBEB"/>
          </a:solidFill>
          <a:ln/>
        </p:spPr>
      </p:sp>
      <p:sp>
        <p:nvSpPr>
          <p:cNvPr id="103" name="Text 101"/>
          <p:cNvSpPr txBox="1"/>
          <p:nvPr/>
        </p:nvSpPr>
        <p:spPr>
          <a:xfrm>
            <a:off x="2084832" y="518464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TX</a:t>
            </a:r>
            <a:endParaRPr lang="en-US" sz="1400" dirty="0"/>
          </a:p>
        </p:txBody>
      </p:sp>
      <p:sp>
        <p:nvSpPr>
          <p:cNvPr id="104" name="Shape 102"/>
          <p:cNvSpPr/>
          <p:nvPr/>
        </p:nvSpPr>
        <p:spPr>
          <a:xfrm>
            <a:off x="4645152" y="5184648"/>
            <a:ext cx="457200" cy="457200"/>
          </a:xfrm>
          <a:prstGeom prst="rect">
            <a:avLst/>
          </a:prstGeom>
          <a:solidFill>
            <a:srgbClr val="EDEBEB"/>
          </a:solidFill>
          <a:ln/>
        </p:spPr>
      </p:sp>
      <p:sp>
        <p:nvSpPr>
          <p:cNvPr id="105" name="Text 103"/>
          <p:cNvSpPr txBox="1"/>
          <p:nvPr/>
        </p:nvSpPr>
        <p:spPr>
          <a:xfrm>
            <a:off x="4645152" y="518464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FL</a:t>
            </a:r>
            <a:endParaRPr lang="en-US" sz="1400" dirty="0"/>
          </a:p>
        </p:txBody>
      </p:sp>
      <p:sp>
        <p:nvSpPr>
          <p:cNvPr id="106" name="Shape 104"/>
          <p:cNvSpPr/>
          <p:nvPr/>
        </p:nvSpPr>
        <p:spPr>
          <a:xfrm>
            <a:off x="548640" y="5806440"/>
            <a:ext cx="201168" cy="201168"/>
          </a:xfrm>
          <a:prstGeom prst="rect">
            <a:avLst/>
          </a:prstGeom>
          <a:solidFill>
            <a:srgbClr val="990000"/>
          </a:solidFill>
          <a:ln/>
        </p:spPr>
      </p:sp>
      <p:sp>
        <p:nvSpPr>
          <p:cNvPr id="107" name="Text 105"/>
          <p:cNvSpPr txBox="1"/>
          <p:nvPr/>
        </p:nvSpPr>
        <p:spPr>
          <a:xfrm>
            <a:off x="841248" y="5788152"/>
            <a:ext cx="365760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Posting mandate in force (year it took effect)</a:t>
            </a:r>
            <a:endParaRPr lang="en-US" sz="1100" dirty="0"/>
          </a:p>
        </p:txBody>
      </p:sp>
      <p:sp>
        <p:nvSpPr>
          <p:cNvPr id="108" name="Shape 106"/>
          <p:cNvSpPr/>
          <p:nvPr/>
        </p:nvSpPr>
        <p:spPr>
          <a:xfrm>
            <a:off x="548640" y="6099048"/>
            <a:ext cx="201168" cy="201168"/>
          </a:xfrm>
          <a:prstGeom prst="rect">
            <a:avLst/>
          </a:prstGeom>
          <a:solidFill>
            <a:srgbClr val="FFFFFF"/>
          </a:solidFill>
          <a:ln w="15875">
            <a:solidFill>
              <a:srgbClr val="990000"/>
            </a:solidFill>
            <a:prstDash val="dash"/>
          </a:ln>
        </p:spPr>
      </p:sp>
      <p:sp>
        <p:nvSpPr>
          <p:cNvPr id="109" name="Text 107"/>
          <p:cNvSpPr txBox="1"/>
          <p:nvPr/>
        </p:nvSpPr>
        <p:spPr>
          <a:xfrm>
            <a:off x="841248" y="6080760"/>
            <a:ext cx="502920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Takes effect after the window (CT, 2026-10-01)</a:t>
            </a:r>
            <a:endParaRPr lang="en-US" sz="1100" dirty="0"/>
          </a:p>
        </p:txBody>
      </p:sp>
      <p:sp>
        <p:nvSpPr>
          <p:cNvPr id="110" name="Shape 108"/>
          <p:cNvSpPr/>
          <p:nvPr/>
        </p:nvSpPr>
        <p:spPr>
          <a:xfrm>
            <a:off x="6720840" y="1600200"/>
            <a:ext cx="420624" cy="420624"/>
          </a:xfrm>
          <a:prstGeom prst="ellipse">
            <a:avLst/>
          </a:prstGeom>
          <a:solidFill>
            <a:srgbClr val="990000"/>
          </a:solidFill>
          <a:ln/>
        </p:spPr>
      </p:sp>
      <p:sp>
        <p:nvSpPr>
          <p:cNvPr id="111" name="Text 109"/>
          <p:cNvSpPr txBox="1"/>
          <p:nvPr/>
        </p:nvSpPr>
        <p:spPr>
          <a:xfrm>
            <a:off x="6720840" y="16002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2" name="Text 110"/>
          <p:cNvSpPr txBox="1"/>
          <p:nvPr/>
        </p:nvSpPr>
        <p:spPr>
          <a:xfrm>
            <a:off x="7315200" y="1600200"/>
            <a:ext cx="4327855" cy="365760"/>
          </a:xfrm>
          <a:prstGeom prst="rect">
            <a:avLst/>
          </a:prstGeom>
          <a:noFill/>
          <a:ln/>
        </p:spPr>
        <p:txBody>
          <a:bodyPr wrap="square" lIns="0" tIns="0" rIns="0" bIns="0" rtlCol="0" anchor="ctr"/>
          <a:lstStyle/>
          <a:p>
            <a:pPr indent="0" marL="0">
              <a:buNone/>
            </a:pPr>
            <a:r>
              <a:rPr lang="en-US" sz="1600" b="1" dirty="0">
                <a:solidFill>
                  <a:srgbClr val="243142"/>
                </a:solidFill>
                <a:latin typeface="Arial" pitchFamily="34" charset="0"/>
                <a:ea typeface="Arial" pitchFamily="34" charset="-122"/>
                <a:cs typeface="Arial" pitchFamily="34" charset="-120"/>
              </a:rPr>
              <a:t>Coded by date</a:t>
            </a:r>
            <a:endParaRPr lang="en-US" sz="1600" dirty="0"/>
          </a:p>
        </p:txBody>
      </p:sp>
      <p:sp>
        <p:nvSpPr>
          <p:cNvPr id="113" name="Text 111"/>
          <p:cNvSpPr txBox="1"/>
          <p:nvPr/>
        </p:nvSpPr>
        <p:spPr>
          <a:xfrm>
            <a:off x="7315200" y="1984248"/>
            <a:ext cx="4327855" cy="7772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Each posting is coded against the laws in force on the day it was seen; CT's rule starts 2026-10-01, after the window.</a:t>
            </a:r>
            <a:endParaRPr lang="en-US" sz="1300" dirty="0"/>
          </a:p>
        </p:txBody>
      </p:sp>
      <p:sp>
        <p:nvSpPr>
          <p:cNvPr id="114" name="Shape 112"/>
          <p:cNvSpPr/>
          <p:nvPr/>
        </p:nvSpPr>
        <p:spPr>
          <a:xfrm>
            <a:off x="6720840" y="2788920"/>
            <a:ext cx="420624" cy="420624"/>
          </a:xfrm>
          <a:prstGeom prst="ellipse">
            <a:avLst/>
          </a:prstGeom>
          <a:solidFill>
            <a:srgbClr val="990000"/>
          </a:solidFill>
          <a:ln/>
        </p:spPr>
      </p:sp>
      <p:sp>
        <p:nvSpPr>
          <p:cNvPr id="115" name="Text 113"/>
          <p:cNvSpPr txBox="1"/>
          <p:nvPr/>
        </p:nvSpPr>
        <p:spPr>
          <a:xfrm>
            <a:off x="6720840" y="27889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6" name="Text 114"/>
          <p:cNvSpPr txBox="1"/>
          <p:nvPr/>
        </p:nvSpPr>
        <p:spPr>
          <a:xfrm>
            <a:off x="7315200" y="2788920"/>
            <a:ext cx="4327855" cy="365760"/>
          </a:xfrm>
          <a:prstGeom prst="rect">
            <a:avLst/>
          </a:prstGeom>
          <a:noFill/>
          <a:ln/>
        </p:spPr>
        <p:txBody>
          <a:bodyPr wrap="square" lIns="0" tIns="0" rIns="0" bIns="0" rtlCol="0" anchor="ctr"/>
          <a:lstStyle/>
          <a:p>
            <a:pPr indent="0" marL="0">
              <a:buNone/>
            </a:pPr>
            <a:r>
              <a:rPr lang="en-US" sz="1600" b="1" dirty="0">
                <a:solidFill>
                  <a:srgbClr val="243142"/>
                </a:solidFill>
                <a:latin typeface="Arial" pitchFamily="34" charset="0"/>
                <a:ea typeface="Arial" pitchFamily="34" charset="-122"/>
                <a:cs typeface="Arial" pitchFamily="34" charset="-120"/>
              </a:rPr>
              <a:t>Coverage follows the job</a:t>
            </a:r>
            <a:endParaRPr lang="en-US" sz="1600" dirty="0"/>
          </a:p>
        </p:txBody>
      </p:sp>
      <p:sp>
        <p:nvSpPr>
          <p:cNvPr id="117" name="Text 115"/>
          <p:cNvSpPr txBox="1"/>
          <p:nvPr/>
        </p:nvSpPr>
        <p:spPr>
          <a:xfrm>
            <a:off x="7315200" y="3172968"/>
            <a:ext cx="4327855" cy="7772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A posting is covered if any listed work location is in a mandate state (14% list more than one).</a:t>
            </a:r>
            <a:endParaRPr lang="en-US" sz="1300" dirty="0"/>
          </a:p>
        </p:txBody>
      </p:sp>
      <p:sp>
        <p:nvSpPr>
          <p:cNvPr id="118" name="Shape 116"/>
          <p:cNvSpPr/>
          <p:nvPr/>
        </p:nvSpPr>
        <p:spPr>
          <a:xfrm>
            <a:off x="6720840" y="3977640"/>
            <a:ext cx="420624" cy="420624"/>
          </a:xfrm>
          <a:prstGeom prst="ellipse">
            <a:avLst/>
          </a:prstGeom>
          <a:solidFill>
            <a:srgbClr val="990000"/>
          </a:solidFill>
          <a:ln/>
        </p:spPr>
      </p:sp>
      <p:sp>
        <p:nvSpPr>
          <p:cNvPr id="119" name="Text 117"/>
          <p:cNvSpPr txBox="1"/>
          <p:nvPr/>
        </p:nvSpPr>
        <p:spPr>
          <a:xfrm>
            <a:off x="6720840" y="39776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0" name="Text 118"/>
          <p:cNvSpPr txBox="1"/>
          <p:nvPr/>
        </p:nvSpPr>
        <p:spPr>
          <a:xfrm>
            <a:off x="7315200" y="3977640"/>
            <a:ext cx="4327855" cy="365760"/>
          </a:xfrm>
          <a:prstGeom prst="rect">
            <a:avLst/>
          </a:prstGeom>
          <a:noFill/>
          <a:ln/>
        </p:spPr>
        <p:txBody>
          <a:bodyPr wrap="square" lIns="0" tIns="0" rIns="0" bIns="0" rtlCol="0" anchor="ctr"/>
          <a:lstStyle/>
          <a:p>
            <a:pPr indent="0" marL="0">
              <a:buNone/>
            </a:pPr>
            <a:r>
              <a:rPr lang="en-US" sz="1600" b="1" dirty="0">
                <a:solidFill>
                  <a:srgbClr val="243142"/>
                </a:solidFill>
                <a:latin typeface="Arial" pitchFamily="34" charset="0"/>
                <a:ea typeface="Arial" pitchFamily="34" charset="-122"/>
                <a:cs typeface="Arial" pitchFamily="34" charset="-120"/>
              </a:rPr>
              <a:t>Elsewhere, disclosure is a choice</a:t>
            </a:r>
            <a:endParaRPr lang="en-US" sz="1600" dirty="0"/>
          </a:p>
        </p:txBody>
      </p:sp>
      <p:sp>
        <p:nvSpPr>
          <p:cNvPr id="121" name="Text 119"/>
          <p:cNvSpPr txBox="1"/>
          <p:nvPr/>
        </p:nvSpPr>
        <p:spPr>
          <a:xfrm>
            <a:off x="7315200" y="4361688"/>
            <a:ext cx="4327855" cy="7772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Without a law, stating pay is voluntary, so postings that state pay are a selected group.</a:t>
            </a:r>
            <a:endParaRPr lang="en-US" sz="1300" dirty="0"/>
          </a:p>
        </p:txBody>
      </p:sp>
      <p:sp>
        <p:nvSpPr>
          <p:cNvPr id="122" name="Shape 120"/>
          <p:cNvSpPr/>
          <p:nvPr/>
        </p:nvSpPr>
        <p:spPr>
          <a:xfrm>
            <a:off x="6720840" y="5349240"/>
            <a:ext cx="4922215" cy="566928"/>
          </a:xfrm>
          <a:prstGeom prst="rect">
            <a:avLst/>
          </a:prstGeom>
          <a:solidFill>
            <a:srgbClr val="F6E3E3"/>
          </a:solidFill>
          <a:ln/>
        </p:spPr>
      </p:sp>
      <p:sp>
        <p:nvSpPr>
          <p:cNvPr id="123" name="Text 121"/>
          <p:cNvSpPr txBox="1"/>
          <p:nvPr/>
        </p:nvSpPr>
        <p:spPr>
          <a:xfrm>
            <a:off x="6903720" y="5349240"/>
            <a:ext cx="4556455" cy="566928"/>
          </a:xfrm>
          <a:prstGeom prst="rect">
            <a:avLst/>
          </a:prstGeom>
          <a:noFill/>
          <a:ln/>
        </p:spPr>
        <p:txBody>
          <a:bodyPr wrap="square" lIns="0" tIns="0" rIns="0" bIns="0" rtlCol="0" anchor="ctr"/>
          <a:lstStyle/>
          <a:p>
            <a:pPr indent="0" marL="0">
              <a:buNone/>
            </a:pPr>
            <a:r>
              <a:rPr lang="en-US" sz="1300" b="1" dirty="0">
                <a:solidFill>
                  <a:srgbClr val="6B0000"/>
                </a:solidFill>
                <a:latin typeface="Arial" pitchFamily="34" charset="0"/>
                <a:ea typeface="Arial" pitchFamily="34" charset="-122"/>
                <a:cs typeface="Arial" pitchFamily="34" charset="-120"/>
              </a:rPr>
              <a:t>The question for the data: does disclosure differ where the law requires it?</a:t>
            </a:r>
            <a:endParaRPr lang="en-US" sz="13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DATA · WHAT IS IN SCOPE</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The sample: analytical roles in energy, utilities and data centers</a:t>
            </a:r>
            <a:endParaRPr lang="en-US" sz="2600" dirty="0"/>
          </a:p>
        </p:txBody>
      </p:sp>
      <p:graphicFrame>
        <p:nvGraphicFramePr>
          <p:cNvPr id="4" name="Chart 0" descr=""/>
          <p:cNvGraphicFramePr/>
          <p:nvPr/>
        </p:nvGraphicFramePr>
        <p:xfrm>
          <a:off x="548640" y="1508760"/>
          <a:ext cx="5364328"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78728" y="1508760"/>
          <a:ext cx="5364328" cy="33375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029200"/>
            <a:ext cx="11094415" cy="868680"/>
          </a:xfrm>
          <a:prstGeom prst="rect">
            <a:avLst/>
          </a:prstGeom>
          <a:solidFill>
            <a:srgbClr val="EDEBEB"/>
          </a:solidFill>
          <a:ln/>
        </p:spPr>
      </p:sp>
      <p:sp>
        <p:nvSpPr>
          <p:cNvPr id="7" name="Text 3"/>
          <p:cNvSpPr txBox="1"/>
          <p:nvPr/>
        </p:nvSpPr>
        <p:spPr>
          <a:xfrm>
            <a:off x="777240" y="5029200"/>
            <a:ext cx="10637215" cy="868680"/>
          </a:xfrm>
          <a:prstGeom prst="rect">
            <a:avLst/>
          </a:prstGeom>
          <a:noFill/>
          <a:ln/>
        </p:spPr>
        <p:txBody>
          <a:bodyPr wrap="square" lIns="0" tIns="0" rIns="0" bIns="0" rtlCol="0" anchor="ctr"/>
          <a:lstStyle/>
          <a:p>
            <a:pPr indent="0" marL="0">
              <a:buNone/>
            </a:pPr>
            <a:r>
              <a:rPr lang="en-US" sz="1300" b="1" dirty="0">
                <a:solidFill>
                  <a:srgbClr val="6B0000"/>
                </a:solidFill>
                <a:latin typeface="Arial" pitchFamily="34" charset="0"/>
                <a:ea typeface="Arial" pitchFamily="34" charset="-122"/>
                <a:cs typeface="Arial" pitchFamily="34" charset="-120"/>
              </a:rPr>
              <a:t>Benchmarked to the author's résumé.  </a:t>
            </a:r>
            <a:pPr indent="0" marL="0">
              <a:buNone/>
            </a:pPr>
            <a:r>
              <a:rPr lang="en-US" sz="1300" dirty="0">
                <a:solidFill>
                  <a:srgbClr val="243142"/>
                </a:solidFill>
                <a:latin typeface="Arial" pitchFamily="34" charset="0"/>
                <a:ea typeface="Arial" pitchFamily="34" charset="-122"/>
                <a:cs typeface="Arial" pitchFamily="34" charset="-120"/>
              </a:rPr>
              <a:t>Industries where the author has the most experience and interest; roles the author is, or could become, qualified for. Every seniority level is kept, because seniority is a regressor; internships are excluded (a different contract and pay regime).</a:t>
            </a:r>
            <a:endParaRPr lang="en-US" sz="13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DATA · SOURCES</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Postings come straight from the job boards employers publish to</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949440" cy="914400"/>
        </p:xfrm>
        <a:graphic>
          <a:graphicData uri="http://schemas.openxmlformats.org/drawingml/2006/table">
            <a:tbl>
              <a:tblPr/>
              <a:tblGrid>
                <a:gridCol w="2011680"/>
                <a:gridCol w="1325880"/>
                <a:gridCol w="1234440"/>
                <a:gridCol w="1188720"/>
                <a:gridCol w="1188720"/>
              </a:tblGrid>
              <a:tr h="36576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Employers with postings</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Postings retrieved*</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In scope (unique)</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State pay</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990000"/>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Greenhouse</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67</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5,605</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157</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125</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Workday</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56</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4,591</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389</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286</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Ashby</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4,010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111</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82</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Lever</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2,870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USAJOBS (federal)</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Workable</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130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SmartRecruiters</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68</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AFAFA"/>
                    </a:solidFill>
                  </a:tcPr>
                </a:tc>
              </a:tr>
              <a:tr h="365760">
                <a:tc>
                  <a:txBody>
                    <a:bodyPr/>
                    <a:lstStyle/>
                    <a:p>
                      <a:pPr algn="l" indent="0" marL="0">
                        <a:buNone/>
                      </a:pPr>
                      <a:r>
                        <a:rPr lang="en-US" sz="1200" dirty="0">
                          <a:solidFill>
                            <a:srgbClr val="243142"/>
                          </a:solidFill>
                          <a:latin typeface="Arial" pitchFamily="34" charset="0"/>
                          <a:ea typeface="Arial" pitchFamily="34" charset="-122"/>
                          <a:cs typeface="Arial" pitchFamily="34" charset="-120"/>
                        </a:rPr>
                        <a:t>Recruitee</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00" dirty="0">
                          <a:solidFill>
                            <a:srgbClr val="243142"/>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200" b="1" dirty="0">
                          <a:solidFill>
                            <a:srgbClr val="243142"/>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12700" cap="flat" cmpd="sng" algn="ctr">
                      <a:solidFill>
                        <a:srgbClr val="243142"/>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243142"/>
                          </a:solidFill>
                          <a:latin typeface="Arial" pitchFamily="34" charset="0"/>
                          <a:ea typeface="Arial" pitchFamily="34" charset="-122"/>
                          <a:cs typeface="Arial" pitchFamily="34" charset="-120"/>
                        </a:rPr>
                        <a:t>191</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12700" cap="flat" cmpd="sng" algn="ctr">
                      <a:solidFill>
                        <a:srgbClr val="243142"/>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243142"/>
                          </a:solidFill>
                          <a:latin typeface="Arial" pitchFamily="34" charset="0"/>
                          <a:ea typeface="Arial" pitchFamily="34" charset="-122"/>
                          <a:cs typeface="Arial" pitchFamily="34" charset="-120"/>
                        </a:rPr>
                        <a:t>17,495</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12700" cap="flat" cmpd="sng" algn="ctr">
                      <a:solidFill>
                        <a:srgbClr val="243142"/>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243142"/>
                          </a:solidFill>
                          <a:latin typeface="Arial" pitchFamily="34" charset="0"/>
                          <a:ea typeface="Arial" pitchFamily="34" charset="-122"/>
                          <a:cs typeface="Arial" pitchFamily="34" charset="-120"/>
                        </a:rPr>
                        <a:t>729</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12700" cap="flat" cmpd="sng" algn="ctr">
                      <a:solidFill>
                        <a:srgbClr val="243142"/>
                      </a:solidFill>
                      <a:prstDash val="solid"/>
                      <a:round/>
                      <a:headEnd type="none" w="med" len="med"/>
                      <a:tailEnd type="none" w="med" len="med"/>
                    </a:lnT>
                    <a:lnB w="0" cap="flat" cmpd="sng" algn="ctr">
                      <a:noFill/>
                    </a:lnB>
                  </a:tcPr>
                </a:tc>
                <a:tc>
                  <a:txBody>
                    <a:bodyPr/>
                    <a:lstStyle/>
                    <a:p>
                      <a:pPr algn="r" indent="0" marL="0">
                        <a:buNone/>
                      </a:pPr>
                      <a:r>
                        <a:rPr lang="en-US" sz="1200" b="1" dirty="0">
                          <a:solidFill>
                            <a:srgbClr val="243142"/>
                          </a:solidFill>
                          <a:latin typeface="Arial" pitchFamily="34" charset="0"/>
                          <a:ea typeface="Arial" pitchFamily="34" charset="-122"/>
                          <a:cs typeface="Arial" pitchFamily="34" charset="-120"/>
                        </a:rPr>
                        <a:t>543</a:t>
                      </a:r>
                      <a:endParaRPr lang="en-US" sz="1200" dirty="0">
                        <a:latin typeface="Arial" charset="0"/>
                        <a:ea typeface="Arial" charset="0"/>
                        <a:cs typeface="Arial" charset="0"/>
                      </a:endParaRPr>
                    </a:p>
                  </a:txBody>
                  <a:tcPr marL="73152" marR="73152" marT="0" marB="0" anchor="ctr">
                    <a:lnL w="0" cap="flat" cmpd="sng" algn="ctr">
                      <a:noFill/>
                    </a:lnL>
                    <a:lnR w="0" cap="flat" cmpd="sng" algn="ctr">
                      <a:noFill/>
                    </a:lnR>
                    <a:lnT w="12700" cap="flat" cmpd="sng" algn="ctr">
                      <a:solidFill>
                        <a:srgbClr val="243142"/>
                      </a:solidFill>
                      <a:prstDash val="solid"/>
                      <a:round/>
                      <a:headEnd type="none" w="med" len="med"/>
                      <a:tailEnd type="none" w="med" len="med"/>
                    </a:lnT>
                    <a:lnB w="0" cap="flat" cmpd="sng" algn="ctr">
                      <a:noFill/>
                    </a:lnB>
                  </a:tcPr>
                </a:tc>
              </a:tr>
            </a:tbl>
          </a:graphicData>
        </a:graphic>
      </p:graphicFrame>
      <p:sp>
        <p:nvSpPr>
          <p:cNvPr id="5" name="Text 2"/>
          <p:cNvSpPr txBox="1"/>
          <p:nvPr/>
        </p:nvSpPr>
        <p:spPr>
          <a:xfrm>
            <a:off x="548640" y="5349240"/>
            <a:ext cx="6949440"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*Every sighting on each of the 7 collection days (2026-09-20 to 2026-09-30). USAJOBS is the federal government's job API. Employer counts sum across sources.</a:t>
            </a:r>
            <a:endParaRPr lang="en-US" sz="1000" dirty="0"/>
          </a:p>
        </p:txBody>
      </p:sp>
      <p:sp>
        <p:nvSpPr>
          <p:cNvPr id="6" name="Shape 3"/>
          <p:cNvSpPr/>
          <p:nvPr/>
        </p:nvSpPr>
        <p:spPr>
          <a:xfrm>
            <a:off x="7955280" y="1554480"/>
            <a:ext cx="3687775" cy="1600200"/>
          </a:xfrm>
          <a:prstGeom prst="rect">
            <a:avLst/>
          </a:prstGeom>
          <a:solidFill>
            <a:srgbClr val="F6E3E3"/>
          </a:solidFill>
          <a:ln/>
        </p:spPr>
      </p:sp>
      <p:sp>
        <p:nvSpPr>
          <p:cNvPr id="7" name="Text 4"/>
          <p:cNvSpPr txBox="1"/>
          <p:nvPr/>
        </p:nvSpPr>
        <p:spPr>
          <a:xfrm>
            <a:off x="8183880" y="1645920"/>
            <a:ext cx="1600200" cy="685800"/>
          </a:xfrm>
          <a:prstGeom prst="rect">
            <a:avLst/>
          </a:prstGeom>
          <a:noFill/>
          <a:ln/>
        </p:spPr>
        <p:txBody>
          <a:bodyPr wrap="square" lIns="0" tIns="0" rIns="0" bIns="0" rtlCol="0" anchor="t"/>
          <a:lstStyle/>
          <a:p>
            <a:pPr indent="0" marL="0">
              <a:buNone/>
            </a:pPr>
            <a:r>
              <a:rPr lang="en-US" sz="4000" b="1" dirty="0">
                <a:solidFill>
                  <a:srgbClr val="990000"/>
                </a:solidFill>
                <a:latin typeface="Cambria" pitchFamily="34" charset="0"/>
                <a:ea typeface="Cambria" pitchFamily="34" charset="-122"/>
                <a:cs typeface="Cambria" pitchFamily="34" charset="-120"/>
              </a:rPr>
              <a:t>407</a:t>
            </a:r>
            <a:endParaRPr lang="en-US" sz="4000" dirty="0"/>
          </a:p>
        </p:txBody>
      </p:sp>
      <p:sp>
        <p:nvSpPr>
          <p:cNvPr id="8" name="Text 5"/>
          <p:cNvSpPr txBox="1"/>
          <p:nvPr/>
        </p:nvSpPr>
        <p:spPr>
          <a:xfrm>
            <a:off x="9875520" y="1645920"/>
            <a:ext cx="1584655" cy="658368"/>
          </a:xfrm>
          <a:prstGeom prst="rect">
            <a:avLst/>
          </a:prstGeom>
          <a:noFill/>
          <a:ln/>
        </p:spPr>
        <p:txBody>
          <a:bodyPr wrap="square" lIns="0" tIns="0" rIns="0" bIns="0" rtlCol="0" anchor="ctr"/>
          <a:lstStyle/>
          <a:p>
            <a:pPr indent="0" marL="0">
              <a:buNone/>
            </a:pPr>
            <a:r>
              <a:rPr lang="en-US" sz="1300" dirty="0">
                <a:solidFill>
                  <a:srgbClr val="243142"/>
                </a:solidFill>
                <a:latin typeface="Arial" pitchFamily="34" charset="0"/>
                <a:ea typeface="Arial" pitchFamily="34" charset="-122"/>
                <a:cs typeface="Arial" pitchFamily="34" charset="-120"/>
              </a:rPr>
              <a:t>employers searched in the sampling frame</a:t>
            </a:r>
            <a:endParaRPr lang="en-US" sz="1300" dirty="0"/>
          </a:p>
        </p:txBody>
      </p:sp>
      <p:sp>
        <p:nvSpPr>
          <p:cNvPr id="9" name="Text 6"/>
          <p:cNvSpPr txBox="1"/>
          <p:nvPr/>
        </p:nvSpPr>
        <p:spPr>
          <a:xfrm>
            <a:off x="8183880" y="2359152"/>
            <a:ext cx="3230575" cy="731520"/>
          </a:xfrm>
          <a:prstGeom prst="rect">
            <a:avLst/>
          </a:prstGeom>
          <a:noFill/>
          <a:ln/>
        </p:spPr>
        <p:txBody>
          <a:bodyPr wrap="square" lIns="0" tIns="0" rIns="0" bIns="0" rtlCol="0" anchor="t"/>
          <a:lstStyle/>
          <a:p>
            <a:pPr indent="0" marL="0">
              <a:buNone/>
            </a:pPr>
            <a:r>
              <a:rPr lang="en-US" sz="1200" dirty="0">
                <a:solidFill>
                  <a:srgbClr val="243142"/>
                </a:solidFill>
                <a:latin typeface="Arial" pitchFamily="34" charset="0"/>
                <a:ea typeface="Arial" pitchFamily="34" charset="-122"/>
                <a:cs typeface="Arial" pitchFamily="34" charset="-120"/>
              </a:rPr>
              <a:t>185 had a readable public board on the final run; the rest use systems with no open feed, or none at all.</a:t>
            </a:r>
            <a:endParaRPr lang="en-US" sz="1200" dirty="0"/>
          </a:p>
        </p:txBody>
      </p:sp>
      <p:sp>
        <p:nvSpPr>
          <p:cNvPr id="10" name="Text 7"/>
          <p:cNvSpPr txBox="1"/>
          <p:nvPr/>
        </p:nvSpPr>
        <p:spPr>
          <a:xfrm>
            <a:off x="7955280" y="3337560"/>
            <a:ext cx="3687775" cy="457200"/>
          </a:xfrm>
          <a:prstGeom prst="rect">
            <a:avLst/>
          </a:prstGeom>
          <a:noFill/>
          <a:ln/>
        </p:spPr>
        <p:txBody>
          <a:bodyPr wrap="square" lIns="0" tIns="0" rIns="0" bIns="0" rtlCol="0" anchor="t"/>
          <a:lstStyle/>
          <a:p>
            <a:pPr indent="0" marL="0">
              <a:buNone/>
            </a:pPr>
            <a:r>
              <a:rPr lang="en-US" sz="1000" b="1" spc="150" kern="0" dirty="0">
                <a:solidFill>
                  <a:srgbClr val="990000"/>
                </a:solidFill>
                <a:latin typeface="Arial" pitchFamily="34" charset="0"/>
                <a:ea typeface="Arial" pitchFamily="34" charset="-122"/>
                <a:cs typeface="Arial" pitchFamily="34" charset="-120"/>
              </a:rPr>
              <a:t>NOT USED: TERMS PROHIBIT AUTOMATED COLLECTION</a:t>
            </a:r>
            <a:endParaRPr lang="en-US" sz="1000" dirty="0"/>
          </a:p>
        </p:txBody>
      </p:sp>
      <p:sp>
        <p:nvSpPr>
          <p:cNvPr id="11" name="Shape 8"/>
          <p:cNvSpPr/>
          <p:nvPr/>
        </p:nvSpPr>
        <p:spPr>
          <a:xfrm>
            <a:off x="7955280" y="3886200"/>
            <a:ext cx="1775308" cy="347472"/>
          </a:xfrm>
          <a:prstGeom prst="roundRect">
            <a:avLst>
              <a:gd name="adj" fmla="val 21053"/>
            </a:avLst>
          </a:prstGeom>
          <a:solidFill>
            <a:srgbClr val="F4F4F5"/>
          </a:solidFill>
          <a:ln/>
        </p:spPr>
      </p:sp>
      <p:sp>
        <p:nvSpPr>
          <p:cNvPr id="12" name="Text 9"/>
          <p:cNvSpPr txBox="1"/>
          <p:nvPr/>
        </p:nvSpPr>
        <p:spPr>
          <a:xfrm>
            <a:off x="7955280" y="3886200"/>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LinkedIn</a:t>
            </a:r>
            <a:endParaRPr lang="en-US" sz="1200" dirty="0"/>
          </a:p>
        </p:txBody>
      </p:sp>
      <p:sp>
        <p:nvSpPr>
          <p:cNvPr id="13" name="Shape 10"/>
          <p:cNvSpPr/>
          <p:nvPr/>
        </p:nvSpPr>
        <p:spPr>
          <a:xfrm>
            <a:off x="9867748" y="3886200"/>
            <a:ext cx="1775308" cy="347472"/>
          </a:xfrm>
          <a:prstGeom prst="roundRect">
            <a:avLst>
              <a:gd name="adj" fmla="val 21053"/>
            </a:avLst>
          </a:prstGeom>
          <a:solidFill>
            <a:srgbClr val="F4F4F5"/>
          </a:solidFill>
          <a:ln/>
        </p:spPr>
      </p:sp>
      <p:sp>
        <p:nvSpPr>
          <p:cNvPr id="14" name="Text 11"/>
          <p:cNvSpPr txBox="1"/>
          <p:nvPr/>
        </p:nvSpPr>
        <p:spPr>
          <a:xfrm>
            <a:off x="9867748" y="3886200"/>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Indeed</a:t>
            </a:r>
            <a:endParaRPr lang="en-US" sz="1200" dirty="0"/>
          </a:p>
        </p:txBody>
      </p:sp>
      <p:sp>
        <p:nvSpPr>
          <p:cNvPr id="15" name="Shape 12"/>
          <p:cNvSpPr/>
          <p:nvPr/>
        </p:nvSpPr>
        <p:spPr>
          <a:xfrm>
            <a:off x="7955280" y="4325112"/>
            <a:ext cx="1775308" cy="347472"/>
          </a:xfrm>
          <a:prstGeom prst="roundRect">
            <a:avLst>
              <a:gd name="adj" fmla="val 21053"/>
            </a:avLst>
          </a:prstGeom>
          <a:solidFill>
            <a:srgbClr val="F4F4F5"/>
          </a:solidFill>
          <a:ln/>
        </p:spPr>
      </p:sp>
      <p:sp>
        <p:nvSpPr>
          <p:cNvPr id="16" name="Text 13"/>
          <p:cNvSpPr txBox="1"/>
          <p:nvPr/>
        </p:nvSpPr>
        <p:spPr>
          <a:xfrm>
            <a:off x="7955280" y="4325112"/>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Handshake</a:t>
            </a:r>
            <a:endParaRPr lang="en-US" sz="1200" dirty="0"/>
          </a:p>
        </p:txBody>
      </p:sp>
      <p:sp>
        <p:nvSpPr>
          <p:cNvPr id="17" name="Shape 14"/>
          <p:cNvSpPr/>
          <p:nvPr/>
        </p:nvSpPr>
        <p:spPr>
          <a:xfrm>
            <a:off x="9867748" y="4325112"/>
            <a:ext cx="1775308" cy="347472"/>
          </a:xfrm>
          <a:prstGeom prst="roundRect">
            <a:avLst>
              <a:gd name="adj" fmla="val 21053"/>
            </a:avLst>
          </a:prstGeom>
          <a:solidFill>
            <a:srgbClr val="F4F4F5"/>
          </a:solidFill>
          <a:ln/>
        </p:spPr>
      </p:sp>
      <p:sp>
        <p:nvSpPr>
          <p:cNvPr id="18" name="Text 15"/>
          <p:cNvSpPr txBox="1"/>
          <p:nvPr/>
        </p:nvSpPr>
        <p:spPr>
          <a:xfrm>
            <a:off x="9867748" y="4325112"/>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iCIMS</a:t>
            </a:r>
            <a:endParaRPr lang="en-US" sz="1200" dirty="0"/>
          </a:p>
        </p:txBody>
      </p:sp>
      <p:sp>
        <p:nvSpPr>
          <p:cNvPr id="19" name="Shape 16"/>
          <p:cNvSpPr/>
          <p:nvPr/>
        </p:nvSpPr>
        <p:spPr>
          <a:xfrm>
            <a:off x="7955280" y="4764024"/>
            <a:ext cx="1775308" cy="347472"/>
          </a:xfrm>
          <a:prstGeom prst="roundRect">
            <a:avLst>
              <a:gd name="adj" fmla="val 21053"/>
            </a:avLst>
          </a:prstGeom>
          <a:solidFill>
            <a:srgbClr val="F4F4F5"/>
          </a:solidFill>
          <a:ln/>
        </p:spPr>
      </p:sp>
      <p:sp>
        <p:nvSpPr>
          <p:cNvPr id="20" name="Text 17"/>
          <p:cNvSpPr txBox="1"/>
          <p:nvPr/>
        </p:nvSpPr>
        <p:spPr>
          <a:xfrm>
            <a:off x="7955280" y="4764024"/>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Oracle Cloud HCM</a:t>
            </a:r>
            <a:endParaRPr lang="en-US" sz="1200" dirty="0"/>
          </a:p>
        </p:txBody>
      </p:sp>
      <p:sp>
        <p:nvSpPr>
          <p:cNvPr id="21" name="Shape 18"/>
          <p:cNvSpPr/>
          <p:nvPr/>
        </p:nvSpPr>
        <p:spPr>
          <a:xfrm>
            <a:off x="9867748" y="4764024"/>
            <a:ext cx="1775308" cy="347472"/>
          </a:xfrm>
          <a:prstGeom prst="roundRect">
            <a:avLst>
              <a:gd name="adj" fmla="val 21053"/>
            </a:avLst>
          </a:prstGeom>
          <a:solidFill>
            <a:srgbClr val="F4F4F5"/>
          </a:solidFill>
          <a:ln/>
        </p:spPr>
      </p:sp>
      <p:sp>
        <p:nvSpPr>
          <p:cNvPr id="22" name="Text 19"/>
          <p:cNvSpPr txBox="1"/>
          <p:nvPr/>
        </p:nvSpPr>
        <p:spPr>
          <a:xfrm>
            <a:off x="9867748" y="4764024"/>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UKG</a:t>
            </a:r>
            <a:endParaRPr lang="en-US" sz="1200" dirty="0"/>
          </a:p>
        </p:txBody>
      </p:sp>
      <p:sp>
        <p:nvSpPr>
          <p:cNvPr id="23" name="Shape 20"/>
          <p:cNvSpPr/>
          <p:nvPr/>
        </p:nvSpPr>
        <p:spPr>
          <a:xfrm>
            <a:off x="7955280" y="5202936"/>
            <a:ext cx="1775308" cy="347472"/>
          </a:xfrm>
          <a:prstGeom prst="roundRect">
            <a:avLst>
              <a:gd name="adj" fmla="val 21053"/>
            </a:avLst>
          </a:prstGeom>
          <a:solidFill>
            <a:srgbClr val="F4F4F5"/>
          </a:solidFill>
          <a:ln/>
        </p:spPr>
      </p:sp>
      <p:sp>
        <p:nvSpPr>
          <p:cNvPr id="24" name="Text 21"/>
          <p:cNvSpPr txBox="1"/>
          <p:nvPr/>
        </p:nvSpPr>
        <p:spPr>
          <a:xfrm>
            <a:off x="7955280" y="5202936"/>
            <a:ext cx="1775308" cy="347472"/>
          </a:xfrm>
          <a:prstGeom prst="rect">
            <a:avLst/>
          </a:prstGeom>
          <a:noFill/>
          <a:ln/>
        </p:spPr>
        <p:txBody>
          <a:bodyPr wrap="square" lIns="0" tIns="0" rIns="0" bIns="0" rtlCol="0" anchor="ctr"/>
          <a:lstStyle/>
          <a:p>
            <a:pPr algn="ctr" indent="0" marL="0">
              <a:buNone/>
            </a:pPr>
            <a:r>
              <a:rPr lang="en-US" sz="1200" dirty="0">
                <a:solidFill>
                  <a:srgbClr val="5E6A78"/>
                </a:solidFill>
                <a:latin typeface="Arial" pitchFamily="34" charset="0"/>
                <a:ea typeface="Arial" pitchFamily="34" charset="-122"/>
                <a:cs typeface="Arial" pitchFamily="34" charset="-120"/>
              </a:rPr>
              <a:t>careers.electric.coop</a:t>
            </a:r>
            <a:endParaRPr lang="en-US" sz="12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DATA · SELECTION</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From 17,495 retrieved postings to an estimation sample of 543</a:t>
            </a:r>
            <a:endParaRPr lang="en-US" sz="2600" dirty="0"/>
          </a:p>
        </p:txBody>
      </p:sp>
      <p:sp>
        <p:nvSpPr>
          <p:cNvPr id="4" name="Shape 2"/>
          <p:cNvSpPr/>
          <p:nvPr/>
        </p:nvSpPr>
        <p:spPr>
          <a:xfrm>
            <a:off x="548640" y="1572768"/>
            <a:ext cx="5669280" cy="658368"/>
          </a:xfrm>
          <a:prstGeom prst="rect">
            <a:avLst/>
          </a:prstGeom>
          <a:solidFill>
            <a:srgbClr val="EDEBEB"/>
          </a:solidFill>
          <a:ln/>
        </p:spPr>
      </p:sp>
      <p:sp>
        <p:nvSpPr>
          <p:cNvPr id="5" name="Text 3"/>
          <p:cNvSpPr txBox="1"/>
          <p:nvPr/>
        </p:nvSpPr>
        <p:spPr>
          <a:xfrm>
            <a:off x="731520" y="1572768"/>
            <a:ext cx="1234440" cy="658368"/>
          </a:xfrm>
          <a:prstGeom prst="rect">
            <a:avLst/>
          </a:prstGeom>
          <a:noFill/>
          <a:ln/>
        </p:spPr>
        <p:txBody>
          <a:bodyPr wrap="square" lIns="0" tIns="0" rIns="0" bIns="0" rtlCol="0" anchor="ctr"/>
          <a:lstStyle/>
          <a:p>
            <a:pPr indent="0" marL="0">
              <a:buNone/>
            </a:pPr>
            <a:r>
              <a:rPr lang="en-US" sz="2200" b="1" dirty="0">
                <a:solidFill>
                  <a:srgbClr val="6B0000"/>
                </a:solidFill>
                <a:latin typeface="Cambria" pitchFamily="34" charset="0"/>
                <a:ea typeface="Cambria" pitchFamily="34" charset="-122"/>
                <a:cs typeface="Cambria" pitchFamily="34" charset="-120"/>
              </a:rPr>
              <a:t>17,495</a:t>
            </a:r>
            <a:endParaRPr lang="en-US" sz="2200" dirty="0"/>
          </a:p>
        </p:txBody>
      </p:sp>
      <p:sp>
        <p:nvSpPr>
          <p:cNvPr id="6" name="Text 4"/>
          <p:cNvSpPr txBox="1"/>
          <p:nvPr/>
        </p:nvSpPr>
        <p:spPr>
          <a:xfrm>
            <a:off x="1965960" y="1572768"/>
            <a:ext cx="4114800" cy="65836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Retrieved from employer job boards</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7 collection days</a:t>
            </a:r>
            <a:endParaRPr lang="en-US" sz="1200" dirty="0"/>
          </a:p>
        </p:txBody>
      </p:sp>
      <p:sp>
        <p:nvSpPr>
          <p:cNvPr id="7" name="Shape 5"/>
          <p:cNvSpPr/>
          <p:nvPr/>
        </p:nvSpPr>
        <p:spPr>
          <a:xfrm>
            <a:off x="800100" y="2450592"/>
            <a:ext cx="5166360" cy="658368"/>
          </a:xfrm>
          <a:prstGeom prst="rect">
            <a:avLst/>
          </a:prstGeom>
          <a:solidFill>
            <a:srgbClr val="EDEBEB"/>
          </a:solidFill>
          <a:ln/>
        </p:spPr>
      </p:sp>
      <p:sp>
        <p:nvSpPr>
          <p:cNvPr id="8" name="Text 6"/>
          <p:cNvSpPr txBox="1"/>
          <p:nvPr/>
        </p:nvSpPr>
        <p:spPr>
          <a:xfrm>
            <a:off x="982980" y="2450592"/>
            <a:ext cx="1234440" cy="658368"/>
          </a:xfrm>
          <a:prstGeom prst="rect">
            <a:avLst/>
          </a:prstGeom>
          <a:noFill/>
          <a:ln/>
        </p:spPr>
        <p:txBody>
          <a:bodyPr wrap="square" lIns="0" tIns="0" rIns="0" bIns="0" rtlCol="0" anchor="ctr"/>
          <a:lstStyle/>
          <a:p>
            <a:pPr indent="0" marL="0">
              <a:buNone/>
            </a:pPr>
            <a:r>
              <a:rPr lang="en-US" sz="2200" b="1" dirty="0">
                <a:solidFill>
                  <a:srgbClr val="6B0000"/>
                </a:solidFill>
                <a:latin typeface="Cambria" pitchFamily="34" charset="0"/>
                <a:ea typeface="Cambria" pitchFamily="34" charset="-122"/>
                <a:cs typeface="Cambria" pitchFamily="34" charset="-120"/>
              </a:rPr>
              <a:t>4,395</a:t>
            </a:r>
            <a:endParaRPr lang="en-US" sz="2200" dirty="0"/>
          </a:p>
        </p:txBody>
      </p:sp>
      <p:sp>
        <p:nvSpPr>
          <p:cNvPr id="9" name="Text 7"/>
          <p:cNvSpPr txBox="1"/>
          <p:nvPr/>
        </p:nvSpPr>
        <p:spPr>
          <a:xfrm>
            <a:off x="2217420" y="2450592"/>
            <a:ext cx="3611880" cy="65836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Pass the sector and role screens</a:t>
            </a:r>
            <a:endParaRPr lang="en-US" sz="1200" dirty="0"/>
          </a:p>
        </p:txBody>
      </p:sp>
      <p:sp>
        <p:nvSpPr>
          <p:cNvPr id="10" name="Shape 8"/>
          <p:cNvSpPr/>
          <p:nvPr/>
        </p:nvSpPr>
        <p:spPr>
          <a:xfrm>
            <a:off x="1051560" y="3328416"/>
            <a:ext cx="4663440" cy="658368"/>
          </a:xfrm>
          <a:prstGeom prst="rect">
            <a:avLst/>
          </a:prstGeom>
          <a:solidFill>
            <a:srgbClr val="EDEBEB"/>
          </a:solidFill>
          <a:ln/>
        </p:spPr>
      </p:sp>
      <p:sp>
        <p:nvSpPr>
          <p:cNvPr id="11" name="Text 9"/>
          <p:cNvSpPr txBox="1"/>
          <p:nvPr/>
        </p:nvSpPr>
        <p:spPr>
          <a:xfrm>
            <a:off x="1234440" y="3328416"/>
            <a:ext cx="1234440" cy="658368"/>
          </a:xfrm>
          <a:prstGeom prst="rect">
            <a:avLst/>
          </a:prstGeom>
          <a:noFill/>
          <a:ln/>
        </p:spPr>
        <p:txBody>
          <a:bodyPr wrap="square" lIns="0" tIns="0" rIns="0" bIns="0" rtlCol="0" anchor="ctr"/>
          <a:lstStyle/>
          <a:p>
            <a:pPr indent="0" marL="0">
              <a:buNone/>
            </a:pPr>
            <a:r>
              <a:rPr lang="en-US" sz="2200" b="1" dirty="0">
                <a:solidFill>
                  <a:srgbClr val="6B0000"/>
                </a:solidFill>
                <a:latin typeface="Cambria" pitchFamily="34" charset="0"/>
                <a:ea typeface="Cambria" pitchFamily="34" charset="-122"/>
                <a:cs typeface="Cambria" pitchFamily="34" charset="-120"/>
              </a:rPr>
              <a:t>3,427</a:t>
            </a:r>
            <a:endParaRPr lang="en-US" sz="2200" dirty="0"/>
          </a:p>
        </p:txBody>
      </p:sp>
      <p:sp>
        <p:nvSpPr>
          <p:cNvPr id="12" name="Text 10"/>
          <p:cNvSpPr txBox="1"/>
          <p:nvPr/>
        </p:nvSpPr>
        <p:spPr>
          <a:xfrm>
            <a:off x="2468880" y="3328416"/>
            <a:ext cx="3108960" cy="65836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In the US, with a resolvable state</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or nationwide remote</a:t>
            </a:r>
            <a:endParaRPr lang="en-US" sz="1200" dirty="0"/>
          </a:p>
        </p:txBody>
      </p:sp>
      <p:sp>
        <p:nvSpPr>
          <p:cNvPr id="13" name="Shape 11"/>
          <p:cNvSpPr/>
          <p:nvPr/>
        </p:nvSpPr>
        <p:spPr>
          <a:xfrm>
            <a:off x="1303020" y="4206240"/>
            <a:ext cx="4160520" cy="658368"/>
          </a:xfrm>
          <a:prstGeom prst="rect">
            <a:avLst/>
          </a:prstGeom>
          <a:solidFill>
            <a:srgbClr val="D98C8C"/>
          </a:solidFill>
          <a:ln/>
        </p:spPr>
      </p:sp>
      <p:sp>
        <p:nvSpPr>
          <p:cNvPr id="14" name="Text 12"/>
          <p:cNvSpPr txBox="1"/>
          <p:nvPr/>
        </p:nvSpPr>
        <p:spPr>
          <a:xfrm>
            <a:off x="1485900" y="4206240"/>
            <a:ext cx="1234440" cy="658368"/>
          </a:xfrm>
          <a:prstGeom prst="rect">
            <a:avLst/>
          </a:prstGeom>
          <a:noFill/>
          <a:ln/>
        </p:spPr>
        <p:txBody>
          <a:bodyPr wrap="square" lIns="0" tIns="0" rIns="0" bIns="0" rtlCol="0" anchor="ctr"/>
          <a:lstStyle/>
          <a:p>
            <a:pPr indent="0" marL="0">
              <a:buNone/>
            </a:pPr>
            <a:r>
              <a:rPr lang="en-US" sz="2200" b="1" dirty="0">
                <a:solidFill>
                  <a:srgbClr val="6B0000"/>
                </a:solidFill>
                <a:latin typeface="Cambria" pitchFamily="34" charset="0"/>
                <a:ea typeface="Cambria" pitchFamily="34" charset="-122"/>
                <a:cs typeface="Cambria" pitchFamily="34" charset="-120"/>
              </a:rPr>
              <a:t>729</a:t>
            </a:r>
            <a:endParaRPr lang="en-US" sz="2200" dirty="0"/>
          </a:p>
        </p:txBody>
      </p:sp>
      <p:sp>
        <p:nvSpPr>
          <p:cNvPr id="15" name="Text 13"/>
          <p:cNvSpPr txBox="1"/>
          <p:nvPr/>
        </p:nvSpPr>
        <p:spPr>
          <a:xfrm>
            <a:off x="2720340" y="4206240"/>
            <a:ext cx="2606040" cy="65836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Unique in-scope postings</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the disclosure sample</a:t>
            </a:r>
            <a:endParaRPr lang="en-US" sz="1200" dirty="0"/>
          </a:p>
        </p:txBody>
      </p:sp>
      <p:sp>
        <p:nvSpPr>
          <p:cNvPr id="16" name="Shape 14"/>
          <p:cNvSpPr/>
          <p:nvPr/>
        </p:nvSpPr>
        <p:spPr>
          <a:xfrm>
            <a:off x="1554480" y="5084064"/>
            <a:ext cx="3657600" cy="658368"/>
          </a:xfrm>
          <a:prstGeom prst="rect">
            <a:avLst/>
          </a:prstGeom>
          <a:solidFill>
            <a:srgbClr val="990000"/>
          </a:solidFill>
          <a:ln/>
        </p:spPr>
      </p:sp>
      <p:sp>
        <p:nvSpPr>
          <p:cNvPr id="17" name="Text 15"/>
          <p:cNvSpPr txBox="1"/>
          <p:nvPr/>
        </p:nvSpPr>
        <p:spPr>
          <a:xfrm>
            <a:off x="1737360" y="5084064"/>
            <a:ext cx="1234440" cy="65836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543</a:t>
            </a:r>
            <a:endParaRPr lang="en-US" sz="2200" dirty="0"/>
          </a:p>
        </p:txBody>
      </p:sp>
      <p:sp>
        <p:nvSpPr>
          <p:cNvPr id="18" name="Text 16"/>
          <p:cNvSpPr txBox="1"/>
          <p:nvPr/>
        </p:nvSpPr>
        <p:spPr>
          <a:xfrm>
            <a:off x="2971800" y="5084064"/>
            <a:ext cx="2103120" cy="65836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State a pay range</a:t>
            </a:r>
            <a:endParaRPr lang="en-US" sz="1200" dirty="0"/>
          </a:p>
          <a:p>
            <a:pPr indent="0" marL="0">
              <a:buNone/>
            </a:pPr>
            <a:r>
              <a:rPr lang="en-US" sz="1200" dirty="0">
                <a:solidFill>
                  <a:srgbClr val="EDEBEB"/>
                </a:solidFill>
                <a:latin typeface="Arial" pitchFamily="34" charset="0"/>
                <a:ea typeface="Arial" pitchFamily="34" charset="-122"/>
                <a:cs typeface="Arial" pitchFamily="34" charset="-120"/>
              </a:rPr>
              <a:t>the pay-model sample</a:t>
            </a:r>
            <a:endParaRPr lang="en-US" sz="1200" dirty="0"/>
          </a:p>
        </p:txBody>
      </p:sp>
      <p:sp>
        <p:nvSpPr>
          <p:cNvPr id="19" name="Text 17"/>
          <p:cNvSpPr txBox="1"/>
          <p:nvPr/>
        </p:nvSpPr>
        <p:spPr>
          <a:xfrm>
            <a:off x="6583680" y="1934870"/>
            <a:ext cx="1051560" cy="566928"/>
          </a:xfrm>
          <a:prstGeom prst="rect">
            <a:avLst/>
          </a:prstGeom>
          <a:noFill/>
          <a:ln/>
        </p:spPr>
        <p:txBody>
          <a:bodyPr wrap="square" lIns="0" tIns="0" rIns="0" bIns="0" rtlCol="0" anchor="ctr"/>
          <a:lstStyle/>
          <a:p>
            <a:pPr indent="0" marL="0">
              <a:buNone/>
            </a:pPr>
            <a:r>
              <a:rPr lang="en-US" sz="1700" b="1" dirty="0">
                <a:solidFill>
                  <a:srgbClr val="990000"/>
                </a:solidFill>
                <a:latin typeface="Cambria" pitchFamily="34" charset="0"/>
                <a:ea typeface="Cambria" pitchFamily="34" charset="-122"/>
                <a:cs typeface="Cambria" pitchFamily="34" charset="-120"/>
              </a:rPr>
              <a:t>−13,100</a:t>
            </a:r>
            <a:endParaRPr lang="en-US" sz="1700" dirty="0"/>
          </a:p>
        </p:txBody>
      </p:sp>
      <p:sp>
        <p:nvSpPr>
          <p:cNvPr id="20" name="Text 18"/>
          <p:cNvSpPr txBox="1"/>
          <p:nvPr/>
        </p:nvSpPr>
        <p:spPr>
          <a:xfrm>
            <a:off x="7680960" y="1934870"/>
            <a:ext cx="3962095" cy="566928"/>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role outside the taxonomy or an internship 10,952; no energy-sector evidence in the posting 1,713; a sister company outside the sector 435</a:t>
            </a:r>
            <a:endParaRPr lang="en-US" sz="1100" dirty="0"/>
          </a:p>
        </p:txBody>
      </p:sp>
      <p:sp>
        <p:nvSpPr>
          <p:cNvPr id="21" name="Text 19"/>
          <p:cNvSpPr txBox="1"/>
          <p:nvPr/>
        </p:nvSpPr>
        <p:spPr>
          <a:xfrm>
            <a:off x="6583680" y="2812694"/>
            <a:ext cx="1051560" cy="566928"/>
          </a:xfrm>
          <a:prstGeom prst="rect">
            <a:avLst/>
          </a:prstGeom>
          <a:noFill/>
          <a:ln/>
        </p:spPr>
        <p:txBody>
          <a:bodyPr wrap="square" lIns="0" tIns="0" rIns="0" bIns="0" rtlCol="0" anchor="ctr"/>
          <a:lstStyle/>
          <a:p>
            <a:pPr indent="0" marL="0">
              <a:buNone/>
            </a:pPr>
            <a:r>
              <a:rPr lang="en-US" sz="1700" b="1" dirty="0">
                <a:solidFill>
                  <a:srgbClr val="990000"/>
                </a:solidFill>
                <a:latin typeface="Cambria" pitchFamily="34" charset="0"/>
                <a:ea typeface="Cambria" pitchFamily="34" charset="-122"/>
                <a:cs typeface="Cambria" pitchFamily="34" charset="-120"/>
              </a:rPr>
              <a:t>−968</a:t>
            </a:r>
            <a:endParaRPr lang="en-US" sz="1700" dirty="0"/>
          </a:p>
        </p:txBody>
      </p:sp>
      <p:sp>
        <p:nvSpPr>
          <p:cNvPr id="22" name="Text 20"/>
          <p:cNvSpPr txBox="1"/>
          <p:nvPr/>
        </p:nvSpPr>
        <p:spPr>
          <a:xfrm>
            <a:off x="7680960" y="2812694"/>
            <a:ext cx="3962095" cy="566928"/>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no resolvable US state 572; outside the US 396</a:t>
            </a:r>
            <a:endParaRPr lang="en-US" sz="1100" dirty="0"/>
          </a:p>
        </p:txBody>
      </p:sp>
      <p:sp>
        <p:nvSpPr>
          <p:cNvPr id="23" name="Text 21"/>
          <p:cNvSpPr txBox="1"/>
          <p:nvPr/>
        </p:nvSpPr>
        <p:spPr>
          <a:xfrm>
            <a:off x="6583680" y="3690518"/>
            <a:ext cx="1051560" cy="566928"/>
          </a:xfrm>
          <a:prstGeom prst="rect">
            <a:avLst/>
          </a:prstGeom>
          <a:noFill/>
          <a:ln/>
        </p:spPr>
        <p:txBody>
          <a:bodyPr wrap="square" lIns="0" tIns="0" rIns="0" bIns="0" rtlCol="0" anchor="ctr"/>
          <a:lstStyle/>
          <a:p>
            <a:pPr indent="0" marL="0">
              <a:buNone/>
            </a:pPr>
            <a:r>
              <a:rPr lang="en-US" sz="1700" b="1" dirty="0">
                <a:solidFill>
                  <a:srgbClr val="990000"/>
                </a:solidFill>
                <a:latin typeface="Cambria" pitchFamily="34" charset="0"/>
                <a:ea typeface="Cambria" pitchFamily="34" charset="-122"/>
                <a:cs typeface="Cambria" pitchFamily="34" charset="-120"/>
              </a:rPr>
              <a:t>−2,698</a:t>
            </a:r>
            <a:endParaRPr lang="en-US" sz="1700" dirty="0"/>
          </a:p>
        </p:txBody>
      </p:sp>
      <p:sp>
        <p:nvSpPr>
          <p:cNvPr id="24" name="Text 22"/>
          <p:cNvSpPr txBox="1"/>
          <p:nvPr/>
        </p:nvSpPr>
        <p:spPr>
          <a:xfrm>
            <a:off x="7680960" y="3690518"/>
            <a:ext cx="3962095" cy="566928"/>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the same posting seen again on a later day 2,690; reposted requisitions 8</a:t>
            </a:r>
            <a:endParaRPr lang="en-US" sz="1100" dirty="0"/>
          </a:p>
        </p:txBody>
      </p:sp>
      <p:sp>
        <p:nvSpPr>
          <p:cNvPr id="25" name="Text 23"/>
          <p:cNvSpPr txBox="1"/>
          <p:nvPr/>
        </p:nvSpPr>
        <p:spPr>
          <a:xfrm>
            <a:off x="6583680" y="4568342"/>
            <a:ext cx="1051560" cy="566928"/>
          </a:xfrm>
          <a:prstGeom prst="rect">
            <a:avLst/>
          </a:prstGeom>
          <a:noFill/>
          <a:ln/>
        </p:spPr>
        <p:txBody>
          <a:bodyPr wrap="square" lIns="0" tIns="0" rIns="0" bIns="0" rtlCol="0" anchor="ctr"/>
          <a:lstStyle/>
          <a:p>
            <a:pPr indent="0" marL="0">
              <a:buNone/>
            </a:pPr>
            <a:r>
              <a:rPr lang="en-US" sz="1700" b="1" dirty="0">
                <a:solidFill>
                  <a:srgbClr val="990000"/>
                </a:solidFill>
                <a:latin typeface="Cambria" pitchFamily="34" charset="0"/>
                <a:ea typeface="Cambria" pitchFamily="34" charset="-122"/>
                <a:cs typeface="Cambria" pitchFamily="34" charset="-120"/>
              </a:rPr>
              <a:t>−186</a:t>
            </a:r>
            <a:endParaRPr lang="en-US" sz="1700" dirty="0"/>
          </a:p>
        </p:txBody>
      </p:sp>
      <p:sp>
        <p:nvSpPr>
          <p:cNvPr id="26" name="Text 24"/>
          <p:cNvSpPr txBox="1"/>
          <p:nvPr/>
        </p:nvSpPr>
        <p:spPr>
          <a:xfrm>
            <a:off x="7680960" y="4568342"/>
            <a:ext cx="3962095" cy="566928"/>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no pay range stated (kept in the disclosure model)</a:t>
            </a:r>
            <a:endParaRPr lang="en-US" sz="1100" dirty="0"/>
          </a:p>
        </p:txBody>
      </p:sp>
      <p:sp>
        <p:nvSpPr>
          <p:cNvPr id="27" name="Text 25"/>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A posting can fail more than one screen; each is removed at the first it fails. Duplicates are matched on employer, title and location.</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DATA · EMPLOYERS AND GEOGRAPHY</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100 employers in 31 states; the largest supplies 9.0% of the sample</a:t>
            </a:r>
            <a:endParaRPr lang="en-US" sz="2600" dirty="0"/>
          </a:p>
        </p:txBody>
      </p:sp>
      <p:sp>
        <p:nvSpPr>
          <p:cNvPr id="4" name="Shape 2"/>
          <p:cNvSpPr/>
          <p:nvPr/>
        </p:nvSpPr>
        <p:spPr>
          <a:xfrm>
            <a:off x="548640" y="1600200"/>
            <a:ext cx="457200" cy="457200"/>
          </a:xfrm>
          <a:prstGeom prst="rect">
            <a:avLst/>
          </a:prstGeom>
          <a:solidFill>
            <a:srgbClr val="EDEBEB"/>
          </a:solidFill>
          <a:ln/>
        </p:spPr>
      </p:sp>
      <p:sp>
        <p:nvSpPr>
          <p:cNvPr id="5" name="Text 3"/>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AK</a:t>
            </a:r>
            <a:endParaRPr lang="en-US" sz="1400" dirty="0"/>
          </a:p>
        </p:txBody>
      </p:sp>
      <p:sp>
        <p:nvSpPr>
          <p:cNvPr id="6" name="Shape 4"/>
          <p:cNvSpPr/>
          <p:nvPr/>
        </p:nvSpPr>
        <p:spPr>
          <a:xfrm>
            <a:off x="5669280" y="1600200"/>
            <a:ext cx="457200" cy="457200"/>
          </a:xfrm>
          <a:prstGeom prst="rect">
            <a:avLst/>
          </a:prstGeom>
          <a:solidFill>
            <a:srgbClr val="F2D4D4"/>
          </a:solidFill>
          <a:ln/>
        </p:spPr>
      </p:sp>
      <p:sp>
        <p:nvSpPr>
          <p:cNvPr id="7" name="Text 5"/>
          <p:cNvSpPr txBox="1"/>
          <p:nvPr/>
        </p:nvSpPr>
        <p:spPr>
          <a:xfrm>
            <a:off x="5669280" y="1600200"/>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ME</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4</a:t>
            </a:r>
            <a:endParaRPr lang="en-US" sz="1400" dirty="0"/>
          </a:p>
        </p:txBody>
      </p:sp>
      <p:sp>
        <p:nvSpPr>
          <p:cNvPr id="8" name="Shape 6"/>
          <p:cNvSpPr/>
          <p:nvPr/>
        </p:nvSpPr>
        <p:spPr>
          <a:xfrm>
            <a:off x="5157216" y="2112264"/>
            <a:ext cx="457200" cy="457200"/>
          </a:xfrm>
          <a:prstGeom prst="rect">
            <a:avLst/>
          </a:prstGeom>
          <a:solidFill>
            <a:srgbClr val="F2D4D4"/>
          </a:solidFill>
          <a:ln/>
        </p:spPr>
      </p:sp>
      <p:sp>
        <p:nvSpPr>
          <p:cNvPr id="9" name="Text 7"/>
          <p:cNvSpPr txBox="1"/>
          <p:nvPr/>
        </p:nvSpPr>
        <p:spPr>
          <a:xfrm>
            <a:off x="5157216" y="2112264"/>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VT</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a:t>
            </a:r>
            <a:endParaRPr lang="en-US" sz="1400" dirty="0"/>
          </a:p>
        </p:txBody>
      </p:sp>
      <p:sp>
        <p:nvSpPr>
          <p:cNvPr id="10" name="Shape 8"/>
          <p:cNvSpPr/>
          <p:nvPr/>
        </p:nvSpPr>
        <p:spPr>
          <a:xfrm>
            <a:off x="5669280" y="2112264"/>
            <a:ext cx="457200" cy="457200"/>
          </a:xfrm>
          <a:prstGeom prst="rect">
            <a:avLst/>
          </a:prstGeom>
          <a:solidFill>
            <a:srgbClr val="F2D4D4"/>
          </a:solidFill>
          <a:ln/>
        </p:spPr>
      </p:sp>
      <p:sp>
        <p:nvSpPr>
          <p:cNvPr id="11" name="Text 9"/>
          <p:cNvSpPr txBox="1"/>
          <p:nvPr/>
        </p:nvSpPr>
        <p:spPr>
          <a:xfrm>
            <a:off x="5669280" y="2112264"/>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NH</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3</a:t>
            </a:r>
            <a:endParaRPr lang="en-US" sz="1400" dirty="0"/>
          </a:p>
        </p:txBody>
      </p:sp>
      <p:sp>
        <p:nvSpPr>
          <p:cNvPr id="12" name="Shape 10"/>
          <p:cNvSpPr/>
          <p:nvPr/>
        </p:nvSpPr>
        <p:spPr>
          <a:xfrm>
            <a:off x="548640" y="2624328"/>
            <a:ext cx="457200" cy="457200"/>
          </a:xfrm>
          <a:prstGeom prst="rect">
            <a:avLst/>
          </a:prstGeom>
          <a:solidFill>
            <a:srgbClr val="D98C8C"/>
          </a:solidFill>
          <a:ln/>
        </p:spPr>
      </p:sp>
      <p:sp>
        <p:nvSpPr>
          <p:cNvPr id="13" name="Text 11"/>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WA</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19</a:t>
            </a:r>
            <a:endParaRPr lang="en-US" sz="1400" dirty="0"/>
          </a:p>
        </p:txBody>
      </p:sp>
      <p:sp>
        <p:nvSpPr>
          <p:cNvPr id="14" name="Shape 12"/>
          <p:cNvSpPr/>
          <p:nvPr/>
        </p:nvSpPr>
        <p:spPr>
          <a:xfrm>
            <a:off x="1060704" y="2624328"/>
            <a:ext cx="457200" cy="457200"/>
          </a:xfrm>
          <a:prstGeom prst="rect">
            <a:avLst/>
          </a:prstGeom>
          <a:solidFill>
            <a:srgbClr val="F2D4D4"/>
          </a:solidFill>
          <a:ln/>
        </p:spPr>
      </p:sp>
      <p:sp>
        <p:nvSpPr>
          <p:cNvPr id="15" name="Text 13"/>
          <p:cNvSpPr txBox="1"/>
          <p:nvPr/>
        </p:nvSpPr>
        <p:spPr>
          <a:xfrm>
            <a:off x="1060704" y="2624328"/>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ID</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a:t>
            </a:r>
            <a:endParaRPr lang="en-US" sz="1400" dirty="0"/>
          </a:p>
        </p:txBody>
      </p:sp>
      <p:sp>
        <p:nvSpPr>
          <p:cNvPr id="16" name="Shape 14"/>
          <p:cNvSpPr/>
          <p:nvPr/>
        </p:nvSpPr>
        <p:spPr>
          <a:xfrm>
            <a:off x="1572768" y="2624328"/>
            <a:ext cx="457200" cy="457200"/>
          </a:xfrm>
          <a:prstGeom prst="rect">
            <a:avLst/>
          </a:prstGeom>
          <a:solidFill>
            <a:srgbClr val="EDEBEB"/>
          </a:solidFill>
          <a:ln/>
        </p:spPr>
      </p:sp>
      <p:sp>
        <p:nvSpPr>
          <p:cNvPr id="17" name="Text 15"/>
          <p:cNvSpPr txBox="1"/>
          <p:nvPr/>
        </p:nvSpPr>
        <p:spPr>
          <a:xfrm>
            <a:off x="1572768"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MT</a:t>
            </a:r>
            <a:endParaRPr lang="en-US" sz="1400" dirty="0"/>
          </a:p>
        </p:txBody>
      </p:sp>
      <p:sp>
        <p:nvSpPr>
          <p:cNvPr id="18" name="Shape 16"/>
          <p:cNvSpPr/>
          <p:nvPr/>
        </p:nvSpPr>
        <p:spPr>
          <a:xfrm>
            <a:off x="2084832" y="2624328"/>
            <a:ext cx="457200" cy="457200"/>
          </a:xfrm>
          <a:prstGeom prst="rect">
            <a:avLst/>
          </a:prstGeom>
          <a:solidFill>
            <a:srgbClr val="EDEBEB"/>
          </a:solidFill>
          <a:ln/>
        </p:spPr>
      </p:sp>
      <p:sp>
        <p:nvSpPr>
          <p:cNvPr id="19" name="Text 17"/>
          <p:cNvSpPr txBox="1"/>
          <p:nvPr/>
        </p:nvSpPr>
        <p:spPr>
          <a:xfrm>
            <a:off x="2084832"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ND</a:t>
            </a:r>
            <a:endParaRPr lang="en-US" sz="1400" dirty="0"/>
          </a:p>
        </p:txBody>
      </p:sp>
      <p:sp>
        <p:nvSpPr>
          <p:cNvPr id="20" name="Shape 18"/>
          <p:cNvSpPr/>
          <p:nvPr/>
        </p:nvSpPr>
        <p:spPr>
          <a:xfrm>
            <a:off x="2596896" y="2624328"/>
            <a:ext cx="457200" cy="457200"/>
          </a:xfrm>
          <a:prstGeom prst="rect">
            <a:avLst/>
          </a:prstGeom>
          <a:solidFill>
            <a:srgbClr val="F2D4D4"/>
          </a:solidFill>
          <a:ln/>
        </p:spPr>
      </p:sp>
      <p:sp>
        <p:nvSpPr>
          <p:cNvPr id="21" name="Text 19"/>
          <p:cNvSpPr txBox="1"/>
          <p:nvPr/>
        </p:nvSpPr>
        <p:spPr>
          <a:xfrm>
            <a:off x="2596896" y="2624328"/>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MN</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2</a:t>
            </a:r>
            <a:endParaRPr lang="en-US" sz="1400" dirty="0"/>
          </a:p>
        </p:txBody>
      </p:sp>
      <p:sp>
        <p:nvSpPr>
          <p:cNvPr id="22" name="Shape 20"/>
          <p:cNvSpPr/>
          <p:nvPr/>
        </p:nvSpPr>
        <p:spPr>
          <a:xfrm>
            <a:off x="3108960" y="2624328"/>
            <a:ext cx="457200" cy="457200"/>
          </a:xfrm>
          <a:prstGeom prst="rect">
            <a:avLst/>
          </a:prstGeom>
          <a:solidFill>
            <a:srgbClr val="B33A3A"/>
          </a:solidFill>
          <a:ln/>
        </p:spPr>
      </p:sp>
      <p:sp>
        <p:nvSpPr>
          <p:cNvPr id="23" name="Text 21"/>
          <p:cNvSpPr txBox="1"/>
          <p:nvPr/>
        </p:nvSpPr>
        <p:spPr>
          <a:xfrm>
            <a:off x="3108960"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IL</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45</a:t>
            </a:r>
            <a:endParaRPr lang="en-US" sz="1400" dirty="0"/>
          </a:p>
        </p:txBody>
      </p:sp>
      <p:sp>
        <p:nvSpPr>
          <p:cNvPr id="24" name="Shape 22"/>
          <p:cNvSpPr/>
          <p:nvPr/>
        </p:nvSpPr>
        <p:spPr>
          <a:xfrm>
            <a:off x="3621024" y="2624328"/>
            <a:ext cx="457200" cy="457200"/>
          </a:xfrm>
          <a:prstGeom prst="rect">
            <a:avLst/>
          </a:prstGeom>
          <a:solidFill>
            <a:srgbClr val="D98C8C"/>
          </a:solidFill>
          <a:ln/>
        </p:spPr>
      </p:sp>
      <p:sp>
        <p:nvSpPr>
          <p:cNvPr id="25" name="Text 23"/>
          <p:cNvSpPr txBox="1"/>
          <p:nvPr/>
        </p:nvSpPr>
        <p:spPr>
          <a:xfrm>
            <a:off x="3621024" y="2624328"/>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WI</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6</a:t>
            </a:r>
            <a:endParaRPr lang="en-US" sz="1400" dirty="0"/>
          </a:p>
        </p:txBody>
      </p:sp>
      <p:sp>
        <p:nvSpPr>
          <p:cNvPr id="26" name="Shape 24"/>
          <p:cNvSpPr/>
          <p:nvPr/>
        </p:nvSpPr>
        <p:spPr>
          <a:xfrm>
            <a:off x="4133088" y="2624328"/>
            <a:ext cx="457200" cy="457200"/>
          </a:xfrm>
          <a:prstGeom prst="rect">
            <a:avLst/>
          </a:prstGeom>
          <a:solidFill>
            <a:srgbClr val="EDEBEB"/>
          </a:solidFill>
          <a:ln/>
        </p:spPr>
      </p:sp>
      <p:sp>
        <p:nvSpPr>
          <p:cNvPr id="27" name="Text 25"/>
          <p:cNvSpPr txBox="1"/>
          <p:nvPr/>
        </p:nvSpPr>
        <p:spPr>
          <a:xfrm>
            <a:off x="4133088"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MI</a:t>
            </a:r>
            <a:endParaRPr lang="en-US" sz="1400" dirty="0"/>
          </a:p>
        </p:txBody>
      </p:sp>
      <p:sp>
        <p:nvSpPr>
          <p:cNvPr id="28" name="Shape 26"/>
          <p:cNvSpPr/>
          <p:nvPr/>
        </p:nvSpPr>
        <p:spPr>
          <a:xfrm>
            <a:off x="4645152" y="2624328"/>
            <a:ext cx="457200" cy="457200"/>
          </a:xfrm>
          <a:prstGeom prst="rect">
            <a:avLst/>
          </a:prstGeom>
          <a:solidFill>
            <a:srgbClr val="B33A3A"/>
          </a:solidFill>
          <a:ln/>
        </p:spPr>
      </p:sp>
      <p:sp>
        <p:nvSpPr>
          <p:cNvPr id="29" name="Text 27"/>
          <p:cNvSpPr txBox="1"/>
          <p:nvPr/>
        </p:nvSpPr>
        <p:spPr>
          <a:xfrm>
            <a:off x="4645152"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NY</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26</a:t>
            </a:r>
            <a:endParaRPr lang="en-US" sz="1400" dirty="0"/>
          </a:p>
        </p:txBody>
      </p:sp>
      <p:sp>
        <p:nvSpPr>
          <p:cNvPr id="30" name="Shape 28"/>
          <p:cNvSpPr/>
          <p:nvPr/>
        </p:nvSpPr>
        <p:spPr>
          <a:xfrm>
            <a:off x="5157216" y="2624328"/>
            <a:ext cx="457200" cy="457200"/>
          </a:xfrm>
          <a:prstGeom prst="rect">
            <a:avLst/>
          </a:prstGeom>
          <a:solidFill>
            <a:srgbClr val="EDEBEB"/>
          </a:solidFill>
          <a:ln/>
        </p:spPr>
      </p:sp>
      <p:sp>
        <p:nvSpPr>
          <p:cNvPr id="31" name="Text 29"/>
          <p:cNvSpPr txBox="1"/>
          <p:nvPr/>
        </p:nvSpPr>
        <p:spPr>
          <a:xfrm>
            <a:off x="5157216" y="262432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RI</a:t>
            </a:r>
            <a:endParaRPr lang="en-US" sz="1400" dirty="0"/>
          </a:p>
        </p:txBody>
      </p:sp>
      <p:sp>
        <p:nvSpPr>
          <p:cNvPr id="32" name="Shape 30"/>
          <p:cNvSpPr/>
          <p:nvPr/>
        </p:nvSpPr>
        <p:spPr>
          <a:xfrm>
            <a:off x="5669280" y="2624328"/>
            <a:ext cx="457200" cy="457200"/>
          </a:xfrm>
          <a:prstGeom prst="rect">
            <a:avLst/>
          </a:prstGeom>
          <a:solidFill>
            <a:srgbClr val="7A0000"/>
          </a:solidFill>
          <a:ln/>
        </p:spPr>
      </p:sp>
      <p:sp>
        <p:nvSpPr>
          <p:cNvPr id="33" name="Text 31"/>
          <p:cNvSpPr txBox="1"/>
          <p:nvPr/>
        </p:nvSpPr>
        <p:spPr>
          <a:xfrm>
            <a:off x="5669280" y="2624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61</a:t>
            </a:r>
            <a:endParaRPr lang="en-US" sz="1400" dirty="0"/>
          </a:p>
        </p:txBody>
      </p:sp>
      <p:sp>
        <p:nvSpPr>
          <p:cNvPr id="34" name="Shape 32"/>
          <p:cNvSpPr/>
          <p:nvPr/>
        </p:nvSpPr>
        <p:spPr>
          <a:xfrm>
            <a:off x="548640" y="3136392"/>
            <a:ext cx="457200" cy="457200"/>
          </a:xfrm>
          <a:prstGeom prst="rect">
            <a:avLst/>
          </a:prstGeom>
          <a:solidFill>
            <a:srgbClr val="F2D4D4"/>
          </a:solidFill>
          <a:ln/>
        </p:spPr>
      </p:sp>
      <p:sp>
        <p:nvSpPr>
          <p:cNvPr id="35" name="Text 33"/>
          <p:cNvSpPr txBox="1"/>
          <p:nvPr/>
        </p:nvSpPr>
        <p:spPr>
          <a:xfrm>
            <a:off x="548640" y="3136392"/>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OR</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2</a:t>
            </a:r>
            <a:endParaRPr lang="en-US" sz="1400" dirty="0"/>
          </a:p>
        </p:txBody>
      </p:sp>
      <p:sp>
        <p:nvSpPr>
          <p:cNvPr id="36" name="Shape 34"/>
          <p:cNvSpPr/>
          <p:nvPr/>
        </p:nvSpPr>
        <p:spPr>
          <a:xfrm>
            <a:off x="1060704" y="3136392"/>
            <a:ext cx="457200" cy="457200"/>
          </a:xfrm>
          <a:prstGeom prst="rect">
            <a:avLst/>
          </a:prstGeom>
          <a:solidFill>
            <a:srgbClr val="EDEBEB"/>
          </a:solidFill>
          <a:ln/>
        </p:spPr>
      </p:sp>
      <p:sp>
        <p:nvSpPr>
          <p:cNvPr id="37" name="Text 35"/>
          <p:cNvSpPr txBox="1"/>
          <p:nvPr/>
        </p:nvSpPr>
        <p:spPr>
          <a:xfrm>
            <a:off x="1060704"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NV</a:t>
            </a:r>
            <a:endParaRPr lang="en-US" sz="1400" dirty="0"/>
          </a:p>
        </p:txBody>
      </p:sp>
      <p:sp>
        <p:nvSpPr>
          <p:cNvPr id="38" name="Shape 36"/>
          <p:cNvSpPr/>
          <p:nvPr/>
        </p:nvSpPr>
        <p:spPr>
          <a:xfrm>
            <a:off x="1572768" y="3136392"/>
            <a:ext cx="457200" cy="457200"/>
          </a:xfrm>
          <a:prstGeom prst="rect">
            <a:avLst/>
          </a:prstGeom>
          <a:solidFill>
            <a:srgbClr val="EDEBEB"/>
          </a:solidFill>
          <a:ln/>
        </p:spPr>
      </p:sp>
      <p:sp>
        <p:nvSpPr>
          <p:cNvPr id="39" name="Text 37"/>
          <p:cNvSpPr txBox="1"/>
          <p:nvPr/>
        </p:nvSpPr>
        <p:spPr>
          <a:xfrm>
            <a:off x="1572768"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WY</a:t>
            </a:r>
            <a:endParaRPr lang="en-US" sz="1400" dirty="0"/>
          </a:p>
        </p:txBody>
      </p:sp>
      <p:sp>
        <p:nvSpPr>
          <p:cNvPr id="40" name="Shape 38"/>
          <p:cNvSpPr/>
          <p:nvPr/>
        </p:nvSpPr>
        <p:spPr>
          <a:xfrm>
            <a:off x="2084832" y="3136392"/>
            <a:ext cx="457200" cy="457200"/>
          </a:xfrm>
          <a:prstGeom prst="rect">
            <a:avLst/>
          </a:prstGeom>
          <a:solidFill>
            <a:srgbClr val="EDEBEB"/>
          </a:solidFill>
          <a:ln/>
        </p:spPr>
      </p:sp>
      <p:sp>
        <p:nvSpPr>
          <p:cNvPr id="41" name="Text 39"/>
          <p:cNvSpPr txBox="1"/>
          <p:nvPr/>
        </p:nvSpPr>
        <p:spPr>
          <a:xfrm>
            <a:off x="2084832"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SD</a:t>
            </a:r>
            <a:endParaRPr lang="en-US" sz="1400" dirty="0"/>
          </a:p>
        </p:txBody>
      </p:sp>
      <p:sp>
        <p:nvSpPr>
          <p:cNvPr id="42" name="Shape 40"/>
          <p:cNvSpPr/>
          <p:nvPr/>
        </p:nvSpPr>
        <p:spPr>
          <a:xfrm>
            <a:off x="2596896" y="3136392"/>
            <a:ext cx="457200" cy="457200"/>
          </a:xfrm>
          <a:prstGeom prst="rect">
            <a:avLst/>
          </a:prstGeom>
          <a:solidFill>
            <a:srgbClr val="EDEBEB"/>
          </a:solidFill>
          <a:ln/>
        </p:spPr>
      </p:sp>
      <p:sp>
        <p:nvSpPr>
          <p:cNvPr id="43" name="Text 41"/>
          <p:cNvSpPr txBox="1"/>
          <p:nvPr/>
        </p:nvSpPr>
        <p:spPr>
          <a:xfrm>
            <a:off x="2596896" y="3136392"/>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IA</a:t>
            </a:r>
            <a:endParaRPr lang="en-US" sz="1400" dirty="0"/>
          </a:p>
        </p:txBody>
      </p:sp>
      <p:sp>
        <p:nvSpPr>
          <p:cNvPr id="44" name="Shape 42"/>
          <p:cNvSpPr/>
          <p:nvPr/>
        </p:nvSpPr>
        <p:spPr>
          <a:xfrm>
            <a:off x="3108960" y="3136392"/>
            <a:ext cx="457200" cy="457200"/>
          </a:xfrm>
          <a:prstGeom prst="rect">
            <a:avLst/>
          </a:prstGeom>
          <a:solidFill>
            <a:srgbClr val="D98C8C"/>
          </a:solidFill>
          <a:ln/>
        </p:spPr>
      </p:sp>
      <p:sp>
        <p:nvSpPr>
          <p:cNvPr id="45" name="Text 43"/>
          <p:cNvSpPr txBox="1"/>
          <p:nvPr/>
        </p:nvSpPr>
        <p:spPr>
          <a:xfrm>
            <a:off x="3108960" y="3136392"/>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IN</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6</a:t>
            </a:r>
            <a:endParaRPr lang="en-US" sz="1400" dirty="0"/>
          </a:p>
        </p:txBody>
      </p:sp>
      <p:sp>
        <p:nvSpPr>
          <p:cNvPr id="46" name="Shape 44"/>
          <p:cNvSpPr/>
          <p:nvPr/>
        </p:nvSpPr>
        <p:spPr>
          <a:xfrm>
            <a:off x="3621024" y="3136392"/>
            <a:ext cx="457200" cy="457200"/>
          </a:xfrm>
          <a:prstGeom prst="rect">
            <a:avLst/>
          </a:prstGeom>
          <a:solidFill>
            <a:srgbClr val="D98C8C"/>
          </a:solidFill>
          <a:ln/>
        </p:spPr>
      </p:sp>
      <p:sp>
        <p:nvSpPr>
          <p:cNvPr id="47" name="Text 45"/>
          <p:cNvSpPr txBox="1"/>
          <p:nvPr/>
        </p:nvSpPr>
        <p:spPr>
          <a:xfrm>
            <a:off x="3621024" y="3136392"/>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OH</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17</a:t>
            </a:r>
            <a:endParaRPr lang="en-US" sz="1400" dirty="0"/>
          </a:p>
        </p:txBody>
      </p:sp>
      <p:sp>
        <p:nvSpPr>
          <p:cNvPr id="48" name="Shape 46"/>
          <p:cNvSpPr/>
          <p:nvPr/>
        </p:nvSpPr>
        <p:spPr>
          <a:xfrm>
            <a:off x="4133088" y="3136392"/>
            <a:ext cx="457200" cy="457200"/>
          </a:xfrm>
          <a:prstGeom prst="rect">
            <a:avLst/>
          </a:prstGeom>
          <a:solidFill>
            <a:srgbClr val="F2D4D4"/>
          </a:solidFill>
          <a:ln/>
        </p:spPr>
      </p:sp>
      <p:sp>
        <p:nvSpPr>
          <p:cNvPr id="49" name="Text 47"/>
          <p:cNvSpPr txBox="1"/>
          <p:nvPr/>
        </p:nvSpPr>
        <p:spPr>
          <a:xfrm>
            <a:off x="4133088" y="3136392"/>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PA</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2</a:t>
            </a:r>
            <a:endParaRPr lang="en-US" sz="1400" dirty="0"/>
          </a:p>
        </p:txBody>
      </p:sp>
      <p:sp>
        <p:nvSpPr>
          <p:cNvPr id="50" name="Shape 48"/>
          <p:cNvSpPr/>
          <p:nvPr/>
        </p:nvSpPr>
        <p:spPr>
          <a:xfrm>
            <a:off x="4645152" y="3136392"/>
            <a:ext cx="457200" cy="457200"/>
          </a:xfrm>
          <a:prstGeom prst="rect">
            <a:avLst/>
          </a:prstGeom>
          <a:solidFill>
            <a:srgbClr val="F2D4D4"/>
          </a:solidFill>
          <a:ln/>
        </p:spPr>
      </p:sp>
      <p:sp>
        <p:nvSpPr>
          <p:cNvPr id="51" name="Text 49"/>
          <p:cNvSpPr txBox="1"/>
          <p:nvPr/>
        </p:nvSpPr>
        <p:spPr>
          <a:xfrm>
            <a:off x="4645152" y="3136392"/>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NJ</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3</a:t>
            </a:r>
            <a:endParaRPr lang="en-US" sz="1400" dirty="0"/>
          </a:p>
        </p:txBody>
      </p:sp>
      <p:sp>
        <p:nvSpPr>
          <p:cNvPr id="52" name="Shape 50"/>
          <p:cNvSpPr/>
          <p:nvPr/>
        </p:nvSpPr>
        <p:spPr>
          <a:xfrm>
            <a:off x="5157216" y="3136392"/>
            <a:ext cx="457200" cy="457200"/>
          </a:xfrm>
          <a:prstGeom prst="rect">
            <a:avLst/>
          </a:prstGeom>
          <a:solidFill>
            <a:srgbClr val="D98C8C"/>
          </a:solidFill>
          <a:ln/>
        </p:spPr>
      </p:sp>
      <p:sp>
        <p:nvSpPr>
          <p:cNvPr id="53" name="Text 51"/>
          <p:cNvSpPr txBox="1"/>
          <p:nvPr/>
        </p:nvSpPr>
        <p:spPr>
          <a:xfrm>
            <a:off x="5157216" y="3136392"/>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CT</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18</a:t>
            </a:r>
            <a:endParaRPr lang="en-US" sz="1400" dirty="0"/>
          </a:p>
        </p:txBody>
      </p:sp>
      <p:sp>
        <p:nvSpPr>
          <p:cNvPr id="54" name="Shape 52"/>
          <p:cNvSpPr/>
          <p:nvPr/>
        </p:nvSpPr>
        <p:spPr>
          <a:xfrm>
            <a:off x="548640" y="3648456"/>
            <a:ext cx="457200" cy="457200"/>
          </a:xfrm>
          <a:prstGeom prst="rect">
            <a:avLst/>
          </a:prstGeom>
          <a:solidFill>
            <a:srgbClr val="7A0000"/>
          </a:solidFill>
          <a:ln/>
        </p:spPr>
      </p:sp>
      <p:sp>
        <p:nvSpPr>
          <p:cNvPr id="55" name="Text 53"/>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124</a:t>
            </a:r>
            <a:endParaRPr lang="en-US" sz="1400" dirty="0"/>
          </a:p>
        </p:txBody>
      </p:sp>
      <p:sp>
        <p:nvSpPr>
          <p:cNvPr id="56" name="Shape 54"/>
          <p:cNvSpPr/>
          <p:nvPr/>
        </p:nvSpPr>
        <p:spPr>
          <a:xfrm>
            <a:off x="1060704" y="3648456"/>
            <a:ext cx="457200" cy="457200"/>
          </a:xfrm>
          <a:prstGeom prst="rect">
            <a:avLst/>
          </a:prstGeom>
          <a:solidFill>
            <a:srgbClr val="F2D4D4"/>
          </a:solidFill>
          <a:ln/>
        </p:spPr>
      </p:sp>
      <p:sp>
        <p:nvSpPr>
          <p:cNvPr id="57" name="Text 55"/>
          <p:cNvSpPr txBox="1"/>
          <p:nvPr/>
        </p:nvSpPr>
        <p:spPr>
          <a:xfrm>
            <a:off x="1060704" y="3648456"/>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UT</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a:t>
            </a:r>
            <a:endParaRPr lang="en-US" sz="1400" dirty="0"/>
          </a:p>
        </p:txBody>
      </p:sp>
      <p:sp>
        <p:nvSpPr>
          <p:cNvPr id="58" name="Shape 56"/>
          <p:cNvSpPr/>
          <p:nvPr/>
        </p:nvSpPr>
        <p:spPr>
          <a:xfrm>
            <a:off x="1572768" y="3648456"/>
            <a:ext cx="457200" cy="457200"/>
          </a:xfrm>
          <a:prstGeom prst="rect">
            <a:avLst/>
          </a:prstGeom>
          <a:solidFill>
            <a:srgbClr val="7A0000"/>
          </a:solidFill>
          <a:ln/>
        </p:spPr>
      </p:sp>
      <p:sp>
        <p:nvSpPr>
          <p:cNvPr id="59" name="Text 57"/>
          <p:cNvSpPr txBox="1"/>
          <p:nvPr/>
        </p:nvSpPr>
        <p:spPr>
          <a:xfrm>
            <a:off x="1572768" y="364845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69</a:t>
            </a:r>
            <a:endParaRPr lang="en-US" sz="1400" dirty="0"/>
          </a:p>
        </p:txBody>
      </p:sp>
      <p:sp>
        <p:nvSpPr>
          <p:cNvPr id="60" name="Shape 58"/>
          <p:cNvSpPr/>
          <p:nvPr/>
        </p:nvSpPr>
        <p:spPr>
          <a:xfrm>
            <a:off x="2084832" y="3648456"/>
            <a:ext cx="457200" cy="457200"/>
          </a:xfrm>
          <a:prstGeom prst="rect">
            <a:avLst/>
          </a:prstGeom>
          <a:solidFill>
            <a:srgbClr val="EDEBEB"/>
          </a:solidFill>
          <a:ln/>
        </p:spPr>
      </p:sp>
      <p:sp>
        <p:nvSpPr>
          <p:cNvPr id="61" name="Text 59"/>
          <p:cNvSpPr txBox="1"/>
          <p:nvPr/>
        </p:nvSpPr>
        <p:spPr>
          <a:xfrm>
            <a:off x="2084832"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NE</a:t>
            </a:r>
            <a:endParaRPr lang="en-US" sz="1400" dirty="0"/>
          </a:p>
        </p:txBody>
      </p:sp>
      <p:sp>
        <p:nvSpPr>
          <p:cNvPr id="62" name="Shape 60"/>
          <p:cNvSpPr/>
          <p:nvPr/>
        </p:nvSpPr>
        <p:spPr>
          <a:xfrm>
            <a:off x="2596896" y="3648456"/>
            <a:ext cx="457200" cy="457200"/>
          </a:xfrm>
          <a:prstGeom prst="rect">
            <a:avLst/>
          </a:prstGeom>
          <a:solidFill>
            <a:srgbClr val="D98C8C"/>
          </a:solidFill>
          <a:ln/>
        </p:spPr>
      </p:sp>
      <p:sp>
        <p:nvSpPr>
          <p:cNvPr id="63" name="Text 61"/>
          <p:cNvSpPr txBox="1"/>
          <p:nvPr/>
        </p:nvSpPr>
        <p:spPr>
          <a:xfrm>
            <a:off x="2596896" y="3648456"/>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MO</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8</a:t>
            </a:r>
            <a:endParaRPr lang="en-US" sz="1400" dirty="0"/>
          </a:p>
        </p:txBody>
      </p:sp>
      <p:sp>
        <p:nvSpPr>
          <p:cNvPr id="64" name="Shape 62"/>
          <p:cNvSpPr/>
          <p:nvPr/>
        </p:nvSpPr>
        <p:spPr>
          <a:xfrm>
            <a:off x="3108960" y="3648456"/>
            <a:ext cx="457200" cy="457200"/>
          </a:xfrm>
          <a:prstGeom prst="rect">
            <a:avLst/>
          </a:prstGeom>
          <a:solidFill>
            <a:srgbClr val="EDEBEB"/>
          </a:solidFill>
          <a:ln/>
        </p:spPr>
      </p:sp>
      <p:sp>
        <p:nvSpPr>
          <p:cNvPr id="65" name="Text 63"/>
          <p:cNvSpPr txBox="1"/>
          <p:nvPr/>
        </p:nvSpPr>
        <p:spPr>
          <a:xfrm>
            <a:off x="3108960"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KY</a:t>
            </a:r>
            <a:endParaRPr lang="en-US" sz="1400" dirty="0"/>
          </a:p>
        </p:txBody>
      </p:sp>
      <p:sp>
        <p:nvSpPr>
          <p:cNvPr id="66" name="Shape 64"/>
          <p:cNvSpPr/>
          <p:nvPr/>
        </p:nvSpPr>
        <p:spPr>
          <a:xfrm>
            <a:off x="3621024" y="3648456"/>
            <a:ext cx="457200" cy="457200"/>
          </a:xfrm>
          <a:prstGeom prst="rect">
            <a:avLst/>
          </a:prstGeom>
          <a:solidFill>
            <a:srgbClr val="EDEBEB"/>
          </a:solidFill>
          <a:ln/>
        </p:spPr>
      </p:sp>
      <p:sp>
        <p:nvSpPr>
          <p:cNvPr id="67" name="Text 65"/>
          <p:cNvSpPr txBox="1"/>
          <p:nvPr/>
        </p:nvSpPr>
        <p:spPr>
          <a:xfrm>
            <a:off x="3621024"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WV</a:t>
            </a:r>
            <a:endParaRPr lang="en-US" sz="1400" dirty="0"/>
          </a:p>
        </p:txBody>
      </p:sp>
      <p:sp>
        <p:nvSpPr>
          <p:cNvPr id="68" name="Shape 66"/>
          <p:cNvSpPr/>
          <p:nvPr/>
        </p:nvSpPr>
        <p:spPr>
          <a:xfrm>
            <a:off x="4133088" y="3648456"/>
            <a:ext cx="457200" cy="457200"/>
          </a:xfrm>
          <a:prstGeom prst="rect">
            <a:avLst/>
          </a:prstGeom>
          <a:solidFill>
            <a:srgbClr val="D98C8C"/>
          </a:solidFill>
          <a:ln/>
        </p:spPr>
      </p:sp>
      <p:sp>
        <p:nvSpPr>
          <p:cNvPr id="69" name="Text 67"/>
          <p:cNvSpPr txBox="1"/>
          <p:nvPr/>
        </p:nvSpPr>
        <p:spPr>
          <a:xfrm>
            <a:off x="4133088" y="3648456"/>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VA</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15</a:t>
            </a:r>
            <a:endParaRPr lang="en-US" sz="1400" dirty="0"/>
          </a:p>
        </p:txBody>
      </p:sp>
      <p:sp>
        <p:nvSpPr>
          <p:cNvPr id="70" name="Shape 68"/>
          <p:cNvSpPr/>
          <p:nvPr/>
        </p:nvSpPr>
        <p:spPr>
          <a:xfrm>
            <a:off x="4645152" y="3648456"/>
            <a:ext cx="457200" cy="457200"/>
          </a:xfrm>
          <a:prstGeom prst="rect">
            <a:avLst/>
          </a:prstGeom>
          <a:solidFill>
            <a:srgbClr val="D98C8C"/>
          </a:solidFill>
          <a:ln/>
        </p:spPr>
      </p:sp>
      <p:sp>
        <p:nvSpPr>
          <p:cNvPr id="71" name="Text 69"/>
          <p:cNvSpPr txBox="1"/>
          <p:nvPr/>
        </p:nvSpPr>
        <p:spPr>
          <a:xfrm>
            <a:off x="4645152" y="3648456"/>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MD</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6</a:t>
            </a:r>
            <a:endParaRPr lang="en-US" sz="1400" dirty="0"/>
          </a:p>
        </p:txBody>
      </p:sp>
      <p:sp>
        <p:nvSpPr>
          <p:cNvPr id="72" name="Shape 70"/>
          <p:cNvSpPr/>
          <p:nvPr/>
        </p:nvSpPr>
        <p:spPr>
          <a:xfrm>
            <a:off x="5157216" y="3648456"/>
            <a:ext cx="457200" cy="457200"/>
          </a:xfrm>
          <a:prstGeom prst="rect">
            <a:avLst/>
          </a:prstGeom>
          <a:solidFill>
            <a:srgbClr val="EDEBEB"/>
          </a:solidFill>
          <a:ln/>
        </p:spPr>
      </p:sp>
      <p:sp>
        <p:nvSpPr>
          <p:cNvPr id="73" name="Text 71"/>
          <p:cNvSpPr txBox="1"/>
          <p:nvPr/>
        </p:nvSpPr>
        <p:spPr>
          <a:xfrm>
            <a:off x="5157216" y="3648456"/>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DE</a:t>
            </a:r>
            <a:endParaRPr lang="en-US" sz="1400" dirty="0"/>
          </a:p>
        </p:txBody>
      </p:sp>
      <p:sp>
        <p:nvSpPr>
          <p:cNvPr id="74" name="Shape 72"/>
          <p:cNvSpPr/>
          <p:nvPr/>
        </p:nvSpPr>
        <p:spPr>
          <a:xfrm>
            <a:off x="1060704" y="4160520"/>
            <a:ext cx="457200" cy="457200"/>
          </a:xfrm>
          <a:prstGeom prst="rect">
            <a:avLst/>
          </a:prstGeom>
          <a:solidFill>
            <a:srgbClr val="F2D4D4"/>
          </a:solidFill>
          <a:ln/>
        </p:spPr>
      </p:sp>
      <p:sp>
        <p:nvSpPr>
          <p:cNvPr id="75" name="Text 73"/>
          <p:cNvSpPr txBox="1"/>
          <p:nvPr/>
        </p:nvSpPr>
        <p:spPr>
          <a:xfrm>
            <a:off x="1060704" y="4160520"/>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AZ</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a:t>
            </a:r>
            <a:endParaRPr lang="en-US" sz="1400" dirty="0"/>
          </a:p>
        </p:txBody>
      </p:sp>
      <p:sp>
        <p:nvSpPr>
          <p:cNvPr id="76" name="Shape 74"/>
          <p:cNvSpPr/>
          <p:nvPr/>
        </p:nvSpPr>
        <p:spPr>
          <a:xfrm>
            <a:off x="1572768" y="4160520"/>
            <a:ext cx="457200" cy="457200"/>
          </a:xfrm>
          <a:prstGeom prst="rect">
            <a:avLst/>
          </a:prstGeom>
          <a:solidFill>
            <a:srgbClr val="F2D4D4"/>
          </a:solidFill>
          <a:ln/>
        </p:spPr>
      </p:sp>
      <p:sp>
        <p:nvSpPr>
          <p:cNvPr id="77" name="Text 75"/>
          <p:cNvSpPr txBox="1"/>
          <p:nvPr/>
        </p:nvSpPr>
        <p:spPr>
          <a:xfrm>
            <a:off x="1572768" y="4160520"/>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NM</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a:t>
            </a:r>
            <a:endParaRPr lang="en-US" sz="1400" dirty="0"/>
          </a:p>
        </p:txBody>
      </p:sp>
      <p:sp>
        <p:nvSpPr>
          <p:cNvPr id="78" name="Shape 76"/>
          <p:cNvSpPr/>
          <p:nvPr/>
        </p:nvSpPr>
        <p:spPr>
          <a:xfrm>
            <a:off x="2084832" y="4160520"/>
            <a:ext cx="457200" cy="457200"/>
          </a:xfrm>
          <a:prstGeom prst="rect">
            <a:avLst/>
          </a:prstGeom>
          <a:solidFill>
            <a:srgbClr val="EDEBEB"/>
          </a:solidFill>
          <a:ln/>
        </p:spPr>
      </p:sp>
      <p:sp>
        <p:nvSpPr>
          <p:cNvPr id="79" name="Text 77"/>
          <p:cNvSpPr txBox="1"/>
          <p:nvPr/>
        </p:nvSpPr>
        <p:spPr>
          <a:xfrm>
            <a:off x="2084832"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KS</a:t>
            </a:r>
            <a:endParaRPr lang="en-US" sz="1400" dirty="0"/>
          </a:p>
        </p:txBody>
      </p:sp>
      <p:sp>
        <p:nvSpPr>
          <p:cNvPr id="80" name="Shape 78"/>
          <p:cNvSpPr/>
          <p:nvPr/>
        </p:nvSpPr>
        <p:spPr>
          <a:xfrm>
            <a:off x="2596896" y="4160520"/>
            <a:ext cx="457200" cy="457200"/>
          </a:xfrm>
          <a:prstGeom prst="rect">
            <a:avLst/>
          </a:prstGeom>
          <a:solidFill>
            <a:srgbClr val="EDEBEB"/>
          </a:solidFill>
          <a:ln/>
        </p:spPr>
      </p:sp>
      <p:sp>
        <p:nvSpPr>
          <p:cNvPr id="81" name="Text 79"/>
          <p:cNvSpPr txBox="1"/>
          <p:nvPr/>
        </p:nvSpPr>
        <p:spPr>
          <a:xfrm>
            <a:off x="2596896"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AR</a:t>
            </a:r>
            <a:endParaRPr lang="en-US" sz="1400" dirty="0"/>
          </a:p>
        </p:txBody>
      </p:sp>
      <p:sp>
        <p:nvSpPr>
          <p:cNvPr id="82" name="Shape 80"/>
          <p:cNvSpPr/>
          <p:nvPr/>
        </p:nvSpPr>
        <p:spPr>
          <a:xfrm>
            <a:off x="3108960" y="4160520"/>
            <a:ext cx="457200" cy="457200"/>
          </a:xfrm>
          <a:prstGeom prst="rect">
            <a:avLst/>
          </a:prstGeom>
          <a:solidFill>
            <a:srgbClr val="EDEBEB"/>
          </a:solidFill>
          <a:ln/>
        </p:spPr>
      </p:sp>
      <p:sp>
        <p:nvSpPr>
          <p:cNvPr id="83" name="Text 81"/>
          <p:cNvSpPr txBox="1"/>
          <p:nvPr/>
        </p:nvSpPr>
        <p:spPr>
          <a:xfrm>
            <a:off x="3108960" y="4160520"/>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TN</a:t>
            </a:r>
            <a:endParaRPr lang="en-US" sz="1400" dirty="0"/>
          </a:p>
        </p:txBody>
      </p:sp>
      <p:sp>
        <p:nvSpPr>
          <p:cNvPr id="84" name="Shape 82"/>
          <p:cNvSpPr/>
          <p:nvPr/>
        </p:nvSpPr>
        <p:spPr>
          <a:xfrm>
            <a:off x="3621024" y="4160520"/>
            <a:ext cx="457200" cy="457200"/>
          </a:xfrm>
          <a:prstGeom prst="rect">
            <a:avLst/>
          </a:prstGeom>
          <a:solidFill>
            <a:srgbClr val="F2D4D4"/>
          </a:solidFill>
          <a:ln/>
        </p:spPr>
      </p:sp>
      <p:sp>
        <p:nvSpPr>
          <p:cNvPr id="85" name="Text 83"/>
          <p:cNvSpPr txBox="1"/>
          <p:nvPr/>
        </p:nvSpPr>
        <p:spPr>
          <a:xfrm>
            <a:off x="3621024" y="4160520"/>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NC</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3</a:t>
            </a:r>
            <a:endParaRPr lang="en-US" sz="1400" dirty="0"/>
          </a:p>
        </p:txBody>
      </p:sp>
      <p:sp>
        <p:nvSpPr>
          <p:cNvPr id="86" name="Shape 84"/>
          <p:cNvSpPr/>
          <p:nvPr/>
        </p:nvSpPr>
        <p:spPr>
          <a:xfrm>
            <a:off x="4133088" y="4160520"/>
            <a:ext cx="457200" cy="457200"/>
          </a:xfrm>
          <a:prstGeom prst="rect">
            <a:avLst/>
          </a:prstGeom>
          <a:solidFill>
            <a:srgbClr val="F2D4D4"/>
          </a:solidFill>
          <a:ln/>
        </p:spPr>
      </p:sp>
      <p:sp>
        <p:nvSpPr>
          <p:cNvPr id="87" name="Text 85"/>
          <p:cNvSpPr txBox="1"/>
          <p:nvPr/>
        </p:nvSpPr>
        <p:spPr>
          <a:xfrm>
            <a:off x="4133088" y="4160520"/>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SC</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3</a:t>
            </a:r>
            <a:endParaRPr lang="en-US" sz="1400" dirty="0"/>
          </a:p>
        </p:txBody>
      </p:sp>
      <p:sp>
        <p:nvSpPr>
          <p:cNvPr id="88" name="Shape 86"/>
          <p:cNvSpPr/>
          <p:nvPr/>
        </p:nvSpPr>
        <p:spPr>
          <a:xfrm>
            <a:off x="4645152" y="4160520"/>
            <a:ext cx="457200" cy="457200"/>
          </a:xfrm>
          <a:prstGeom prst="rect">
            <a:avLst/>
          </a:prstGeom>
          <a:solidFill>
            <a:srgbClr val="D98C8C"/>
          </a:solidFill>
          <a:ln/>
        </p:spPr>
      </p:sp>
      <p:sp>
        <p:nvSpPr>
          <p:cNvPr id="89" name="Text 87"/>
          <p:cNvSpPr txBox="1"/>
          <p:nvPr/>
        </p:nvSpPr>
        <p:spPr>
          <a:xfrm>
            <a:off x="4645152" y="4160520"/>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DC</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11</a:t>
            </a:r>
            <a:endParaRPr lang="en-US" sz="1400" dirty="0"/>
          </a:p>
        </p:txBody>
      </p:sp>
      <p:sp>
        <p:nvSpPr>
          <p:cNvPr id="90" name="Shape 88"/>
          <p:cNvSpPr/>
          <p:nvPr/>
        </p:nvSpPr>
        <p:spPr>
          <a:xfrm>
            <a:off x="2084832" y="4672584"/>
            <a:ext cx="457200" cy="457200"/>
          </a:xfrm>
          <a:prstGeom prst="rect">
            <a:avLst/>
          </a:prstGeom>
          <a:solidFill>
            <a:srgbClr val="F2D4D4"/>
          </a:solidFill>
          <a:ln/>
        </p:spPr>
      </p:sp>
      <p:sp>
        <p:nvSpPr>
          <p:cNvPr id="91" name="Text 89"/>
          <p:cNvSpPr txBox="1"/>
          <p:nvPr/>
        </p:nvSpPr>
        <p:spPr>
          <a:xfrm>
            <a:off x="2084832" y="4672584"/>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OK</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3</a:t>
            </a:r>
            <a:endParaRPr lang="en-US" sz="1400" dirty="0"/>
          </a:p>
        </p:txBody>
      </p:sp>
      <p:sp>
        <p:nvSpPr>
          <p:cNvPr id="92" name="Shape 90"/>
          <p:cNvSpPr/>
          <p:nvPr/>
        </p:nvSpPr>
        <p:spPr>
          <a:xfrm>
            <a:off x="2596896" y="4672584"/>
            <a:ext cx="457200" cy="457200"/>
          </a:xfrm>
          <a:prstGeom prst="rect">
            <a:avLst/>
          </a:prstGeom>
          <a:solidFill>
            <a:srgbClr val="EDEBEB"/>
          </a:solidFill>
          <a:ln/>
        </p:spPr>
      </p:sp>
      <p:sp>
        <p:nvSpPr>
          <p:cNvPr id="93" name="Text 91"/>
          <p:cNvSpPr txBox="1"/>
          <p:nvPr/>
        </p:nvSpPr>
        <p:spPr>
          <a:xfrm>
            <a:off x="2596896"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LA</a:t>
            </a:r>
            <a:endParaRPr lang="en-US" sz="1400" dirty="0"/>
          </a:p>
        </p:txBody>
      </p:sp>
      <p:sp>
        <p:nvSpPr>
          <p:cNvPr id="94" name="Shape 92"/>
          <p:cNvSpPr/>
          <p:nvPr/>
        </p:nvSpPr>
        <p:spPr>
          <a:xfrm>
            <a:off x="3108960" y="4672584"/>
            <a:ext cx="457200" cy="457200"/>
          </a:xfrm>
          <a:prstGeom prst="rect">
            <a:avLst/>
          </a:prstGeom>
          <a:solidFill>
            <a:srgbClr val="EDEBEB"/>
          </a:solidFill>
          <a:ln/>
        </p:spPr>
      </p:sp>
      <p:sp>
        <p:nvSpPr>
          <p:cNvPr id="95" name="Text 93"/>
          <p:cNvSpPr txBox="1"/>
          <p:nvPr/>
        </p:nvSpPr>
        <p:spPr>
          <a:xfrm>
            <a:off x="3108960"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MS</a:t>
            </a:r>
            <a:endParaRPr lang="en-US" sz="1400" dirty="0"/>
          </a:p>
        </p:txBody>
      </p:sp>
      <p:sp>
        <p:nvSpPr>
          <p:cNvPr id="96" name="Shape 94"/>
          <p:cNvSpPr/>
          <p:nvPr/>
        </p:nvSpPr>
        <p:spPr>
          <a:xfrm>
            <a:off x="3621024" y="4672584"/>
            <a:ext cx="457200" cy="457200"/>
          </a:xfrm>
          <a:prstGeom prst="rect">
            <a:avLst/>
          </a:prstGeom>
          <a:solidFill>
            <a:srgbClr val="EDEBEB"/>
          </a:solidFill>
          <a:ln/>
        </p:spPr>
      </p:sp>
      <p:sp>
        <p:nvSpPr>
          <p:cNvPr id="97" name="Text 95"/>
          <p:cNvSpPr txBox="1"/>
          <p:nvPr/>
        </p:nvSpPr>
        <p:spPr>
          <a:xfrm>
            <a:off x="3621024" y="4672584"/>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AL</a:t>
            </a:r>
            <a:endParaRPr lang="en-US" sz="1400" dirty="0"/>
          </a:p>
        </p:txBody>
      </p:sp>
      <p:sp>
        <p:nvSpPr>
          <p:cNvPr id="98" name="Shape 96"/>
          <p:cNvSpPr/>
          <p:nvPr/>
        </p:nvSpPr>
        <p:spPr>
          <a:xfrm>
            <a:off x="4133088" y="4672584"/>
            <a:ext cx="457200" cy="457200"/>
          </a:xfrm>
          <a:prstGeom prst="rect">
            <a:avLst/>
          </a:prstGeom>
          <a:solidFill>
            <a:srgbClr val="F2D4D4"/>
          </a:solidFill>
          <a:ln/>
        </p:spPr>
      </p:sp>
      <p:sp>
        <p:nvSpPr>
          <p:cNvPr id="99" name="Text 97"/>
          <p:cNvSpPr txBox="1"/>
          <p:nvPr/>
        </p:nvSpPr>
        <p:spPr>
          <a:xfrm>
            <a:off x="4133088" y="4672584"/>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GA</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2</a:t>
            </a:r>
            <a:endParaRPr lang="en-US" sz="1400" dirty="0"/>
          </a:p>
        </p:txBody>
      </p:sp>
      <p:sp>
        <p:nvSpPr>
          <p:cNvPr id="100" name="Shape 98"/>
          <p:cNvSpPr/>
          <p:nvPr/>
        </p:nvSpPr>
        <p:spPr>
          <a:xfrm>
            <a:off x="548640" y="5184648"/>
            <a:ext cx="457200" cy="457200"/>
          </a:xfrm>
          <a:prstGeom prst="rect">
            <a:avLst/>
          </a:prstGeom>
          <a:solidFill>
            <a:srgbClr val="EDEBEB"/>
          </a:solidFill>
          <a:ln/>
        </p:spPr>
      </p:sp>
      <p:sp>
        <p:nvSpPr>
          <p:cNvPr id="101" name="Text 99"/>
          <p:cNvSpPr txBox="1"/>
          <p:nvPr/>
        </p:nvSpPr>
        <p:spPr>
          <a:xfrm>
            <a:off x="548640" y="5184648"/>
            <a:ext cx="457200" cy="457200"/>
          </a:xfrm>
          <a:prstGeom prst="rect">
            <a:avLst/>
          </a:prstGeom>
          <a:noFill/>
          <a:ln/>
        </p:spPr>
        <p:txBody>
          <a:bodyPr wrap="square" lIns="0" tIns="0" rIns="0" bIns="0" rtlCol="0" anchor="ctr"/>
          <a:lstStyle/>
          <a:p>
            <a:pPr algn="ctr" indent="0" marL="0">
              <a:buNone/>
            </a:pPr>
            <a:r>
              <a:rPr lang="en-US" sz="1100" b="1" dirty="0">
                <a:solidFill>
                  <a:srgbClr val="5E6A78"/>
                </a:solidFill>
                <a:latin typeface="Arial" pitchFamily="34" charset="0"/>
                <a:ea typeface="Arial" pitchFamily="34" charset="-122"/>
                <a:cs typeface="Arial" pitchFamily="34" charset="-120"/>
              </a:rPr>
              <a:t>HI</a:t>
            </a:r>
            <a:endParaRPr lang="en-US" sz="1400" dirty="0"/>
          </a:p>
        </p:txBody>
      </p:sp>
      <p:sp>
        <p:nvSpPr>
          <p:cNvPr id="102" name="Shape 100"/>
          <p:cNvSpPr/>
          <p:nvPr/>
        </p:nvSpPr>
        <p:spPr>
          <a:xfrm>
            <a:off x="2084832" y="5184648"/>
            <a:ext cx="457200" cy="457200"/>
          </a:xfrm>
          <a:prstGeom prst="rect">
            <a:avLst/>
          </a:prstGeom>
          <a:solidFill>
            <a:srgbClr val="B33A3A"/>
          </a:solidFill>
          <a:ln/>
        </p:spPr>
      </p:sp>
      <p:sp>
        <p:nvSpPr>
          <p:cNvPr id="103" name="Text 101"/>
          <p:cNvSpPr txBox="1"/>
          <p:nvPr/>
        </p:nvSpPr>
        <p:spPr>
          <a:xfrm>
            <a:off x="2084832" y="518464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TX</a:t>
            </a:r>
            <a:endParaRPr lang="en-US" sz="1400" dirty="0"/>
          </a:p>
          <a:p>
            <a:pPr algn="ctr" indent="0" marL="0">
              <a:buNone/>
            </a:pPr>
            <a:r>
              <a:rPr lang="en-US" sz="900" dirty="0">
                <a:solidFill>
                  <a:srgbClr val="FFFFFF"/>
                </a:solidFill>
                <a:latin typeface="Arial" pitchFamily="34" charset="0"/>
                <a:ea typeface="Arial" pitchFamily="34" charset="-122"/>
                <a:cs typeface="Arial" pitchFamily="34" charset="-120"/>
              </a:rPr>
              <a:t>34</a:t>
            </a:r>
            <a:endParaRPr lang="en-US" sz="1400" dirty="0"/>
          </a:p>
        </p:txBody>
      </p:sp>
      <p:sp>
        <p:nvSpPr>
          <p:cNvPr id="104" name="Shape 102"/>
          <p:cNvSpPr/>
          <p:nvPr/>
        </p:nvSpPr>
        <p:spPr>
          <a:xfrm>
            <a:off x="4645152" y="5184648"/>
            <a:ext cx="457200" cy="457200"/>
          </a:xfrm>
          <a:prstGeom prst="rect">
            <a:avLst/>
          </a:prstGeom>
          <a:solidFill>
            <a:srgbClr val="F2D4D4"/>
          </a:solidFill>
          <a:ln/>
        </p:spPr>
      </p:sp>
      <p:sp>
        <p:nvSpPr>
          <p:cNvPr id="105" name="Text 103"/>
          <p:cNvSpPr txBox="1"/>
          <p:nvPr/>
        </p:nvSpPr>
        <p:spPr>
          <a:xfrm>
            <a:off x="4645152" y="5184648"/>
            <a:ext cx="457200" cy="457200"/>
          </a:xfrm>
          <a:prstGeom prst="rect">
            <a:avLst/>
          </a:prstGeom>
          <a:noFill/>
          <a:ln/>
        </p:spPr>
        <p:txBody>
          <a:bodyPr wrap="square" lIns="0" tIns="0" rIns="0" bIns="0" rtlCol="0" anchor="ctr"/>
          <a:lstStyle/>
          <a:p>
            <a:pPr algn="ctr" indent="0" marL="0">
              <a:buNone/>
            </a:pPr>
            <a:r>
              <a:rPr lang="en-US" sz="1100" b="1" dirty="0">
                <a:solidFill>
                  <a:srgbClr val="243142"/>
                </a:solidFill>
                <a:latin typeface="Arial" pitchFamily="34" charset="0"/>
                <a:ea typeface="Arial" pitchFamily="34" charset="-122"/>
                <a:cs typeface="Arial" pitchFamily="34" charset="-120"/>
              </a:rPr>
              <a:t>FL</a:t>
            </a:r>
            <a:endParaRPr lang="en-US" sz="1400" dirty="0"/>
          </a:p>
          <a:p>
            <a:pPr algn="ctr" indent="0" marL="0">
              <a:buNone/>
            </a:pPr>
            <a:r>
              <a:rPr lang="en-US" sz="900" dirty="0">
                <a:solidFill>
                  <a:srgbClr val="243142"/>
                </a:solidFill>
                <a:latin typeface="Arial" pitchFamily="34" charset="0"/>
                <a:ea typeface="Arial" pitchFamily="34" charset="-122"/>
                <a:cs typeface="Arial" pitchFamily="34" charset="-120"/>
              </a:rPr>
              <a:t>1</a:t>
            </a:r>
            <a:endParaRPr lang="en-US" sz="1400" dirty="0"/>
          </a:p>
        </p:txBody>
      </p:sp>
      <p:sp>
        <p:nvSpPr>
          <p:cNvPr id="106" name="Text 104"/>
          <p:cNvSpPr txBox="1"/>
          <p:nvPr/>
        </p:nvSpPr>
        <p:spPr>
          <a:xfrm>
            <a:off x="548640" y="5788152"/>
            <a:ext cx="173736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Postings that state pay:</a:t>
            </a:r>
            <a:endParaRPr lang="en-US" sz="1100" dirty="0"/>
          </a:p>
        </p:txBody>
      </p:sp>
      <p:sp>
        <p:nvSpPr>
          <p:cNvPr id="107" name="Shape 105"/>
          <p:cNvSpPr/>
          <p:nvPr/>
        </p:nvSpPr>
        <p:spPr>
          <a:xfrm>
            <a:off x="2331720" y="5806440"/>
            <a:ext cx="201168" cy="201168"/>
          </a:xfrm>
          <a:prstGeom prst="rect">
            <a:avLst/>
          </a:prstGeom>
          <a:solidFill>
            <a:srgbClr val="F2D4D4"/>
          </a:solidFill>
          <a:ln/>
        </p:spPr>
      </p:sp>
      <p:sp>
        <p:nvSpPr>
          <p:cNvPr id="108" name="Text 106"/>
          <p:cNvSpPr txBox="1"/>
          <p:nvPr/>
        </p:nvSpPr>
        <p:spPr>
          <a:xfrm>
            <a:off x="2587752" y="5788152"/>
            <a:ext cx="73152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1–5</a:t>
            </a:r>
            <a:endParaRPr lang="en-US" sz="1100" dirty="0"/>
          </a:p>
        </p:txBody>
      </p:sp>
      <p:sp>
        <p:nvSpPr>
          <p:cNvPr id="109" name="Shape 107"/>
          <p:cNvSpPr/>
          <p:nvPr/>
        </p:nvSpPr>
        <p:spPr>
          <a:xfrm>
            <a:off x="3337560" y="5806440"/>
            <a:ext cx="201168" cy="201168"/>
          </a:xfrm>
          <a:prstGeom prst="rect">
            <a:avLst/>
          </a:prstGeom>
          <a:solidFill>
            <a:srgbClr val="D98C8C"/>
          </a:solidFill>
          <a:ln/>
        </p:spPr>
      </p:sp>
      <p:sp>
        <p:nvSpPr>
          <p:cNvPr id="110" name="Text 108"/>
          <p:cNvSpPr txBox="1"/>
          <p:nvPr/>
        </p:nvSpPr>
        <p:spPr>
          <a:xfrm>
            <a:off x="3593592" y="5788152"/>
            <a:ext cx="73152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6–20</a:t>
            </a:r>
            <a:endParaRPr lang="en-US" sz="1100" dirty="0"/>
          </a:p>
        </p:txBody>
      </p:sp>
      <p:sp>
        <p:nvSpPr>
          <p:cNvPr id="111" name="Shape 109"/>
          <p:cNvSpPr/>
          <p:nvPr/>
        </p:nvSpPr>
        <p:spPr>
          <a:xfrm>
            <a:off x="4343400" y="5806440"/>
            <a:ext cx="201168" cy="201168"/>
          </a:xfrm>
          <a:prstGeom prst="rect">
            <a:avLst/>
          </a:prstGeom>
          <a:solidFill>
            <a:srgbClr val="B33A3A"/>
          </a:solidFill>
          <a:ln/>
        </p:spPr>
      </p:sp>
      <p:sp>
        <p:nvSpPr>
          <p:cNvPr id="112" name="Text 110"/>
          <p:cNvSpPr txBox="1"/>
          <p:nvPr/>
        </p:nvSpPr>
        <p:spPr>
          <a:xfrm>
            <a:off x="4599432" y="5788152"/>
            <a:ext cx="73152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21–60</a:t>
            </a:r>
            <a:endParaRPr lang="en-US" sz="1100" dirty="0"/>
          </a:p>
        </p:txBody>
      </p:sp>
      <p:sp>
        <p:nvSpPr>
          <p:cNvPr id="113" name="Shape 111"/>
          <p:cNvSpPr/>
          <p:nvPr/>
        </p:nvSpPr>
        <p:spPr>
          <a:xfrm>
            <a:off x="5349240" y="5806440"/>
            <a:ext cx="201168" cy="201168"/>
          </a:xfrm>
          <a:prstGeom prst="rect">
            <a:avLst/>
          </a:prstGeom>
          <a:solidFill>
            <a:srgbClr val="7A0000"/>
          </a:solidFill>
          <a:ln/>
        </p:spPr>
      </p:sp>
      <p:sp>
        <p:nvSpPr>
          <p:cNvPr id="114" name="Text 112"/>
          <p:cNvSpPr txBox="1"/>
          <p:nvPr/>
        </p:nvSpPr>
        <p:spPr>
          <a:xfrm>
            <a:off x="5605272" y="5788152"/>
            <a:ext cx="731520" cy="237744"/>
          </a:xfrm>
          <a:prstGeom prst="rect">
            <a:avLst/>
          </a:prstGeom>
          <a:noFill/>
          <a:ln/>
        </p:spPr>
        <p:txBody>
          <a:bodyPr wrap="square" lIns="0" tIns="0" rIns="0" bIns="0" rtlCol="0" anchor="t"/>
          <a:lstStyle/>
          <a:p>
            <a:pPr indent="0" marL="0">
              <a:buNone/>
            </a:pPr>
            <a:r>
              <a:rPr lang="en-US" sz="1100" dirty="0">
                <a:solidFill>
                  <a:srgbClr val="243142"/>
                </a:solidFill>
                <a:latin typeface="Arial" pitchFamily="34" charset="0"/>
                <a:ea typeface="Arial" pitchFamily="34" charset="-122"/>
                <a:cs typeface="Arial" pitchFamily="34" charset="-120"/>
              </a:rPr>
              <a:t>61+</a:t>
            </a:r>
            <a:endParaRPr lang="en-US" sz="1100" dirty="0"/>
          </a:p>
        </p:txBody>
      </p:sp>
      <p:sp>
        <p:nvSpPr>
          <p:cNvPr id="115" name="Text 113"/>
          <p:cNvSpPr txBox="1"/>
          <p:nvPr/>
        </p:nvSpPr>
        <p:spPr>
          <a:xfrm>
            <a:off x="548640" y="6080760"/>
            <a:ext cx="5760720" cy="237744"/>
          </a:xfrm>
          <a:prstGeom prst="rect">
            <a:avLst/>
          </a:prstGeom>
          <a:noFill/>
          <a:ln/>
        </p:spPr>
        <p:txBody>
          <a:bodyPr wrap="square" lIns="0" tIns="0" rIns="0" bIns="0" rtlCol="0" anchor="t"/>
          <a:lstStyle/>
          <a:p>
            <a:pPr indent="0" marL="0">
              <a:buNone/>
            </a:pPr>
            <a:r>
              <a:rPr lang="en-US" sz="1100" dirty="0">
                <a:solidFill>
                  <a:srgbClr val="5E6A78"/>
                </a:solidFill>
                <a:latin typeface="Arial" pitchFamily="34" charset="0"/>
                <a:ea typeface="Arial" pitchFamily="34" charset="-122"/>
                <a:cs typeface="Arial" pitchFamily="34" charset="-120"/>
              </a:rPr>
              <a:t>Plus 45 nationwide-remote postings with no single state.</a:t>
            </a:r>
            <a:endParaRPr lang="en-US" sz="1100" dirty="0"/>
          </a:p>
        </p:txBody>
      </p:sp>
      <p:sp>
        <p:nvSpPr>
          <p:cNvPr id="116" name="Shape 114"/>
          <p:cNvSpPr/>
          <p:nvPr/>
        </p:nvSpPr>
        <p:spPr>
          <a:xfrm>
            <a:off x="6720840" y="1600200"/>
            <a:ext cx="1549298" cy="1143000"/>
          </a:xfrm>
          <a:prstGeom prst="rect">
            <a:avLst/>
          </a:prstGeom>
          <a:solidFill>
            <a:srgbClr val="EDEBEB"/>
          </a:solidFill>
          <a:ln/>
        </p:spPr>
      </p:sp>
      <p:sp>
        <p:nvSpPr>
          <p:cNvPr id="117" name="Text 115"/>
          <p:cNvSpPr txBox="1"/>
          <p:nvPr/>
        </p:nvSpPr>
        <p:spPr>
          <a:xfrm>
            <a:off x="6720840" y="1664208"/>
            <a:ext cx="1549298" cy="566928"/>
          </a:xfrm>
          <a:prstGeom prst="rect">
            <a:avLst/>
          </a:prstGeom>
          <a:noFill/>
          <a:ln/>
        </p:spPr>
        <p:txBody>
          <a:bodyPr wrap="square" lIns="0" tIns="0" rIns="0" bIns="0" rtlCol="0" anchor="ctr"/>
          <a:lstStyle/>
          <a:p>
            <a:pPr algn="ctr" indent="0" marL="0">
              <a:buNone/>
            </a:pPr>
            <a:r>
              <a:rPr lang="en-US" sz="2800" b="1" dirty="0">
                <a:solidFill>
                  <a:srgbClr val="990000"/>
                </a:solidFill>
                <a:latin typeface="Cambria" pitchFamily="34" charset="0"/>
                <a:ea typeface="Cambria" pitchFamily="34" charset="-122"/>
                <a:cs typeface="Cambria" pitchFamily="34" charset="-120"/>
              </a:rPr>
              <a:t>543</a:t>
            </a:r>
            <a:endParaRPr lang="en-US" sz="2800" dirty="0"/>
          </a:p>
        </p:txBody>
      </p:sp>
      <p:sp>
        <p:nvSpPr>
          <p:cNvPr id="118" name="Text 116"/>
          <p:cNvSpPr txBox="1"/>
          <p:nvPr/>
        </p:nvSpPr>
        <p:spPr>
          <a:xfrm>
            <a:off x="6793992" y="2231136"/>
            <a:ext cx="1402994" cy="457200"/>
          </a:xfrm>
          <a:prstGeom prst="rect">
            <a:avLst/>
          </a:prstGeom>
          <a:noFill/>
          <a:ln/>
        </p:spPr>
        <p:txBody>
          <a:bodyPr wrap="square" lIns="0" tIns="0" rIns="0" bIns="0" rtlCol="0" anchor="t"/>
          <a:lstStyle/>
          <a:p>
            <a:pPr algn="ctr" indent="0" marL="0">
              <a:buNone/>
            </a:pPr>
            <a:r>
              <a:rPr lang="en-US" sz="1100" dirty="0">
                <a:solidFill>
                  <a:srgbClr val="243142"/>
                </a:solidFill>
                <a:latin typeface="Arial" pitchFamily="34" charset="0"/>
                <a:ea typeface="Arial" pitchFamily="34" charset="-122"/>
                <a:cs typeface="Arial" pitchFamily="34" charset="-120"/>
              </a:rPr>
              <a:t>postings state pay</a:t>
            </a:r>
            <a:endParaRPr lang="en-US" sz="1100" dirty="0"/>
          </a:p>
        </p:txBody>
      </p:sp>
      <p:sp>
        <p:nvSpPr>
          <p:cNvPr id="119" name="Shape 117"/>
          <p:cNvSpPr/>
          <p:nvPr/>
        </p:nvSpPr>
        <p:spPr>
          <a:xfrm>
            <a:off x="8407298" y="1600200"/>
            <a:ext cx="1549298" cy="1143000"/>
          </a:xfrm>
          <a:prstGeom prst="rect">
            <a:avLst/>
          </a:prstGeom>
          <a:solidFill>
            <a:srgbClr val="EDEBEB"/>
          </a:solidFill>
          <a:ln/>
        </p:spPr>
      </p:sp>
      <p:sp>
        <p:nvSpPr>
          <p:cNvPr id="120" name="Text 118"/>
          <p:cNvSpPr txBox="1"/>
          <p:nvPr/>
        </p:nvSpPr>
        <p:spPr>
          <a:xfrm>
            <a:off x="8407298" y="1664208"/>
            <a:ext cx="1549298" cy="566928"/>
          </a:xfrm>
          <a:prstGeom prst="rect">
            <a:avLst/>
          </a:prstGeom>
          <a:noFill/>
          <a:ln/>
        </p:spPr>
        <p:txBody>
          <a:bodyPr wrap="square" lIns="0" tIns="0" rIns="0" bIns="0" rtlCol="0" anchor="ctr"/>
          <a:lstStyle/>
          <a:p>
            <a:pPr algn="ctr" indent="0" marL="0">
              <a:buNone/>
            </a:pPr>
            <a:r>
              <a:rPr lang="en-US" sz="2800" b="1" dirty="0">
                <a:solidFill>
                  <a:srgbClr val="990000"/>
                </a:solidFill>
                <a:latin typeface="Cambria" pitchFamily="34" charset="0"/>
                <a:ea typeface="Cambria" pitchFamily="34" charset="-122"/>
                <a:cs typeface="Cambria" pitchFamily="34" charset="-120"/>
              </a:rPr>
              <a:t>100</a:t>
            </a:r>
            <a:endParaRPr lang="en-US" sz="2800" dirty="0"/>
          </a:p>
        </p:txBody>
      </p:sp>
      <p:sp>
        <p:nvSpPr>
          <p:cNvPr id="121" name="Text 119"/>
          <p:cNvSpPr txBox="1"/>
          <p:nvPr/>
        </p:nvSpPr>
        <p:spPr>
          <a:xfrm>
            <a:off x="8480450" y="2231136"/>
            <a:ext cx="1402994" cy="457200"/>
          </a:xfrm>
          <a:prstGeom prst="rect">
            <a:avLst/>
          </a:prstGeom>
          <a:noFill/>
          <a:ln/>
        </p:spPr>
        <p:txBody>
          <a:bodyPr wrap="square" lIns="0" tIns="0" rIns="0" bIns="0" rtlCol="0" anchor="t"/>
          <a:lstStyle/>
          <a:p>
            <a:pPr algn="ctr" indent="0" marL="0">
              <a:buNone/>
            </a:pPr>
            <a:r>
              <a:rPr lang="en-US" sz="1100" dirty="0">
                <a:solidFill>
                  <a:srgbClr val="243142"/>
                </a:solidFill>
                <a:latin typeface="Arial" pitchFamily="34" charset="0"/>
                <a:ea typeface="Arial" pitchFamily="34" charset="-122"/>
                <a:cs typeface="Arial" pitchFamily="34" charset="-120"/>
              </a:rPr>
              <a:t>employers (clusters)</a:t>
            </a:r>
            <a:endParaRPr lang="en-US" sz="1100" dirty="0"/>
          </a:p>
        </p:txBody>
      </p:sp>
      <p:sp>
        <p:nvSpPr>
          <p:cNvPr id="122" name="Shape 120"/>
          <p:cNvSpPr/>
          <p:nvPr/>
        </p:nvSpPr>
        <p:spPr>
          <a:xfrm>
            <a:off x="10093757" y="1600200"/>
            <a:ext cx="1549298" cy="1143000"/>
          </a:xfrm>
          <a:prstGeom prst="rect">
            <a:avLst/>
          </a:prstGeom>
          <a:solidFill>
            <a:srgbClr val="F6E3E3"/>
          </a:solidFill>
          <a:ln/>
        </p:spPr>
      </p:sp>
      <p:sp>
        <p:nvSpPr>
          <p:cNvPr id="123" name="Text 121"/>
          <p:cNvSpPr txBox="1"/>
          <p:nvPr/>
        </p:nvSpPr>
        <p:spPr>
          <a:xfrm>
            <a:off x="10093757" y="1664208"/>
            <a:ext cx="1549298" cy="566928"/>
          </a:xfrm>
          <a:prstGeom prst="rect">
            <a:avLst/>
          </a:prstGeom>
          <a:noFill/>
          <a:ln/>
        </p:spPr>
        <p:txBody>
          <a:bodyPr wrap="square" lIns="0" tIns="0" rIns="0" bIns="0" rtlCol="0" anchor="ctr"/>
          <a:lstStyle/>
          <a:p>
            <a:pPr algn="ctr" indent="0" marL="0">
              <a:buNone/>
            </a:pPr>
            <a:r>
              <a:rPr lang="en-US" sz="2800" b="1" dirty="0">
                <a:solidFill>
                  <a:srgbClr val="990000"/>
                </a:solidFill>
                <a:latin typeface="Cambria" pitchFamily="34" charset="0"/>
                <a:ea typeface="Cambria" pitchFamily="34" charset="-122"/>
                <a:cs typeface="Cambria" pitchFamily="34" charset="-120"/>
              </a:rPr>
              <a:t>9.0%</a:t>
            </a:r>
            <a:endParaRPr lang="en-US" sz="2800" dirty="0"/>
          </a:p>
        </p:txBody>
      </p:sp>
      <p:sp>
        <p:nvSpPr>
          <p:cNvPr id="124" name="Text 122"/>
          <p:cNvSpPr txBox="1"/>
          <p:nvPr/>
        </p:nvSpPr>
        <p:spPr>
          <a:xfrm>
            <a:off x="10166909" y="2231136"/>
            <a:ext cx="1402994" cy="457200"/>
          </a:xfrm>
          <a:prstGeom prst="rect">
            <a:avLst/>
          </a:prstGeom>
          <a:noFill/>
          <a:ln/>
        </p:spPr>
        <p:txBody>
          <a:bodyPr wrap="square" lIns="0" tIns="0" rIns="0" bIns="0" rtlCol="0" anchor="t"/>
          <a:lstStyle/>
          <a:p>
            <a:pPr algn="ctr" indent="0" marL="0">
              <a:buNone/>
            </a:pPr>
            <a:r>
              <a:rPr lang="en-US" sz="1100" dirty="0">
                <a:solidFill>
                  <a:srgbClr val="243142"/>
                </a:solidFill>
                <a:latin typeface="Arial" pitchFamily="34" charset="0"/>
                <a:ea typeface="Arial" pitchFamily="34" charset="-122"/>
                <a:cs typeface="Arial" pitchFamily="34" charset="-120"/>
              </a:rPr>
              <a:t>largest: Crusoe (49)</a:t>
            </a:r>
            <a:endParaRPr lang="en-US" sz="1100" dirty="0"/>
          </a:p>
        </p:txBody>
      </p:sp>
      <p:graphicFrame>
        <p:nvGraphicFramePr>
          <p:cNvPr id="125" name="Chart 0" descr=""/>
          <p:cNvGraphicFramePr/>
          <p:nvPr/>
        </p:nvGraphicFramePr>
        <p:xfrm>
          <a:off x="6720840" y="2926080"/>
          <a:ext cx="4922215" cy="29260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EMPIRICAL STRATEGY</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Two models: what predicts pay, and what predicts stating it</a:t>
            </a:r>
            <a:endParaRPr lang="en-US" sz="2600" dirty="0"/>
          </a:p>
        </p:txBody>
      </p:sp>
      <p:sp>
        <p:nvSpPr>
          <p:cNvPr id="4" name="Shape 2"/>
          <p:cNvSpPr/>
          <p:nvPr/>
        </p:nvSpPr>
        <p:spPr>
          <a:xfrm>
            <a:off x="548640" y="1554480"/>
            <a:ext cx="5410048" cy="1920240"/>
          </a:xfrm>
          <a:prstGeom prst="rect">
            <a:avLst/>
          </a:prstGeom>
          <a:solidFill>
            <a:srgbClr val="EDEBEB"/>
          </a:solidFill>
          <a:ln/>
        </p:spPr>
      </p:sp>
      <p:sp>
        <p:nvSpPr>
          <p:cNvPr id="5" name="Text 3"/>
          <p:cNvSpPr txBox="1"/>
          <p:nvPr/>
        </p:nvSpPr>
        <p:spPr>
          <a:xfrm>
            <a:off x="822960" y="1691640"/>
            <a:ext cx="4861408" cy="320040"/>
          </a:xfrm>
          <a:prstGeom prst="rect">
            <a:avLst/>
          </a:prstGeom>
          <a:noFill/>
          <a:ln/>
        </p:spPr>
        <p:txBody>
          <a:bodyPr wrap="square" lIns="0" tIns="0" rIns="0" bIns="0" rtlCol="0" anchor="t"/>
          <a:lstStyle/>
          <a:p>
            <a:pPr indent="0" marL="0">
              <a:buNone/>
            </a:pPr>
            <a:r>
              <a:rPr lang="en-US" sz="1400" b="1" dirty="0">
                <a:solidFill>
                  <a:srgbClr val="6B0000"/>
                </a:solidFill>
                <a:latin typeface="Arial" pitchFamily="34" charset="0"/>
                <a:ea typeface="Arial" pitchFamily="34" charset="-122"/>
                <a:cs typeface="Arial" pitchFamily="34" charset="-120"/>
              </a:rPr>
              <a:t>Pay model  ·  N = 543 postings that state pay</a:t>
            </a:r>
            <a:endParaRPr lang="en-US" sz="1400" dirty="0"/>
          </a:p>
        </p:txBody>
      </p:sp>
      <p:sp>
        <p:nvSpPr>
          <p:cNvPr id="6" name="Text 4"/>
          <p:cNvSpPr txBox="1"/>
          <p:nvPr/>
        </p:nvSpPr>
        <p:spPr>
          <a:xfrm>
            <a:off x="822960" y="2103120"/>
            <a:ext cx="4861408" cy="640080"/>
          </a:xfrm>
          <a:prstGeom prst="rect">
            <a:avLst/>
          </a:prstGeom>
          <a:noFill/>
          <a:ln/>
        </p:spPr>
        <p:txBody>
          <a:bodyPr wrap="square" lIns="0" tIns="0" rIns="0" bIns="0" rtlCol="0" anchor="ctr"/>
          <a:lstStyle/>
          <a:p>
            <a:pPr indent="0" marL="0">
              <a:buNone/>
            </a:pPr>
            <a:r>
              <a:rPr lang="en-US" sz="1700" dirty="0">
                <a:solidFill>
                  <a:srgbClr val="243142"/>
                </a:solidFill>
                <a:latin typeface="Cambria" pitchFamily="34" charset="0"/>
                <a:ea typeface="Cambria" pitchFamily="34" charset="-122"/>
                <a:cs typeface="Cambria" pitchFamily="34" charset="-120"/>
              </a:rPr>
              <a:t>ln(</a:t>
            </a:r>
            <a:pPr indent="0" marL="0">
              <a:buNone/>
            </a:pPr>
            <a:r>
              <a:rPr lang="en-US" sz="1700" i="1" dirty="0">
                <a:solidFill>
                  <a:srgbClr val="243142"/>
                </a:solidFill>
                <a:latin typeface="Cambria" pitchFamily="34" charset="0"/>
                <a:ea typeface="Cambria" pitchFamily="34" charset="-122"/>
                <a:cs typeface="Cambria" pitchFamily="34" charset="-120"/>
              </a:rPr>
              <a:t>Pay</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 = α + β</a:t>
            </a:r>
            <a:pPr indent="0" marL="0">
              <a:buNone/>
            </a:pPr>
            <a:r>
              <a:rPr lang="en-US" sz="1700" baseline="-40000" dirty="0">
                <a:solidFill>
                  <a:srgbClr val="243142"/>
                </a:solidFill>
                <a:latin typeface="Cambria" pitchFamily="34" charset="0"/>
                <a:ea typeface="Cambria" pitchFamily="34" charset="-122"/>
                <a:cs typeface="Cambria" pitchFamily="34" charset="-120"/>
              </a:rPr>
              <a:t>1</a:t>
            </a:r>
            <a:pPr indent="0" marL="0">
              <a:buNone/>
            </a:pPr>
            <a:r>
              <a:rPr lang="en-US" sz="1700" i="1" dirty="0">
                <a:solidFill>
                  <a:srgbClr val="243142"/>
                </a:solidFill>
                <a:latin typeface="Cambria" pitchFamily="34" charset="0"/>
                <a:ea typeface="Cambria" pitchFamily="34" charset="-122"/>
                <a:cs typeface="Cambria" pitchFamily="34" charset="-120"/>
              </a:rPr>
              <a:t> Seniority</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 + β</a:t>
            </a:r>
            <a:pPr indent="0" marL="0">
              <a:buNone/>
            </a:pPr>
            <a:r>
              <a:rPr lang="en-US" sz="1700" baseline="-40000" dirty="0">
                <a:solidFill>
                  <a:srgbClr val="243142"/>
                </a:solidFill>
                <a:latin typeface="Cambria" pitchFamily="34" charset="0"/>
                <a:ea typeface="Cambria" pitchFamily="34" charset="-122"/>
                <a:cs typeface="Cambria" pitchFamily="34" charset="-120"/>
              </a:rPr>
              <a:t>2</a:t>
            </a:r>
            <a:pPr indent="0" marL="0">
              <a:buNone/>
            </a:pPr>
            <a:r>
              <a:rPr lang="en-US" sz="1700" i="1" dirty="0">
                <a:solidFill>
                  <a:srgbClr val="243142"/>
                </a:solidFill>
                <a:latin typeface="Cambria" pitchFamily="34" charset="0"/>
                <a:ea typeface="Cambria" pitchFamily="34" charset="-122"/>
                <a:cs typeface="Cambria" pitchFamily="34" charset="-120"/>
              </a:rPr>
              <a:t> Experience</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 + </a:t>
            </a:r>
            <a:pPr indent="0" marL="0">
              <a:buNone/>
            </a:pPr>
            <a:r>
              <a:rPr lang="en-US" sz="1700" i="1" dirty="0">
                <a:solidFill>
                  <a:srgbClr val="243142"/>
                </a:solidFill>
                <a:latin typeface="Cambria" pitchFamily="34" charset="0"/>
                <a:ea typeface="Cambria" pitchFamily="34" charset="-122"/>
                <a:cs typeface="Cambria" pitchFamily="34" charset="-120"/>
              </a:rPr>
              <a:t>X</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′γ + ε</a:t>
            </a:r>
            <a:pPr indent="0" marL="0">
              <a:buNone/>
            </a:pPr>
            <a:r>
              <a:rPr lang="en-US" sz="1700" baseline="-40000" dirty="0">
                <a:solidFill>
                  <a:srgbClr val="243142"/>
                </a:solidFill>
                <a:latin typeface="Cambria" pitchFamily="34" charset="0"/>
                <a:ea typeface="Cambria" pitchFamily="34" charset="-122"/>
                <a:cs typeface="Cambria" pitchFamily="34" charset="-120"/>
              </a:rPr>
              <a:t>ij</a:t>
            </a:r>
            <a:endParaRPr lang="en-US" sz="1700" dirty="0"/>
          </a:p>
        </p:txBody>
      </p:sp>
      <p:sp>
        <p:nvSpPr>
          <p:cNvPr id="7" name="Text 5"/>
          <p:cNvSpPr txBox="1"/>
          <p:nvPr/>
        </p:nvSpPr>
        <p:spPr>
          <a:xfrm>
            <a:off x="822960" y="2788920"/>
            <a:ext cx="4861408" cy="640080"/>
          </a:xfrm>
          <a:prstGeom prst="rect">
            <a:avLst/>
          </a:prstGeom>
          <a:noFill/>
          <a:ln/>
        </p:spPr>
        <p:txBody>
          <a:bodyPr wrap="square" lIns="0" tIns="0" rIns="0" bIns="0" rtlCol="0" anchor="t"/>
          <a:lstStyle/>
          <a:p>
            <a:pPr indent="0" marL="0">
              <a:buNone/>
            </a:pPr>
            <a:r>
              <a:rPr lang="en-US" sz="1200" dirty="0">
                <a:solidFill>
                  <a:srgbClr val="243142"/>
                </a:solidFill>
                <a:latin typeface="Arial" pitchFamily="34" charset="0"/>
                <a:ea typeface="Arial" pitchFamily="34" charset="-122"/>
                <a:cs typeface="Arial" pitchFamily="34" charset="-120"/>
              </a:rPr>
              <a:t>Pay is the midpoint of the advertised range, in annual US dollars. X: degree, skills, region, mandate, industry, role family (15 regressors in all).</a:t>
            </a:r>
            <a:endParaRPr lang="en-US" sz="1200" dirty="0"/>
          </a:p>
        </p:txBody>
      </p:sp>
      <p:sp>
        <p:nvSpPr>
          <p:cNvPr id="8" name="Shape 6"/>
          <p:cNvSpPr/>
          <p:nvPr/>
        </p:nvSpPr>
        <p:spPr>
          <a:xfrm>
            <a:off x="6233008" y="1554480"/>
            <a:ext cx="5410048" cy="1920240"/>
          </a:xfrm>
          <a:prstGeom prst="rect">
            <a:avLst/>
          </a:prstGeom>
          <a:solidFill>
            <a:srgbClr val="EDEBEB"/>
          </a:solidFill>
          <a:ln/>
        </p:spPr>
      </p:sp>
      <p:sp>
        <p:nvSpPr>
          <p:cNvPr id="9" name="Text 7"/>
          <p:cNvSpPr txBox="1"/>
          <p:nvPr/>
        </p:nvSpPr>
        <p:spPr>
          <a:xfrm>
            <a:off x="6507328" y="1691640"/>
            <a:ext cx="4861408" cy="320040"/>
          </a:xfrm>
          <a:prstGeom prst="rect">
            <a:avLst/>
          </a:prstGeom>
          <a:noFill/>
          <a:ln/>
        </p:spPr>
        <p:txBody>
          <a:bodyPr wrap="square" lIns="0" tIns="0" rIns="0" bIns="0" rtlCol="0" anchor="t"/>
          <a:lstStyle/>
          <a:p>
            <a:pPr indent="0" marL="0">
              <a:buNone/>
            </a:pPr>
            <a:r>
              <a:rPr lang="en-US" sz="1400" b="1" dirty="0">
                <a:solidFill>
                  <a:srgbClr val="6B0000"/>
                </a:solidFill>
                <a:latin typeface="Arial" pitchFamily="34" charset="0"/>
                <a:ea typeface="Arial" pitchFamily="34" charset="-122"/>
                <a:cs typeface="Arial" pitchFamily="34" charset="-120"/>
              </a:rPr>
              <a:t>Disclosure model  ·  N = 729 in-scope postings</a:t>
            </a:r>
            <a:endParaRPr lang="en-US" sz="1400" dirty="0"/>
          </a:p>
        </p:txBody>
      </p:sp>
      <p:sp>
        <p:nvSpPr>
          <p:cNvPr id="10" name="Text 8"/>
          <p:cNvSpPr txBox="1"/>
          <p:nvPr/>
        </p:nvSpPr>
        <p:spPr>
          <a:xfrm>
            <a:off x="6507328" y="2103120"/>
            <a:ext cx="4861408" cy="640080"/>
          </a:xfrm>
          <a:prstGeom prst="rect">
            <a:avLst/>
          </a:prstGeom>
          <a:noFill/>
          <a:ln/>
        </p:spPr>
        <p:txBody>
          <a:bodyPr wrap="square" lIns="0" tIns="0" rIns="0" bIns="0" rtlCol="0" anchor="ctr"/>
          <a:lstStyle/>
          <a:p>
            <a:pPr indent="0" marL="0">
              <a:buNone/>
            </a:pPr>
            <a:r>
              <a:rPr lang="en-US" sz="1700" dirty="0">
                <a:solidFill>
                  <a:srgbClr val="243142"/>
                </a:solidFill>
                <a:latin typeface="Cambria" pitchFamily="34" charset="0"/>
                <a:ea typeface="Cambria" pitchFamily="34" charset="-122"/>
                <a:cs typeface="Cambria" pitchFamily="34" charset="-120"/>
              </a:rPr>
              <a:t>Pr(</a:t>
            </a:r>
            <a:pPr indent="0" marL="0">
              <a:buNone/>
            </a:pPr>
            <a:r>
              <a:rPr lang="en-US" sz="1700" i="1" dirty="0">
                <a:solidFill>
                  <a:srgbClr val="243142"/>
                </a:solidFill>
                <a:latin typeface="Cambria" pitchFamily="34" charset="0"/>
                <a:ea typeface="Cambria" pitchFamily="34" charset="-122"/>
                <a:cs typeface="Cambria" pitchFamily="34" charset="-120"/>
              </a:rPr>
              <a:t>Pay stated</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 = δ + θ </a:t>
            </a:r>
            <a:pPr indent="0" marL="0">
              <a:buNone/>
            </a:pPr>
            <a:r>
              <a:rPr lang="en-US" sz="1700" i="1" dirty="0">
                <a:solidFill>
                  <a:srgbClr val="243142"/>
                </a:solidFill>
                <a:latin typeface="Cambria" pitchFamily="34" charset="0"/>
                <a:ea typeface="Cambria" pitchFamily="34" charset="-122"/>
                <a:cs typeface="Cambria" pitchFamily="34" charset="-120"/>
              </a:rPr>
              <a:t>Mandate</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 + </a:t>
            </a:r>
            <a:pPr indent="0" marL="0">
              <a:buNone/>
            </a:pPr>
            <a:r>
              <a:rPr lang="en-US" sz="1700" i="1" dirty="0">
                <a:solidFill>
                  <a:srgbClr val="243142"/>
                </a:solidFill>
                <a:latin typeface="Cambria" pitchFamily="34" charset="0"/>
                <a:ea typeface="Cambria" pitchFamily="34" charset="-122"/>
                <a:cs typeface="Cambria" pitchFamily="34" charset="-120"/>
              </a:rPr>
              <a:t>Z</a:t>
            </a:r>
            <a:pPr indent="0" marL="0">
              <a:buNone/>
            </a:pPr>
            <a:r>
              <a:rPr lang="en-US" sz="1700" baseline="-40000" dirty="0">
                <a:solidFill>
                  <a:srgbClr val="243142"/>
                </a:solidFill>
                <a:latin typeface="Cambria" pitchFamily="34" charset="0"/>
                <a:ea typeface="Cambria" pitchFamily="34" charset="-122"/>
                <a:cs typeface="Cambria" pitchFamily="34" charset="-120"/>
              </a:rPr>
              <a:t>ij</a:t>
            </a:r>
            <a:pPr indent="0" marL="0">
              <a:buNone/>
            </a:pPr>
            <a:r>
              <a:rPr lang="en-US" sz="1700" dirty="0">
                <a:solidFill>
                  <a:srgbClr val="243142"/>
                </a:solidFill>
                <a:latin typeface="Cambria" pitchFamily="34" charset="0"/>
                <a:ea typeface="Cambria" pitchFamily="34" charset="-122"/>
                <a:cs typeface="Cambria" pitchFamily="34" charset="-120"/>
              </a:rPr>
              <a:t>′λ + u</a:t>
            </a:r>
            <a:pPr indent="0" marL="0">
              <a:buNone/>
            </a:pPr>
            <a:r>
              <a:rPr lang="en-US" sz="1700" baseline="-40000" dirty="0">
                <a:solidFill>
                  <a:srgbClr val="243142"/>
                </a:solidFill>
                <a:latin typeface="Cambria" pitchFamily="34" charset="0"/>
                <a:ea typeface="Cambria" pitchFamily="34" charset="-122"/>
                <a:cs typeface="Cambria" pitchFamily="34" charset="-120"/>
              </a:rPr>
              <a:t>ij</a:t>
            </a:r>
            <a:endParaRPr lang="en-US" sz="1700" dirty="0"/>
          </a:p>
        </p:txBody>
      </p:sp>
      <p:sp>
        <p:nvSpPr>
          <p:cNvPr id="11" name="Text 9"/>
          <p:cNvSpPr txBox="1"/>
          <p:nvPr/>
        </p:nvSpPr>
        <p:spPr>
          <a:xfrm>
            <a:off x="6507328" y="2788920"/>
            <a:ext cx="4861408" cy="640080"/>
          </a:xfrm>
          <a:prstGeom prst="rect">
            <a:avLst/>
          </a:prstGeom>
          <a:noFill/>
          <a:ln/>
        </p:spPr>
        <p:txBody>
          <a:bodyPr wrap="square" lIns="0" tIns="0" rIns="0" bIns="0" rtlCol="0" anchor="t"/>
          <a:lstStyle/>
          <a:p>
            <a:pPr indent="0" marL="0">
              <a:buNone/>
            </a:pPr>
            <a:r>
              <a:rPr lang="en-US" sz="1200" dirty="0">
                <a:solidFill>
                  <a:srgbClr val="243142"/>
                </a:solidFill>
                <a:latin typeface="Arial" pitchFamily="34" charset="0"/>
                <a:ea typeface="Arial" pitchFamily="34" charset="-122"/>
                <a:cs typeface="Arial" pitchFamily="34" charset="-120"/>
              </a:rPr>
              <a:t>A linear probability model. Z controls for seniority, remote eligibility, data-center operator and census region.</a:t>
            </a:r>
            <a:endParaRPr lang="en-US" sz="1200" dirty="0"/>
          </a:p>
        </p:txBody>
      </p:sp>
      <p:sp>
        <p:nvSpPr>
          <p:cNvPr id="12" name="Shape 10"/>
          <p:cNvSpPr/>
          <p:nvPr/>
        </p:nvSpPr>
        <p:spPr>
          <a:xfrm>
            <a:off x="548640" y="3840480"/>
            <a:ext cx="420624" cy="420624"/>
          </a:xfrm>
          <a:prstGeom prst="ellipse">
            <a:avLst/>
          </a:prstGeom>
          <a:solidFill>
            <a:srgbClr val="990000"/>
          </a:solidFill>
          <a:ln/>
        </p:spPr>
      </p:sp>
      <p:sp>
        <p:nvSpPr>
          <p:cNvPr id="13" name="Text 11"/>
          <p:cNvSpPr txBox="1"/>
          <p:nvPr/>
        </p:nvSpPr>
        <p:spPr>
          <a:xfrm>
            <a:off x="548640" y="38404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4" name="Shape 12"/>
          <p:cNvSpPr/>
          <p:nvPr/>
        </p:nvSpPr>
        <p:spPr>
          <a:xfrm>
            <a:off x="1060704" y="4050792"/>
            <a:ext cx="2218106" cy="0"/>
          </a:xfrm>
          <a:prstGeom prst="line">
            <a:avLst/>
          </a:prstGeom>
          <a:noFill/>
          <a:ln w="19050">
            <a:solidFill>
              <a:srgbClr val="D4D6D9"/>
            </a:solidFill>
            <a:prstDash val="solid"/>
          </a:ln>
        </p:spPr>
      </p:sp>
      <p:sp>
        <p:nvSpPr>
          <p:cNvPr id="15" name="Text 13"/>
          <p:cNvSpPr txBox="1"/>
          <p:nvPr/>
        </p:nvSpPr>
        <p:spPr>
          <a:xfrm>
            <a:off x="548640" y="4407408"/>
            <a:ext cx="2602154" cy="292608"/>
          </a:xfrm>
          <a:prstGeom prst="rect">
            <a:avLst/>
          </a:prstGeom>
          <a:noFill/>
          <a:ln/>
        </p:spPr>
        <p:txBody>
          <a:bodyPr wrap="square" lIns="0" tIns="0" rIns="0" bIns="0" rtlCol="0" anchor="t"/>
          <a:lstStyle/>
          <a:p>
            <a:pPr indent="0" marL="0">
              <a:buNone/>
            </a:pPr>
            <a:r>
              <a:rPr lang="en-US" sz="1400" b="1" dirty="0">
                <a:solidFill>
                  <a:srgbClr val="243142"/>
                </a:solidFill>
                <a:latin typeface="Arial" pitchFamily="34" charset="0"/>
                <a:ea typeface="Arial" pitchFamily="34" charset="-122"/>
                <a:cs typeface="Arial" pitchFamily="34" charset="-120"/>
              </a:rPr>
              <a:t>Pre-registered</a:t>
            </a:r>
            <a:endParaRPr lang="en-US" sz="1400" dirty="0"/>
          </a:p>
        </p:txBody>
      </p:sp>
      <p:sp>
        <p:nvSpPr>
          <p:cNvPr id="16" name="Text 14"/>
          <p:cNvSpPr txBox="1"/>
          <p:nvPr/>
        </p:nvSpPr>
        <p:spPr>
          <a:xfrm>
            <a:off x="548640" y="4736592"/>
            <a:ext cx="2556434" cy="10058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Seven hypotheses and their signs were committed before the national sample was collected.</a:t>
            </a:r>
            <a:endParaRPr lang="en-US" sz="1300" dirty="0"/>
          </a:p>
        </p:txBody>
      </p:sp>
      <p:sp>
        <p:nvSpPr>
          <p:cNvPr id="17" name="Shape 15"/>
          <p:cNvSpPr/>
          <p:nvPr/>
        </p:nvSpPr>
        <p:spPr>
          <a:xfrm>
            <a:off x="3379394" y="3840480"/>
            <a:ext cx="420624" cy="420624"/>
          </a:xfrm>
          <a:prstGeom prst="ellipse">
            <a:avLst/>
          </a:prstGeom>
          <a:solidFill>
            <a:srgbClr val="990000"/>
          </a:solidFill>
          <a:ln/>
        </p:spPr>
      </p:sp>
      <p:sp>
        <p:nvSpPr>
          <p:cNvPr id="18" name="Text 16"/>
          <p:cNvSpPr txBox="1"/>
          <p:nvPr/>
        </p:nvSpPr>
        <p:spPr>
          <a:xfrm>
            <a:off x="3379394" y="38404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9" name="Shape 17"/>
          <p:cNvSpPr/>
          <p:nvPr/>
        </p:nvSpPr>
        <p:spPr>
          <a:xfrm>
            <a:off x="3891458" y="4050792"/>
            <a:ext cx="2218106" cy="0"/>
          </a:xfrm>
          <a:prstGeom prst="line">
            <a:avLst/>
          </a:prstGeom>
          <a:noFill/>
          <a:ln w="19050">
            <a:solidFill>
              <a:srgbClr val="D4D6D9"/>
            </a:solidFill>
            <a:prstDash val="solid"/>
          </a:ln>
        </p:spPr>
      </p:sp>
      <p:sp>
        <p:nvSpPr>
          <p:cNvPr id="20" name="Text 18"/>
          <p:cNvSpPr txBox="1"/>
          <p:nvPr/>
        </p:nvSpPr>
        <p:spPr>
          <a:xfrm>
            <a:off x="3379394" y="4407408"/>
            <a:ext cx="2602154" cy="292608"/>
          </a:xfrm>
          <a:prstGeom prst="rect">
            <a:avLst/>
          </a:prstGeom>
          <a:noFill/>
          <a:ln/>
        </p:spPr>
        <p:txBody>
          <a:bodyPr wrap="square" lIns="0" tIns="0" rIns="0" bIns="0" rtlCol="0" anchor="t"/>
          <a:lstStyle/>
          <a:p>
            <a:pPr indent="0" marL="0">
              <a:buNone/>
            </a:pPr>
            <a:r>
              <a:rPr lang="en-US" sz="1400" b="1" dirty="0">
                <a:solidFill>
                  <a:srgbClr val="243142"/>
                </a:solidFill>
                <a:latin typeface="Arial" pitchFamily="34" charset="0"/>
                <a:ea typeface="Arial" pitchFamily="34" charset="-122"/>
                <a:cs typeface="Arial" pitchFamily="34" charset="-120"/>
              </a:rPr>
              <a:t>Specification by sample size</a:t>
            </a:r>
            <a:endParaRPr lang="en-US" sz="1400" dirty="0"/>
          </a:p>
        </p:txBody>
      </p:sp>
      <p:sp>
        <p:nvSpPr>
          <p:cNvPr id="21" name="Text 19"/>
          <p:cNvSpPr txBox="1"/>
          <p:nvPr/>
        </p:nvSpPr>
        <p:spPr>
          <a:xfrm>
            <a:off x="3379394" y="4736592"/>
            <a:ext cx="2556434" cy="10058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36.2 observations per regressor (rule: at least 20), so the extended model (27 regressors) is estimated too.</a:t>
            </a:r>
            <a:endParaRPr lang="en-US" sz="1300" dirty="0"/>
          </a:p>
        </p:txBody>
      </p:sp>
      <p:sp>
        <p:nvSpPr>
          <p:cNvPr id="22" name="Shape 20"/>
          <p:cNvSpPr/>
          <p:nvPr/>
        </p:nvSpPr>
        <p:spPr>
          <a:xfrm>
            <a:off x="6210148" y="3840480"/>
            <a:ext cx="420624" cy="420624"/>
          </a:xfrm>
          <a:prstGeom prst="ellipse">
            <a:avLst/>
          </a:prstGeom>
          <a:solidFill>
            <a:srgbClr val="990000"/>
          </a:solidFill>
          <a:ln/>
        </p:spPr>
      </p:sp>
      <p:sp>
        <p:nvSpPr>
          <p:cNvPr id="23" name="Text 21"/>
          <p:cNvSpPr txBox="1"/>
          <p:nvPr/>
        </p:nvSpPr>
        <p:spPr>
          <a:xfrm>
            <a:off x="6210148" y="38404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Shape 22"/>
          <p:cNvSpPr/>
          <p:nvPr/>
        </p:nvSpPr>
        <p:spPr>
          <a:xfrm>
            <a:off x="6722212" y="4050792"/>
            <a:ext cx="2218106" cy="0"/>
          </a:xfrm>
          <a:prstGeom prst="line">
            <a:avLst/>
          </a:prstGeom>
          <a:noFill/>
          <a:ln w="19050">
            <a:solidFill>
              <a:srgbClr val="D4D6D9"/>
            </a:solidFill>
            <a:prstDash val="solid"/>
          </a:ln>
        </p:spPr>
      </p:sp>
      <p:sp>
        <p:nvSpPr>
          <p:cNvPr id="25" name="Text 23"/>
          <p:cNvSpPr txBox="1"/>
          <p:nvPr/>
        </p:nvSpPr>
        <p:spPr>
          <a:xfrm>
            <a:off x="6210148" y="4407408"/>
            <a:ext cx="2602154" cy="292608"/>
          </a:xfrm>
          <a:prstGeom prst="rect">
            <a:avLst/>
          </a:prstGeom>
          <a:noFill/>
          <a:ln/>
        </p:spPr>
        <p:txBody>
          <a:bodyPr wrap="square" lIns="0" tIns="0" rIns="0" bIns="0" rtlCol="0" anchor="t"/>
          <a:lstStyle/>
          <a:p>
            <a:pPr indent="0" marL="0">
              <a:buNone/>
            </a:pPr>
            <a:r>
              <a:rPr lang="en-US" sz="1400" b="1" dirty="0">
                <a:solidFill>
                  <a:srgbClr val="243142"/>
                </a:solidFill>
                <a:latin typeface="Arial" pitchFamily="34" charset="0"/>
                <a:ea typeface="Arial" pitchFamily="34" charset="-122"/>
                <a:cs typeface="Arial" pitchFamily="34" charset="-120"/>
              </a:rPr>
              <a:t>Few-cluster inference</a:t>
            </a:r>
            <a:endParaRPr lang="en-US" sz="1400" dirty="0"/>
          </a:p>
        </p:txBody>
      </p:sp>
      <p:sp>
        <p:nvSpPr>
          <p:cNvPr id="26" name="Text 24"/>
          <p:cNvSpPr txBox="1"/>
          <p:nvPr/>
        </p:nvSpPr>
        <p:spPr>
          <a:xfrm>
            <a:off x="6210148" y="4736592"/>
            <a:ext cx="2556434" cy="10058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Standard errors clustered by employer (100); every p-value read from a wild cluster bootstrap (Rademacher, 9,999 draws).</a:t>
            </a:r>
            <a:endParaRPr lang="en-US" sz="1300" dirty="0"/>
          </a:p>
        </p:txBody>
      </p:sp>
      <p:sp>
        <p:nvSpPr>
          <p:cNvPr id="27" name="Shape 25"/>
          <p:cNvSpPr/>
          <p:nvPr/>
        </p:nvSpPr>
        <p:spPr>
          <a:xfrm>
            <a:off x="9040901" y="3840480"/>
            <a:ext cx="420624" cy="420624"/>
          </a:xfrm>
          <a:prstGeom prst="ellipse">
            <a:avLst/>
          </a:prstGeom>
          <a:solidFill>
            <a:srgbClr val="990000"/>
          </a:solidFill>
          <a:ln/>
        </p:spPr>
      </p:sp>
      <p:sp>
        <p:nvSpPr>
          <p:cNvPr id="28" name="Text 26"/>
          <p:cNvSpPr txBox="1"/>
          <p:nvPr/>
        </p:nvSpPr>
        <p:spPr>
          <a:xfrm>
            <a:off x="9040901" y="38404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9" name="Text 27"/>
          <p:cNvSpPr txBox="1"/>
          <p:nvPr/>
        </p:nvSpPr>
        <p:spPr>
          <a:xfrm>
            <a:off x="9040901" y="4407408"/>
            <a:ext cx="2602154" cy="292608"/>
          </a:xfrm>
          <a:prstGeom prst="rect">
            <a:avLst/>
          </a:prstGeom>
          <a:noFill/>
          <a:ln/>
        </p:spPr>
        <p:txBody>
          <a:bodyPr wrap="square" lIns="0" tIns="0" rIns="0" bIns="0" rtlCol="0" anchor="t"/>
          <a:lstStyle/>
          <a:p>
            <a:pPr indent="0" marL="0">
              <a:buNone/>
            </a:pPr>
            <a:r>
              <a:rPr lang="en-US" sz="1400" b="1" dirty="0">
                <a:solidFill>
                  <a:srgbClr val="243142"/>
                </a:solidFill>
                <a:latin typeface="Arial" pitchFamily="34" charset="0"/>
                <a:ea typeface="Arial" pitchFamily="34" charset="-122"/>
                <a:cs typeface="Arial" pitchFamily="34" charset="-120"/>
              </a:rPr>
              <a:t>Four robustness checks</a:t>
            </a:r>
            <a:endParaRPr lang="en-US" sz="1400" dirty="0"/>
          </a:p>
        </p:txBody>
      </p:sp>
      <p:sp>
        <p:nvSpPr>
          <p:cNvPr id="30" name="Text 28"/>
          <p:cNvSpPr txBox="1"/>
          <p:nvPr/>
        </p:nvSpPr>
        <p:spPr>
          <a:xfrm>
            <a:off x="9040901" y="4736592"/>
            <a:ext cx="2556434" cy="100584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Price-adjusted pay; without nationwide-remote postings; without Crusoe; without the federal rows.</a:t>
            </a:r>
            <a:endParaRPr lang="en-US" sz="1300" dirty="0"/>
          </a:p>
        </p:txBody>
      </p:sp>
      <p:sp>
        <p:nvSpPr>
          <p:cNvPr id="31" name="Text 29"/>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i indexes postings, j employers. Associational design: one cross-section with no time variation, so no difference-in-differences.</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DISCLOSURE</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Pay is stated in 91% of postings where the law requires it, 48% elsewhere</a:t>
            </a:r>
            <a:endParaRPr lang="en-US" sz="2600" dirty="0"/>
          </a:p>
        </p:txBody>
      </p:sp>
      <p:sp>
        <p:nvSpPr>
          <p:cNvPr id="4" name="Shape 2"/>
          <p:cNvSpPr/>
          <p:nvPr/>
        </p:nvSpPr>
        <p:spPr>
          <a:xfrm>
            <a:off x="548640" y="5394960"/>
            <a:ext cx="4754880" cy="0"/>
          </a:xfrm>
          <a:prstGeom prst="line">
            <a:avLst/>
          </a:prstGeom>
          <a:noFill/>
          <a:ln w="12700">
            <a:solidFill>
              <a:srgbClr val="243142"/>
            </a:solidFill>
            <a:prstDash val="solid"/>
          </a:ln>
        </p:spPr>
      </p:sp>
      <p:sp>
        <p:nvSpPr>
          <p:cNvPr id="5" name="Shape 3"/>
          <p:cNvSpPr/>
          <p:nvPr/>
        </p:nvSpPr>
        <p:spPr>
          <a:xfrm>
            <a:off x="914400" y="2055205"/>
            <a:ext cx="1554480" cy="3339755"/>
          </a:xfrm>
          <a:prstGeom prst="rect">
            <a:avLst/>
          </a:prstGeom>
          <a:solidFill>
            <a:srgbClr val="990000"/>
          </a:solidFill>
          <a:ln/>
        </p:spPr>
      </p:sp>
      <p:sp>
        <p:nvSpPr>
          <p:cNvPr id="6" name="Text 4"/>
          <p:cNvSpPr txBox="1"/>
          <p:nvPr/>
        </p:nvSpPr>
        <p:spPr>
          <a:xfrm>
            <a:off x="731520" y="1552285"/>
            <a:ext cx="1920240" cy="457200"/>
          </a:xfrm>
          <a:prstGeom prst="rect">
            <a:avLst/>
          </a:prstGeom>
          <a:noFill/>
          <a:ln/>
        </p:spPr>
        <p:txBody>
          <a:bodyPr wrap="square" lIns="0" tIns="0" rIns="0" bIns="0" rtlCol="0" anchor="b"/>
          <a:lstStyle/>
          <a:p>
            <a:pPr algn="ctr" indent="0" marL="0">
              <a:buNone/>
            </a:pPr>
            <a:r>
              <a:rPr lang="en-US" sz="2600" b="1" dirty="0">
                <a:solidFill>
                  <a:srgbClr val="990000"/>
                </a:solidFill>
                <a:latin typeface="Cambria" pitchFamily="34" charset="0"/>
                <a:ea typeface="Cambria" pitchFamily="34" charset="-122"/>
                <a:cs typeface="Cambria" pitchFamily="34" charset="-120"/>
              </a:rPr>
              <a:t>91.3%</a:t>
            </a:r>
            <a:endParaRPr lang="en-US" sz="2600" dirty="0"/>
          </a:p>
        </p:txBody>
      </p:sp>
      <p:sp>
        <p:nvSpPr>
          <p:cNvPr id="7" name="Text 5"/>
          <p:cNvSpPr txBox="1"/>
          <p:nvPr/>
        </p:nvSpPr>
        <p:spPr>
          <a:xfrm>
            <a:off x="640080" y="5468112"/>
            <a:ext cx="2103120" cy="502920"/>
          </a:xfrm>
          <a:prstGeom prst="rect">
            <a:avLst/>
          </a:prstGeom>
          <a:noFill/>
          <a:ln/>
        </p:spPr>
        <p:txBody>
          <a:bodyPr wrap="square" lIns="0" tIns="0" rIns="0" bIns="0" rtlCol="0" anchor="t"/>
          <a:lstStyle/>
          <a:p>
            <a:pPr algn="ctr" indent="0" marL="0">
              <a:buNone/>
            </a:pPr>
            <a:r>
              <a:rPr lang="en-US" sz="1200" b="1" dirty="0">
                <a:solidFill>
                  <a:srgbClr val="243142"/>
                </a:solidFill>
                <a:latin typeface="Arial" pitchFamily="34" charset="0"/>
                <a:ea typeface="Arial" pitchFamily="34" charset="-122"/>
                <a:cs typeface="Arial" pitchFamily="34" charset="-120"/>
              </a:rPr>
              <a:t>Mandate state</a:t>
            </a:r>
            <a:endParaRPr lang="en-US" sz="1200" dirty="0"/>
          </a:p>
          <a:p>
            <a:pPr algn="ctr" indent="0" marL="0">
              <a:buNone/>
            </a:pPr>
            <a:r>
              <a:rPr lang="en-US" sz="1200" dirty="0">
                <a:solidFill>
                  <a:srgbClr val="5E6A78"/>
                </a:solidFill>
                <a:latin typeface="Arial" pitchFamily="34" charset="0"/>
                <a:ea typeface="Arial" pitchFamily="34" charset="-122"/>
                <a:cs typeface="Arial" pitchFamily="34" charset="-120"/>
              </a:rPr>
              <a:t>n = 449</a:t>
            </a:r>
            <a:endParaRPr lang="en-US" sz="1200" dirty="0"/>
          </a:p>
        </p:txBody>
      </p:sp>
      <p:sp>
        <p:nvSpPr>
          <p:cNvPr id="8" name="Shape 6"/>
          <p:cNvSpPr/>
          <p:nvPr/>
        </p:nvSpPr>
        <p:spPr>
          <a:xfrm>
            <a:off x="3200400" y="3657600"/>
            <a:ext cx="1554480" cy="1737360"/>
          </a:xfrm>
          <a:prstGeom prst="rect">
            <a:avLst/>
          </a:prstGeom>
          <a:solidFill>
            <a:srgbClr val="A7A9AB"/>
          </a:solidFill>
          <a:ln/>
        </p:spPr>
      </p:sp>
      <p:sp>
        <p:nvSpPr>
          <p:cNvPr id="9" name="Text 7"/>
          <p:cNvSpPr txBox="1"/>
          <p:nvPr/>
        </p:nvSpPr>
        <p:spPr>
          <a:xfrm>
            <a:off x="3017520" y="3154680"/>
            <a:ext cx="1920240" cy="457200"/>
          </a:xfrm>
          <a:prstGeom prst="rect">
            <a:avLst/>
          </a:prstGeom>
          <a:noFill/>
          <a:ln/>
        </p:spPr>
        <p:txBody>
          <a:bodyPr wrap="square" lIns="0" tIns="0" rIns="0" bIns="0" rtlCol="0" anchor="b"/>
          <a:lstStyle/>
          <a:p>
            <a:pPr algn="ctr" indent="0" marL="0">
              <a:buNone/>
            </a:pPr>
            <a:r>
              <a:rPr lang="en-US" sz="2600" b="1" dirty="0">
                <a:solidFill>
                  <a:srgbClr val="5E6A78"/>
                </a:solidFill>
                <a:latin typeface="Cambria" pitchFamily="34" charset="0"/>
                <a:ea typeface="Cambria" pitchFamily="34" charset="-122"/>
                <a:cs typeface="Cambria" pitchFamily="34" charset="-120"/>
              </a:rPr>
              <a:t>47.5%</a:t>
            </a:r>
            <a:endParaRPr lang="en-US" sz="2600" dirty="0"/>
          </a:p>
        </p:txBody>
      </p:sp>
      <p:sp>
        <p:nvSpPr>
          <p:cNvPr id="10" name="Text 8"/>
          <p:cNvSpPr txBox="1"/>
          <p:nvPr/>
        </p:nvSpPr>
        <p:spPr>
          <a:xfrm>
            <a:off x="2926080" y="5468112"/>
            <a:ext cx="2103120" cy="502920"/>
          </a:xfrm>
          <a:prstGeom prst="rect">
            <a:avLst/>
          </a:prstGeom>
          <a:noFill/>
          <a:ln/>
        </p:spPr>
        <p:txBody>
          <a:bodyPr wrap="square" lIns="0" tIns="0" rIns="0" bIns="0" rtlCol="0" anchor="t"/>
          <a:lstStyle/>
          <a:p>
            <a:pPr algn="ctr" indent="0" marL="0">
              <a:buNone/>
            </a:pPr>
            <a:r>
              <a:rPr lang="en-US" sz="1200" b="1" dirty="0">
                <a:solidFill>
                  <a:srgbClr val="243142"/>
                </a:solidFill>
                <a:latin typeface="Arial" pitchFamily="34" charset="0"/>
                <a:ea typeface="Arial" pitchFamily="34" charset="-122"/>
                <a:cs typeface="Arial" pitchFamily="34" charset="-120"/>
              </a:rPr>
              <a:t>No mandate</a:t>
            </a:r>
            <a:endParaRPr lang="en-US" sz="1200" dirty="0"/>
          </a:p>
          <a:p>
            <a:pPr algn="ctr" indent="0" marL="0">
              <a:buNone/>
            </a:pPr>
            <a:r>
              <a:rPr lang="en-US" sz="1200" dirty="0">
                <a:solidFill>
                  <a:srgbClr val="5E6A78"/>
                </a:solidFill>
                <a:latin typeface="Arial" pitchFamily="34" charset="0"/>
                <a:ea typeface="Arial" pitchFamily="34" charset="-122"/>
                <a:cs typeface="Arial" pitchFamily="34" charset="-120"/>
              </a:rPr>
              <a:t>n = 280</a:t>
            </a:r>
            <a:endParaRPr lang="en-US" sz="1200" dirty="0"/>
          </a:p>
        </p:txBody>
      </p:sp>
      <p:sp>
        <p:nvSpPr>
          <p:cNvPr id="11" name="Text 9"/>
          <p:cNvSpPr txBox="1"/>
          <p:nvPr/>
        </p:nvSpPr>
        <p:spPr>
          <a:xfrm>
            <a:off x="5852160" y="1600200"/>
            <a:ext cx="2103120" cy="914400"/>
          </a:xfrm>
          <a:prstGeom prst="rect">
            <a:avLst/>
          </a:prstGeom>
          <a:noFill/>
          <a:ln/>
        </p:spPr>
        <p:txBody>
          <a:bodyPr wrap="square" lIns="0" tIns="0" rIns="0" bIns="0" rtlCol="0" anchor="ctr"/>
          <a:lstStyle/>
          <a:p>
            <a:pPr indent="0" marL="0">
              <a:buNone/>
            </a:pPr>
            <a:r>
              <a:rPr lang="en-US" sz="6000" b="1" dirty="0">
                <a:solidFill>
                  <a:srgbClr val="990000"/>
                </a:solidFill>
                <a:latin typeface="Cambria" pitchFamily="34" charset="0"/>
                <a:ea typeface="Cambria" pitchFamily="34" charset="-122"/>
                <a:cs typeface="Cambria" pitchFamily="34" charset="-120"/>
              </a:rPr>
              <a:t>43.8</a:t>
            </a:r>
            <a:endParaRPr lang="en-US" sz="6000" dirty="0"/>
          </a:p>
        </p:txBody>
      </p:sp>
      <p:sp>
        <p:nvSpPr>
          <p:cNvPr id="12" name="Text 10"/>
          <p:cNvSpPr txBox="1"/>
          <p:nvPr/>
        </p:nvSpPr>
        <p:spPr>
          <a:xfrm>
            <a:off x="8001000" y="1737360"/>
            <a:ext cx="3642055" cy="685800"/>
          </a:xfrm>
          <a:prstGeom prst="rect">
            <a:avLst/>
          </a:prstGeom>
          <a:noFill/>
          <a:ln/>
        </p:spPr>
        <p:txBody>
          <a:bodyPr wrap="square" lIns="0" tIns="0" rIns="0" bIns="0" rtlCol="0" anchor="ctr"/>
          <a:lstStyle/>
          <a:p>
            <a:pPr indent="0" marL="0">
              <a:buNone/>
            </a:pPr>
            <a:r>
              <a:rPr lang="en-US" sz="1300" b="1" dirty="0">
                <a:solidFill>
                  <a:srgbClr val="243142"/>
                </a:solidFill>
                <a:latin typeface="Arial" pitchFamily="34" charset="0"/>
                <a:ea typeface="Arial" pitchFamily="34" charset="-122"/>
                <a:cs typeface="Arial" pitchFamily="34" charset="-120"/>
              </a:rPr>
              <a:t>percentage-point gap</a:t>
            </a:r>
            <a:endParaRPr lang="en-US" sz="1300" dirty="0"/>
          </a:p>
          <a:p>
            <a:pPr indent="0" marL="0">
              <a:buNone/>
            </a:pPr>
            <a:r>
              <a:rPr lang="en-US" sz="1300" dirty="0">
                <a:solidFill>
                  <a:srgbClr val="5E6A78"/>
                </a:solidFill>
                <a:latin typeface="Arial" pitchFamily="34" charset="0"/>
                <a:ea typeface="Arial" pitchFamily="34" charset="-122"/>
                <a:cs typeface="Arial" pitchFamily="34" charset="-120"/>
              </a:rPr>
              <a:t>share stating pay, mandate minus no mandate</a:t>
            </a:r>
            <a:endParaRPr lang="en-US" sz="1300" dirty="0"/>
          </a:p>
        </p:txBody>
      </p:sp>
      <p:sp>
        <p:nvSpPr>
          <p:cNvPr id="13" name="Text 11"/>
          <p:cNvSpPr txBox="1"/>
          <p:nvPr/>
        </p:nvSpPr>
        <p:spPr>
          <a:xfrm>
            <a:off x="5852160" y="2788920"/>
            <a:ext cx="5790895" cy="274320"/>
          </a:xfrm>
          <a:prstGeom prst="rect">
            <a:avLst/>
          </a:prstGeom>
          <a:noFill/>
          <a:ln/>
        </p:spPr>
        <p:txBody>
          <a:bodyPr wrap="square" lIns="0" tIns="0" rIns="0" bIns="0" rtlCol="0" anchor="t"/>
          <a:lstStyle/>
          <a:p>
            <a:pPr indent="0" marL="0">
              <a:buNone/>
            </a:pPr>
            <a:r>
              <a:rPr lang="en-US" sz="1000" b="1" spc="150" kern="0" dirty="0">
                <a:solidFill>
                  <a:srgbClr val="990000"/>
                </a:solidFill>
                <a:latin typeface="Arial" pitchFamily="34" charset="0"/>
                <a:ea typeface="Arial" pitchFamily="34" charset="-122"/>
                <a:cs typeface="Arial" pitchFamily="34" charset="-120"/>
              </a:rPr>
              <a:t>THE GAP UNDER EVERY CUT OF THE SAMPLE</a:t>
            </a:r>
            <a:endParaRPr lang="en-US" sz="1000" dirty="0"/>
          </a:p>
        </p:txBody>
      </p:sp>
      <p:sp>
        <p:nvSpPr>
          <p:cNvPr id="14" name="Text 12"/>
          <p:cNvSpPr txBox="1"/>
          <p:nvPr/>
        </p:nvSpPr>
        <p:spPr>
          <a:xfrm>
            <a:off x="5852160" y="3154680"/>
            <a:ext cx="2743200" cy="365760"/>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All postings</a:t>
            </a:r>
            <a:endParaRPr lang="en-US" sz="1200" dirty="0"/>
          </a:p>
        </p:txBody>
      </p:sp>
      <p:sp>
        <p:nvSpPr>
          <p:cNvPr id="15" name="Shape 13"/>
          <p:cNvSpPr/>
          <p:nvPr/>
        </p:nvSpPr>
        <p:spPr>
          <a:xfrm>
            <a:off x="8686800" y="3337560"/>
            <a:ext cx="2773375" cy="0"/>
          </a:xfrm>
          <a:prstGeom prst="line">
            <a:avLst/>
          </a:prstGeom>
          <a:noFill/>
          <a:ln w="12700">
            <a:solidFill>
              <a:srgbClr val="D4D6D9"/>
            </a:solidFill>
            <a:prstDash val="solid"/>
          </a:ln>
        </p:spPr>
      </p:sp>
      <p:sp>
        <p:nvSpPr>
          <p:cNvPr id="16" name="Shape 14"/>
          <p:cNvSpPr/>
          <p:nvPr/>
        </p:nvSpPr>
        <p:spPr>
          <a:xfrm>
            <a:off x="9661160" y="3255264"/>
            <a:ext cx="164592" cy="164592"/>
          </a:xfrm>
          <a:prstGeom prst="ellipse">
            <a:avLst/>
          </a:prstGeom>
          <a:solidFill>
            <a:srgbClr val="990000"/>
          </a:solidFill>
          <a:ln/>
        </p:spPr>
      </p:sp>
      <p:sp>
        <p:nvSpPr>
          <p:cNvPr id="17" name="Text 15"/>
          <p:cNvSpPr txBox="1"/>
          <p:nvPr/>
        </p:nvSpPr>
        <p:spPr>
          <a:xfrm>
            <a:off x="9853184" y="3154680"/>
            <a:ext cx="548640" cy="365760"/>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43.8</a:t>
            </a:r>
            <a:endParaRPr lang="en-US" sz="1100" dirty="0"/>
          </a:p>
        </p:txBody>
      </p:sp>
      <p:sp>
        <p:nvSpPr>
          <p:cNvPr id="18" name="Text 16"/>
          <p:cNvSpPr txBox="1"/>
          <p:nvPr/>
        </p:nvSpPr>
        <p:spPr>
          <a:xfrm>
            <a:off x="5852160" y="3611880"/>
            <a:ext cx="2743200" cy="365760"/>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Without Virginia (newest law)</a:t>
            </a:r>
            <a:endParaRPr lang="en-US" sz="1200" dirty="0"/>
          </a:p>
        </p:txBody>
      </p:sp>
      <p:sp>
        <p:nvSpPr>
          <p:cNvPr id="19" name="Shape 17"/>
          <p:cNvSpPr/>
          <p:nvPr/>
        </p:nvSpPr>
        <p:spPr>
          <a:xfrm>
            <a:off x="8686800" y="3794760"/>
            <a:ext cx="2773375" cy="0"/>
          </a:xfrm>
          <a:prstGeom prst="line">
            <a:avLst/>
          </a:prstGeom>
          <a:noFill/>
          <a:ln w="12700">
            <a:solidFill>
              <a:srgbClr val="D4D6D9"/>
            </a:solidFill>
            <a:prstDash val="solid"/>
          </a:ln>
        </p:spPr>
      </p:sp>
      <p:sp>
        <p:nvSpPr>
          <p:cNvPr id="20" name="Shape 18"/>
          <p:cNvSpPr/>
          <p:nvPr/>
        </p:nvSpPr>
        <p:spPr>
          <a:xfrm>
            <a:off x="10046659" y="3712464"/>
            <a:ext cx="164592" cy="164592"/>
          </a:xfrm>
          <a:prstGeom prst="ellipse">
            <a:avLst/>
          </a:prstGeom>
          <a:solidFill>
            <a:srgbClr val="990000"/>
          </a:solidFill>
          <a:ln/>
        </p:spPr>
      </p:sp>
      <p:sp>
        <p:nvSpPr>
          <p:cNvPr id="21" name="Text 19"/>
          <p:cNvSpPr txBox="1"/>
          <p:nvPr/>
        </p:nvSpPr>
        <p:spPr>
          <a:xfrm>
            <a:off x="10238683" y="3611880"/>
            <a:ext cx="548640" cy="365760"/>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45.2</a:t>
            </a:r>
            <a:endParaRPr lang="en-US" sz="1100" dirty="0"/>
          </a:p>
        </p:txBody>
      </p:sp>
      <p:sp>
        <p:nvSpPr>
          <p:cNvPr id="22" name="Text 20"/>
          <p:cNvSpPr txBox="1"/>
          <p:nvPr/>
        </p:nvSpPr>
        <p:spPr>
          <a:xfrm>
            <a:off x="5852160" y="4069080"/>
            <a:ext cx="2743200" cy="365760"/>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Without Crusoe</a:t>
            </a:r>
            <a:endParaRPr lang="en-US" sz="1200" dirty="0"/>
          </a:p>
        </p:txBody>
      </p:sp>
      <p:sp>
        <p:nvSpPr>
          <p:cNvPr id="23" name="Shape 21"/>
          <p:cNvSpPr/>
          <p:nvPr/>
        </p:nvSpPr>
        <p:spPr>
          <a:xfrm>
            <a:off x="8686800" y="4251960"/>
            <a:ext cx="2773375" cy="0"/>
          </a:xfrm>
          <a:prstGeom prst="line">
            <a:avLst/>
          </a:prstGeom>
          <a:noFill/>
          <a:ln w="12700">
            <a:solidFill>
              <a:srgbClr val="D4D6D9"/>
            </a:solidFill>
            <a:prstDash val="solid"/>
          </a:ln>
        </p:spPr>
      </p:sp>
      <p:sp>
        <p:nvSpPr>
          <p:cNvPr id="24" name="Shape 22"/>
          <p:cNvSpPr/>
          <p:nvPr/>
        </p:nvSpPr>
        <p:spPr>
          <a:xfrm>
            <a:off x="9486437" y="4169664"/>
            <a:ext cx="164592" cy="164592"/>
          </a:xfrm>
          <a:prstGeom prst="ellipse">
            <a:avLst/>
          </a:prstGeom>
          <a:solidFill>
            <a:srgbClr val="990000"/>
          </a:solidFill>
          <a:ln/>
        </p:spPr>
      </p:sp>
      <p:sp>
        <p:nvSpPr>
          <p:cNvPr id="25" name="Text 23"/>
          <p:cNvSpPr txBox="1"/>
          <p:nvPr/>
        </p:nvSpPr>
        <p:spPr>
          <a:xfrm>
            <a:off x="9678461" y="4069080"/>
            <a:ext cx="548640" cy="365760"/>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43.2</a:t>
            </a:r>
            <a:endParaRPr lang="en-US" sz="1100" dirty="0"/>
          </a:p>
        </p:txBody>
      </p:sp>
      <p:sp>
        <p:nvSpPr>
          <p:cNvPr id="26" name="Text 24"/>
          <p:cNvSpPr txBox="1"/>
          <p:nvPr/>
        </p:nvSpPr>
        <p:spPr>
          <a:xfrm>
            <a:off x="5852160" y="4526280"/>
            <a:ext cx="2743200" cy="365760"/>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Without federal employers</a:t>
            </a:r>
            <a:endParaRPr lang="en-US" sz="1200" dirty="0"/>
          </a:p>
        </p:txBody>
      </p:sp>
      <p:sp>
        <p:nvSpPr>
          <p:cNvPr id="27" name="Shape 25"/>
          <p:cNvSpPr/>
          <p:nvPr/>
        </p:nvSpPr>
        <p:spPr>
          <a:xfrm>
            <a:off x="8686800" y="4709160"/>
            <a:ext cx="2773375" cy="0"/>
          </a:xfrm>
          <a:prstGeom prst="line">
            <a:avLst/>
          </a:prstGeom>
          <a:noFill/>
          <a:ln w="12700">
            <a:solidFill>
              <a:srgbClr val="D4D6D9"/>
            </a:solidFill>
            <a:prstDash val="solid"/>
          </a:ln>
        </p:spPr>
      </p:sp>
      <p:sp>
        <p:nvSpPr>
          <p:cNvPr id="28" name="Shape 26"/>
          <p:cNvSpPr/>
          <p:nvPr/>
        </p:nvSpPr>
        <p:spPr>
          <a:xfrm>
            <a:off x="9702761" y="4626864"/>
            <a:ext cx="164592" cy="164592"/>
          </a:xfrm>
          <a:prstGeom prst="ellipse">
            <a:avLst/>
          </a:prstGeom>
          <a:solidFill>
            <a:srgbClr val="990000"/>
          </a:solidFill>
          <a:ln/>
        </p:spPr>
      </p:sp>
      <p:sp>
        <p:nvSpPr>
          <p:cNvPr id="29" name="Text 27"/>
          <p:cNvSpPr txBox="1"/>
          <p:nvPr/>
        </p:nvSpPr>
        <p:spPr>
          <a:xfrm>
            <a:off x="9894785" y="4526280"/>
            <a:ext cx="548640" cy="365760"/>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44.0</a:t>
            </a:r>
            <a:endParaRPr lang="en-US" sz="1100" dirty="0"/>
          </a:p>
        </p:txBody>
      </p:sp>
      <p:sp>
        <p:nvSpPr>
          <p:cNvPr id="30" name="Text 28"/>
          <p:cNvSpPr txBox="1"/>
          <p:nvPr/>
        </p:nvSpPr>
        <p:spPr>
          <a:xfrm>
            <a:off x="8412480" y="4983480"/>
            <a:ext cx="54864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40</a:t>
            </a:r>
            <a:endParaRPr lang="en-US" sz="1000" dirty="0"/>
          </a:p>
        </p:txBody>
      </p:sp>
      <p:sp>
        <p:nvSpPr>
          <p:cNvPr id="31" name="Text 29"/>
          <p:cNvSpPr txBox="1"/>
          <p:nvPr/>
        </p:nvSpPr>
        <p:spPr>
          <a:xfrm>
            <a:off x="9799168" y="4983480"/>
            <a:ext cx="54864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45</a:t>
            </a:r>
            <a:endParaRPr lang="en-US" sz="1000" dirty="0"/>
          </a:p>
        </p:txBody>
      </p:sp>
      <p:sp>
        <p:nvSpPr>
          <p:cNvPr id="32" name="Text 30"/>
          <p:cNvSpPr txBox="1"/>
          <p:nvPr/>
        </p:nvSpPr>
        <p:spPr>
          <a:xfrm>
            <a:off x="11185855" y="4983480"/>
            <a:ext cx="54864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50</a:t>
            </a:r>
            <a:endParaRPr lang="en-US" sz="1000" dirty="0"/>
          </a:p>
        </p:txBody>
      </p:sp>
      <p:sp>
        <p:nvSpPr>
          <p:cNvPr id="33" name="Shape 31"/>
          <p:cNvSpPr/>
          <p:nvPr/>
        </p:nvSpPr>
        <p:spPr>
          <a:xfrm>
            <a:off x="5852160" y="5349240"/>
            <a:ext cx="5790895" cy="548640"/>
          </a:xfrm>
          <a:prstGeom prst="rect">
            <a:avLst/>
          </a:prstGeom>
          <a:solidFill>
            <a:srgbClr val="F4F4F5"/>
          </a:solidFill>
          <a:ln/>
        </p:spPr>
      </p:sp>
      <p:sp>
        <p:nvSpPr>
          <p:cNvPr id="34" name="Text 32"/>
          <p:cNvSpPr txBox="1"/>
          <p:nvPr/>
        </p:nvSpPr>
        <p:spPr>
          <a:xfrm>
            <a:off x="6035040" y="5349240"/>
            <a:ext cx="5425135" cy="548640"/>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Associational, not causal: </a:t>
            </a:r>
            <a:pPr indent="0" marL="0">
              <a:buNone/>
            </a:pPr>
            <a:r>
              <a:rPr lang="en-US" sz="1200" dirty="0">
                <a:solidFill>
                  <a:srgbClr val="243142"/>
                </a:solidFill>
                <a:latin typeface="Arial" pitchFamily="34" charset="0"/>
                <a:ea typeface="Arial" pitchFamily="34" charset="-122"/>
                <a:cs typeface="Arial" pitchFamily="34" charset="-120"/>
              </a:rPr>
              <a:t>a single cross-section; employers in mandate states differ in other ways.</a:t>
            </a:r>
            <a:endParaRPr lang="en-US" sz="12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DISCLOSURE</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With controls, a mandate is still associated with a 39-point higher chance of stating pay</a:t>
            </a:r>
            <a:endParaRPr lang="en-US" sz="2600" dirty="0"/>
          </a:p>
        </p:txBody>
      </p:sp>
      <p:sp>
        <p:nvSpPr>
          <p:cNvPr id="4" name="Text 2"/>
          <p:cNvSpPr txBox="1"/>
          <p:nvPr/>
        </p:nvSpPr>
        <p:spPr>
          <a:xfrm>
            <a:off x="548640" y="1508760"/>
            <a:ext cx="6675120" cy="457200"/>
          </a:xfrm>
          <a:prstGeom prst="rect">
            <a:avLst/>
          </a:prstGeom>
          <a:noFill/>
          <a:ln/>
        </p:spPr>
        <p:txBody>
          <a:bodyPr wrap="square" lIns="0" tIns="0" rIns="0" bIns="0" rtlCol="0" anchor="t"/>
          <a:lstStyle/>
          <a:p>
            <a:pPr indent="0" marL="0">
              <a:buNone/>
            </a:pPr>
            <a:r>
              <a:rPr lang="en-US" sz="1200" dirty="0">
                <a:solidFill>
                  <a:srgbClr val="5E6A78"/>
                </a:solidFill>
                <a:latin typeface="Arial" pitchFamily="34" charset="0"/>
                <a:ea typeface="Arial" pitchFamily="34" charset="-122"/>
                <a:cs typeface="Arial" pitchFamily="34" charset="-120"/>
              </a:rPr>
              <a:t>Change in the probability of stating pay, percentage points with 95% CI (N = 729)</a:t>
            </a:r>
            <a:endParaRPr lang="en-US" sz="1200" dirty="0"/>
          </a:p>
        </p:txBody>
      </p:sp>
      <p:sp>
        <p:nvSpPr>
          <p:cNvPr id="5" name="Shape 3"/>
          <p:cNvSpPr/>
          <p:nvPr/>
        </p:nvSpPr>
        <p:spPr>
          <a:xfrm>
            <a:off x="3200400" y="2148840"/>
            <a:ext cx="0" cy="3328416"/>
          </a:xfrm>
          <a:prstGeom prst="line">
            <a:avLst/>
          </a:prstGeom>
          <a:noFill/>
          <a:ln w="9525">
            <a:solidFill>
              <a:srgbClr val="D4D6D9"/>
            </a:solidFill>
            <a:prstDash val="solid"/>
          </a:ln>
        </p:spPr>
      </p:sp>
      <p:sp>
        <p:nvSpPr>
          <p:cNvPr id="6" name="Text 4"/>
          <p:cNvSpPr txBox="1"/>
          <p:nvPr/>
        </p:nvSpPr>
        <p:spPr>
          <a:xfrm>
            <a:off x="2834640" y="5513832"/>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−60</a:t>
            </a:r>
            <a:endParaRPr lang="en-US" sz="1000" dirty="0"/>
          </a:p>
        </p:txBody>
      </p:sp>
      <p:sp>
        <p:nvSpPr>
          <p:cNvPr id="7" name="Shape 5"/>
          <p:cNvSpPr/>
          <p:nvPr/>
        </p:nvSpPr>
        <p:spPr>
          <a:xfrm>
            <a:off x="4206240" y="2148840"/>
            <a:ext cx="0" cy="3328416"/>
          </a:xfrm>
          <a:prstGeom prst="line">
            <a:avLst/>
          </a:prstGeom>
          <a:noFill/>
          <a:ln w="9525">
            <a:solidFill>
              <a:srgbClr val="D4D6D9"/>
            </a:solidFill>
            <a:prstDash val="solid"/>
          </a:ln>
        </p:spPr>
      </p:sp>
      <p:sp>
        <p:nvSpPr>
          <p:cNvPr id="8" name="Text 6"/>
          <p:cNvSpPr txBox="1"/>
          <p:nvPr/>
        </p:nvSpPr>
        <p:spPr>
          <a:xfrm>
            <a:off x="3840480" y="5513832"/>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−30</a:t>
            </a:r>
            <a:endParaRPr lang="en-US" sz="1000" dirty="0"/>
          </a:p>
        </p:txBody>
      </p:sp>
      <p:sp>
        <p:nvSpPr>
          <p:cNvPr id="9" name="Shape 7"/>
          <p:cNvSpPr/>
          <p:nvPr/>
        </p:nvSpPr>
        <p:spPr>
          <a:xfrm>
            <a:off x="5212080" y="2148840"/>
            <a:ext cx="0" cy="3328416"/>
          </a:xfrm>
          <a:prstGeom prst="line">
            <a:avLst/>
          </a:prstGeom>
          <a:noFill/>
          <a:ln w="12700">
            <a:solidFill>
              <a:srgbClr val="243142"/>
            </a:solidFill>
            <a:prstDash val="solid"/>
          </a:ln>
        </p:spPr>
      </p:sp>
      <p:sp>
        <p:nvSpPr>
          <p:cNvPr id="10" name="Text 8"/>
          <p:cNvSpPr txBox="1"/>
          <p:nvPr/>
        </p:nvSpPr>
        <p:spPr>
          <a:xfrm>
            <a:off x="4846320" y="5513832"/>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0</a:t>
            </a:r>
            <a:endParaRPr lang="en-US" sz="1000" dirty="0"/>
          </a:p>
        </p:txBody>
      </p:sp>
      <p:sp>
        <p:nvSpPr>
          <p:cNvPr id="11" name="Shape 9"/>
          <p:cNvSpPr/>
          <p:nvPr/>
        </p:nvSpPr>
        <p:spPr>
          <a:xfrm>
            <a:off x="6217920" y="2148840"/>
            <a:ext cx="0" cy="3328416"/>
          </a:xfrm>
          <a:prstGeom prst="line">
            <a:avLst/>
          </a:prstGeom>
          <a:noFill/>
          <a:ln w="9525">
            <a:solidFill>
              <a:srgbClr val="D4D6D9"/>
            </a:solidFill>
            <a:prstDash val="solid"/>
          </a:ln>
        </p:spPr>
      </p:sp>
      <p:sp>
        <p:nvSpPr>
          <p:cNvPr id="12" name="Text 10"/>
          <p:cNvSpPr txBox="1"/>
          <p:nvPr/>
        </p:nvSpPr>
        <p:spPr>
          <a:xfrm>
            <a:off x="5852160" y="5513832"/>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+30</a:t>
            </a:r>
            <a:endParaRPr lang="en-US" sz="1000" dirty="0"/>
          </a:p>
        </p:txBody>
      </p:sp>
      <p:sp>
        <p:nvSpPr>
          <p:cNvPr id="13" name="Shape 11"/>
          <p:cNvSpPr/>
          <p:nvPr/>
        </p:nvSpPr>
        <p:spPr>
          <a:xfrm>
            <a:off x="7223760" y="2148840"/>
            <a:ext cx="0" cy="3328416"/>
          </a:xfrm>
          <a:prstGeom prst="line">
            <a:avLst/>
          </a:prstGeom>
          <a:noFill/>
          <a:ln w="9525">
            <a:solidFill>
              <a:srgbClr val="D4D6D9"/>
            </a:solidFill>
            <a:prstDash val="solid"/>
          </a:ln>
        </p:spPr>
      </p:sp>
      <p:sp>
        <p:nvSpPr>
          <p:cNvPr id="14" name="Text 12"/>
          <p:cNvSpPr txBox="1"/>
          <p:nvPr/>
        </p:nvSpPr>
        <p:spPr>
          <a:xfrm>
            <a:off x="6858000" y="5513832"/>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+60</a:t>
            </a:r>
            <a:endParaRPr lang="en-US" sz="1000" dirty="0"/>
          </a:p>
        </p:txBody>
      </p:sp>
      <p:sp>
        <p:nvSpPr>
          <p:cNvPr id="15" name="Shape 13"/>
          <p:cNvSpPr/>
          <p:nvPr/>
        </p:nvSpPr>
        <p:spPr>
          <a:xfrm>
            <a:off x="548640" y="2148840"/>
            <a:ext cx="6675120" cy="475488"/>
          </a:xfrm>
          <a:prstGeom prst="rect">
            <a:avLst/>
          </a:prstGeom>
          <a:solidFill>
            <a:srgbClr val="FAFAFA"/>
          </a:solidFill>
          <a:ln/>
        </p:spPr>
      </p:sp>
      <p:sp>
        <p:nvSpPr>
          <p:cNvPr id="16" name="Text 14"/>
          <p:cNvSpPr txBox="1"/>
          <p:nvPr/>
        </p:nvSpPr>
        <p:spPr>
          <a:xfrm>
            <a:off x="548640" y="2148840"/>
            <a:ext cx="2514600" cy="4754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Pay-transparency mandate</a:t>
            </a:r>
            <a:endParaRPr lang="en-US" sz="1200" dirty="0"/>
          </a:p>
        </p:txBody>
      </p:sp>
      <p:sp>
        <p:nvSpPr>
          <p:cNvPr id="17" name="Shape 15"/>
          <p:cNvSpPr/>
          <p:nvPr/>
        </p:nvSpPr>
        <p:spPr>
          <a:xfrm>
            <a:off x="5923879" y="2386584"/>
            <a:ext cx="1175492" cy="0"/>
          </a:xfrm>
          <a:prstGeom prst="line">
            <a:avLst/>
          </a:prstGeom>
          <a:noFill/>
          <a:ln w="28575">
            <a:solidFill>
              <a:srgbClr val="990000"/>
            </a:solidFill>
            <a:prstDash val="solid"/>
          </a:ln>
        </p:spPr>
      </p:sp>
      <p:sp>
        <p:nvSpPr>
          <p:cNvPr id="18" name="Shape 16"/>
          <p:cNvSpPr/>
          <p:nvPr/>
        </p:nvSpPr>
        <p:spPr>
          <a:xfrm>
            <a:off x="6433901" y="2308860"/>
            <a:ext cx="155448" cy="155448"/>
          </a:xfrm>
          <a:prstGeom prst="ellipse">
            <a:avLst/>
          </a:prstGeom>
          <a:solidFill>
            <a:srgbClr val="990000"/>
          </a:solidFill>
          <a:ln/>
        </p:spPr>
      </p:sp>
      <p:sp>
        <p:nvSpPr>
          <p:cNvPr id="19" name="Shape 17"/>
          <p:cNvSpPr/>
          <p:nvPr/>
        </p:nvSpPr>
        <p:spPr>
          <a:xfrm>
            <a:off x="6680942" y="2185416"/>
            <a:ext cx="0" cy="402336"/>
          </a:xfrm>
          <a:prstGeom prst="line">
            <a:avLst/>
          </a:prstGeom>
          <a:noFill/>
          <a:ln w="15875">
            <a:solidFill>
              <a:srgbClr val="243142"/>
            </a:solidFill>
            <a:prstDash val="dash"/>
          </a:ln>
        </p:spPr>
      </p:sp>
      <p:sp>
        <p:nvSpPr>
          <p:cNvPr id="20" name="Text 18"/>
          <p:cNvSpPr txBox="1"/>
          <p:nvPr/>
        </p:nvSpPr>
        <p:spPr>
          <a:xfrm>
            <a:off x="6132302" y="1929384"/>
            <a:ext cx="1097280" cy="228600"/>
          </a:xfrm>
          <a:prstGeom prst="rect">
            <a:avLst/>
          </a:prstGeom>
          <a:noFill/>
          <a:ln/>
        </p:spPr>
        <p:txBody>
          <a:bodyPr wrap="square" lIns="0" tIns="0" rIns="0" bIns="0" rtlCol="0" anchor="t"/>
          <a:lstStyle/>
          <a:p>
            <a:pPr algn="ctr" indent="0" marL="0">
              <a:buNone/>
            </a:pPr>
            <a:r>
              <a:rPr lang="en-US" sz="1000" dirty="0">
                <a:solidFill>
                  <a:srgbClr val="243142"/>
                </a:solidFill>
                <a:latin typeface="Arial" pitchFamily="34" charset="0"/>
                <a:ea typeface="Arial" pitchFamily="34" charset="-122"/>
                <a:cs typeface="Arial" pitchFamily="34" charset="-120"/>
              </a:rPr>
              <a:t>raw gap 43.8</a:t>
            </a:r>
            <a:endParaRPr lang="en-US" sz="1000" dirty="0"/>
          </a:p>
        </p:txBody>
      </p:sp>
      <p:sp>
        <p:nvSpPr>
          <p:cNvPr id="21" name="Text 19"/>
          <p:cNvSpPr txBox="1"/>
          <p:nvPr/>
        </p:nvSpPr>
        <p:spPr>
          <a:xfrm>
            <a:off x="548640" y="2624328"/>
            <a:ext cx="2514600" cy="475488"/>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South (vs. Midwest)</a:t>
            </a:r>
            <a:endParaRPr lang="en-US" sz="1200" dirty="0"/>
          </a:p>
        </p:txBody>
      </p:sp>
      <p:sp>
        <p:nvSpPr>
          <p:cNvPr id="22" name="Shape 20"/>
          <p:cNvSpPr/>
          <p:nvPr/>
        </p:nvSpPr>
        <p:spPr>
          <a:xfrm>
            <a:off x="3460242" y="2862072"/>
            <a:ext cx="1305245" cy="0"/>
          </a:xfrm>
          <a:prstGeom prst="line">
            <a:avLst/>
          </a:prstGeom>
          <a:noFill/>
          <a:ln w="28575">
            <a:solidFill>
              <a:srgbClr val="990000"/>
            </a:solidFill>
            <a:prstDash val="solid"/>
          </a:ln>
        </p:spPr>
      </p:sp>
      <p:sp>
        <p:nvSpPr>
          <p:cNvPr id="23" name="Shape 21"/>
          <p:cNvSpPr/>
          <p:nvPr/>
        </p:nvSpPr>
        <p:spPr>
          <a:xfrm>
            <a:off x="4035308" y="2784348"/>
            <a:ext cx="155448" cy="155448"/>
          </a:xfrm>
          <a:prstGeom prst="ellipse">
            <a:avLst/>
          </a:prstGeom>
          <a:solidFill>
            <a:srgbClr val="990000"/>
          </a:solidFill>
          <a:ln/>
        </p:spPr>
      </p:sp>
      <p:sp>
        <p:nvSpPr>
          <p:cNvPr id="24" name="Shape 22"/>
          <p:cNvSpPr/>
          <p:nvPr/>
        </p:nvSpPr>
        <p:spPr>
          <a:xfrm>
            <a:off x="548640" y="3099816"/>
            <a:ext cx="6675120" cy="475488"/>
          </a:xfrm>
          <a:prstGeom prst="rect">
            <a:avLst/>
          </a:prstGeom>
          <a:solidFill>
            <a:srgbClr val="FAFAFA"/>
          </a:solidFill>
          <a:ln/>
        </p:spPr>
      </p:sp>
      <p:sp>
        <p:nvSpPr>
          <p:cNvPr id="25" name="Text 23"/>
          <p:cNvSpPr txBox="1"/>
          <p:nvPr/>
        </p:nvSpPr>
        <p:spPr>
          <a:xfrm>
            <a:off x="548640" y="3099816"/>
            <a:ext cx="2514600" cy="475488"/>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Northeast (vs. Midwest)</a:t>
            </a:r>
            <a:endParaRPr lang="en-US" sz="1200" dirty="0"/>
          </a:p>
        </p:txBody>
      </p:sp>
      <p:sp>
        <p:nvSpPr>
          <p:cNvPr id="26" name="Shape 24"/>
          <p:cNvSpPr/>
          <p:nvPr/>
        </p:nvSpPr>
        <p:spPr>
          <a:xfrm>
            <a:off x="4142202" y="3337560"/>
            <a:ext cx="1258976" cy="0"/>
          </a:xfrm>
          <a:prstGeom prst="line">
            <a:avLst/>
          </a:prstGeom>
          <a:noFill/>
          <a:ln w="28575">
            <a:solidFill>
              <a:srgbClr val="A7A9AB"/>
            </a:solidFill>
            <a:prstDash val="solid"/>
          </a:ln>
        </p:spPr>
      </p:sp>
      <p:sp>
        <p:nvSpPr>
          <p:cNvPr id="27" name="Shape 25"/>
          <p:cNvSpPr/>
          <p:nvPr/>
        </p:nvSpPr>
        <p:spPr>
          <a:xfrm>
            <a:off x="4694133" y="3259836"/>
            <a:ext cx="155448" cy="155448"/>
          </a:xfrm>
          <a:prstGeom prst="ellipse">
            <a:avLst/>
          </a:prstGeom>
          <a:solidFill>
            <a:srgbClr val="A7A9AB"/>
          </a:solidFill>
          <a:ln/>
        </p:spPr>
      </p:sp>
      <p:sp>
        <p:nvSpPr>
          <p:cNvPr id="28" name="Text 26"/>
          <p:cNvSpPr txBox="1"/>
          <p:nvPr/>
        </p:nvSpPr>
        <p:spPr>
          <a:xfrm>
            <a:off x="548640" y="3575304"/>
            <a:ext cx="2514600" cy="475488"/>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West (vs. Midwest)</a:t>
            </a:r>
            <a:endParaRPr lang="en-US" sz="1200" dirty="0"/>
          </a:p>
        </p:txBody>
      </p:sp>
      <p:sp>
        <p:nvSpPr>
          <p:cNvPr id="29" name="Shape 27"/>
          <p:cNvSpPr/>
          <p:nvPr/>
        </p:nvSpPr>
        <p:spPr>
          <a:xfrm>
            <a:off x="4543532" y="3813048"/>
            <a:ext cx="971641" cy="0"/>
          </a:xfrm>
          <a:prstGeom prst="line">
            <a:avLst/>
          </a:prstGeom>
          <a:noFill/>
          <a:ln w="28575">
            <a:solidFill>
              <a:srgbClr val="A7A9AB"/>
            </a:solidFill>
            <a:prstDash val="solid"/>
          </a:ln>
        </p:spPr>
      </p:sp>
      <p:sp>
        <p:nvSpPr>
          <p:cNvPr id="30" name="Shape 28"/>
          <p:cNvSpPr/>
          <p:nvPr/>
        </p:nvSpPr>
        <p:spPr>
          <a:xfrm>
            <a:off x="4951628" y="3735324"/>
            <a:ext cx="155448" cy="155448"/>
          </a:xfrm>
          <a:prstGeom prst="ellipse">
            <a:avLst/>
          </a:prstGeom>
          <a:solidFill>
            <a:srgbClr val="A7A9AB"/>
          </a:solidFill>
          <a:ln/>
        </p:spPr>
      </p:sp>
      <p:sp>
        <p:nvSpPr>
          <p:cNvPr id="31" name="Shape 29"/>
          <p:cNvSpPr/>
          <p:nvPr/>
        </p:nvSpPr>
        <p:spPr>
          <a:xfrm>
            <a:off x="548640" y="4050792"/>
            <a:ext cx="6675120" cy="475488"/>
          </a:xfrm>
          <a:prstGeom prst="rect">
            <a:avLst/>
          </a:prstGeom>
          <a:solidFill>
            <a:srgbClr val="FAFAFA"/>
          </a:solidFill>
          <a:ln/>
        </p:spPr>
      </p:sp>
      <p:sp>
        <p:nvSpPr>
          <p:cNvPr id="32" name="Text 30"/>
          <p:cNvSpPr txBox="1"/>
          <p:nvPr/>
        </p:nvSpPr>
        <p:spPr>
          <a:xfrm>
            <a:off x="548640" y="4050792"/>
            <a:ext cx="2514600" cy="475488"/>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Remote-eligible</a:t>
            </a:r>
            <a:endParaRPr lang="en-US" sz="1200" dirty="0"/>
          </a:p>
        </p:txBody>
      </p:sp>
      <p:sp>
        <p:nvSpPr>
          <p:cNvPr id="33" name="Shape 31"/>
          <p:cNvSpPr/>
          <p:nvPr/>
        </p:nvSpPr>
        <p:spPr>
          <a:xfrm>
            <a:off x="4996830" y="4288536"/>
            <a:ext cx="983712" cy="0"/>
          </a:xfrm>
          <a:prstGeom prst="line">
            <a:avLst/>
          </a:prstGeom>
          <a:noFill/>
          <a:ln w="28575">
            <a:solidFill>
              <a:srgbClr val="A7A9AB"/>
            </a:solidFill>
            <a:prstDash val="solid"/>
          </a:ln>
        </p:spPr>
      </p:sp>
      <p:sp>
        <p:nvSpPr>
          <p:cNvPr id="34" name="Shape 32"/>
          <p:cNvSpPr/>
          <p:nvPr/>
        </p:nvSpPr>
        <p:spPr>
          <a:xfrm>
            <a:off x="5410962" y="4210812"/>
            <a:ext cx="155448" cy="155448"/>
          </a:xfrm>
          <a:prstGeom prst="ellipse">
            <a:avLst/>
          </a:prstGeom>
          <a:solidFill>
            <a:srgbClr val="A7A9AB"/>
          </a:solidFill>
          <a:ln/>
        </p:spPr>
      </p:sp>
      <p:sp>
        <p:nvSpPr>
          <p:cNvPr id="35" name="Text 33"/>
          <p:cNvSpPr txBox="1"/>
          <p:nvPr/>
        </p:nvSpPr>
        <p:spPr>
          <a:xfrm>
            <a:off x="548640" y="4526280"/>
            <a:ext cx="2514600" cy="475488"/>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Data-center operator</a:t>
            </a:r>
            <a:endParaRPr lang="en-US" sz="1200" dirty="0"/>
          </a:p>
        </p:txBody>
      </p:sp>
      <p:sp>
        <p:nvSpPr>
          <p:cNvPr id="36" name="Shape 34"/>
          <p:cNvSpPr/>
          <p:nvPr/>
        </p:nvSpPr>
        <p:spPr>
          <a:xfrm>
            <a:off x="4332976" y="4764024"/>
            <a:ext cx="1279093" cy="0"/>
          </a:xfrm>
          <a:prstGeom prst="line">
            <a:avLst/>
          </a:prstGeom>
          <a:noFill/>
          <a:ln w="28575">
            <a:solidFill>
              <a:srgbClr val="A7A9AB"/>
            </a:solidFill>
            <a:prstDash val="solid"/>
          </a:ln>
        </p:spPr>
      </p:sp>
      <p:sp>
        <p:nvSpPr>
          <p:cNvPr id="37" name="Shape 35"/>
          <p:cNvSpPr/>
          <p:nvPr/>
        </p:nvSpPr>
        <p:spPr>
          <a:xfrm>
            <a:off x="4894631" y="4686300"/>
            <a:ext cx="155448" cy="155448"/>
          </a:xfrm>
          <a:prstGeom prst="ellipse">
            <a:avLst/>
          </a:prstGeom>
          <a:solidFill>
            <a:srgbClr val="A7A9AB"/>
          </a:solidFill>
          <a:ln/>
        </p:spPr>
      </p:sp>
      <p:sp>
        <p:nvSpPr>
          <p:cNvPr id="38" name="Shape 36"/>
          <p:cNvSpPr/>
          <p:nvPr/>
        </p:nvSpPr>
        <p:spPr>
          <a:xfrm>
            <a:off x="548640" y="5001768"/>
            <a:ext cx="6675120" cy="475488"/>
          </a:xfrm>
          <a:prstGeom prst="rect">
            <a:avLst/>
          </a:prstGeom>
          <a:solidFill>
            <a:srgbClr val="FAFAFA"/>
          </a:solidFill>
          <a:ln/>
        </p:spPr>
      </p:sp>
      <p:sp>
        <p:nvSpPr>
          <p:cNvPr id="39" name="Text 37"/>
          <p:cNvSpPr txBox="1"/>
          <p:nvPr/>
        </p:nvSpPr>
        <p:spPr>
          <a:xfrm>
            <a:off x="548640" y="5001768"/>
            <a:ext cx="2514600" cy="475488"/>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Seniority (per step)</a:t>
            </a:r>
            <a:endParaRPr lang="en-US" sz="1200" dirty="0"/>
          </a:p>
        </p:txBody>
      </p:sp>
      <p:sp>
        <p:nvSpPr>
          <p:cNvPr id="40" name="Shape 38"/>
          <p:cNvSpPr/>
          <p:nvPr/>
        </p:nvSpPr>
        <p:spPr>
          <a:xfrm>
            <a:off x="5129601" y="5239512"/>
            <a:ext cx="152217" cy="0"/>
          </a:xfrm>
          <a:prstGeom prst="line">
            <a:avLst/>
          </a:prstGeom>
          <a:noFill/>
          <a:ln w="28575">
            <a:solidFill>
              <a:srgbClr val="A7A9AB"/>
            </a:solidFill>
            <a:prstDash val="solid"/>
          </a:ln>
        </p:spPr>
      </p:sp>
      <p:sp>
        <p:nvSpPr>
          <p:cNvPr id="41" name="Shape 39"/>
          <p:cNvSpPr/>
          <p:nvPr/>
        </p:nvSpPr>
        <p:spPr>
          <a:xfrm>
            <a:off x="5127986" y="5161788"/>
            <a:ext cx="155448" cy="155448"/>
          </a:xfrm>
          <a:prstGeom prst="ellipse">
            <a:avLst/>
          </a:prstGeom>
          <a:solidFill>
            <a:srgbClr val="A7A9AB"/>
          </a:solidFill>
          <a:ln/>
        </p:spPr>
      </p:sp>
      <p:sp>
        <p:nvSpPr>
          <p:cNvPr id="42" name="Text 40"/>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Standard errors clustered by employer. R² = 0.335. Crimson: p &lt; 0.05 (clustered; this model has no bootstrap). Region effects are relative to the Midwest.</a:t>
            </a:r>
            <a:endParaRPr lang="en-US" sz="1000" dirty="0"/>
          </a:p>
        </p:txBody>
      </p:sp>
      <p:graphicFrame>
        <p:nvGraphicFramePr>
          <p:cNvPr id="43" name="Chart 0" descr=""/>
          <p:cNvGraphicFramePr/>
          <p:nvPr/>
        </p:nvGraphicFramePr>
        <p:xfrm>
          <a:off x="7635240" y="1508760"/>
          <a:ext cx="4007815" cy="3108960"/>
        </p:xfrm>
        <a:graphic xmlns:a="http://schemas.openxmlformats.org/drawingml/2006/main">
          <a:graphicData uri="http://schemas.openxmlformats.org/drawingml/2006/chart">
            <c:chart xmlns:c="http://schemas.openxmlformats.org/drawingml/2006/chart" r:id="rId1"/>
          </a:graphicData>
        </a:graphic>
      </p:graphicFrame>
      <p:sp>
        <p:nvSpPr>
          <p:cNvPr id="44" name="Shape 41"/>
          <p:cNvSpPr/>
          <p:nvPr/>
        </p:nvSpPr>
        <p:spPr>
          <a:xfrm>
            <a:off x="7635240" y="4754880"/>
            <a:ext cx="4007815" cy="914400"/>
          </a:xfrm>
          <a:prstGeom prst="rect">
            <a:avLst/>
          </a:prstGeom>
          <a:solidFill>
            <a:srgbClr val="F6E3E3"/>
          </a:solidFill>
          <a:ln/>
        </p:spPr>
      </p:sp>
      <p:sp>
        <p:nvSpPr>
          <p:cNvPr id="45" name="Text 42"/>
          <p:cNvSpPr txBox="1"/>
          <p:nvPr/>
        </p:nvSpPr>
        <p:spPr>
          <a:xfrm>
            <a:off x="7818120" y="4754880"/>
            <a:ext cx="3642055" cy="914400"/>
          </a:xfrm>
          <a:prstGeom prst="rect">
            <a:avLst/>
          </a:prstGeom>
          <a:noFill/>
          <a:ln/>
        </p:spPr>
        <p:txBody>
          <a:bodyPr wrap="square" lIns="0" tIns="0" rIns="0" bIns="0" rtlCol="0" anchor="ctr"/>
          <a:lstStyle/>
          <a:p>
            <a:pPr indent="0" marL="0">
              <a:buNone/>
            </a:pPr>
            <a:r>
              <a:rPr lang="en-US" sz="1200" dirty="0">
                <a:solidFill>
                  <a:srgbClr val="6B0000"/>
                </a:solidFill>
                <a:latin typeface="Arial" pitchFamily="34" charset="0"/>
                <a:ea typeface="Arial" pitchFamily="34" charset="-122"/>
                <a:cs typeface="Arial" pitchFamily="34" charset="-120"/>
              </a:rPr>
              <a:t>The South has the lowest disclosure (42%) and 32% of its postings covered; with region held fixed the gap goes from 43.8 to 38.8 points.</a:t>
            </a:r>
            <a:endParaRPr lang="en-US" sz="12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PAY</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Seniority, required experience and a stated cloud skill predict advertised pay under every check</a:t>
            </a:r>
            <a:endParaRPr lang="en-US" sz="2600" dirty="0"/>
          </a:p>
        </p:txBody>
      </p:sp>
      <p:sp>
        <p:nvSpPr>
          <p:cNvPr id="4" name="Shape 2"/>
          <p:cNvSpPr/>
          <p:nvPr/>
        </p:nvSpPr>
        <p:spPr>
          <a:xfrm>
            <a:off x="3291840" y="1554480"/>
            <a:ext cx="0" cy="3977640"/>
          </a:xfrm>
          <a:prstGeom prst="line">
            <a:avLst/>
          </a:prstGeom>
          <a:noFill/>
          <a:ln w="9525">
            <a:solidFill>
              <a:srgbClr val="D4D6D9"/>
            </a:solidFill>
            <a:prstDash val="solid"/>
          </a:ln>
        </p:spPr>
      </p:sp>
      <p:sp>
        <p:nvSpPr>
          <p:cNvPr id="5" name="Text 3"/>
          <p:cNvSpPr txBox="1"/>
          <p:nvPr/>
        </p:nvSpPr>
        <p:spPr>
          <a:xfrm>
            <a:off x="2926080" y="5568696"/>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−20%</a:t>
            </a:r>
            <a:endParaRPr lang="en-US" sz="1000" dirty="0"/>
          </a:p>
        </p:txBody>
      </p:sp>
      <p:sp>
        <p:nvSpPr>
          <p:cNvPr id="6" name="Shape 4"/>
          <p:cNvSpPr/>
          <p:nvPr/>
        </p:nvSpPr>
        <p:spPr>
          <a:xfrm>
            <a:off x="4261104" y="1554480"/>
            <a:ext cx="0" cy="3977640"/>
          </a:xfrm>
          <a:prstGeom prst="line">
            <a:avLst/>
          </a:prstGeom>
          <a:noFill/>
          <a:ln w="9525">
            <a:solidFill>
              <a:srgbClr val="D4D6D9"/>
            </a:solidFill>
            <a:prstDash val="solid"/>
          </a:ln>
        </p:spPr>
      </p:sp>
      <p:sp>
        <p:nvSpPr>
          <p:cNvPr id="7" name="Text 5"/>
          <p:cNvSpPr txBox="1"/>
          <p:nvPr/>
        </p:nvSpPr>
        <p:spPr>
          <a:xfrm>
            <a:off x="3895344" y="5568696"/>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−10%</a:t>
            </a:r>
            <a:endParaRPr lang="en-US" sz="1000" dirty="0"/>
          </a:p>
        </p:txBody>
      </p:sp>
      <p:sp>
        <p:nvSpPr>
          <p:cNvPr id="8" name="Shape 6"/>
          <p:cNvSpPr/>
          <p:nvPr/>
        </p:nvSpPr>
        <p:spPr>
          <a:xfrm>
            <a:off x="5230368" y="1554480"/>
            <a:ext cx="0" cy="3977640"/>
          </a:xfrm>
          <a:prstGeom prst="line">
            <a:avLst/>
          </a:prstGeom>
          <a:noFill/>
          <a:ln w="12700">
            <a:solidFill>
              <a:srgbClr val="243142"/>
            </a:solidFill>
            <a:prstDash val="solid"/>
          </a:ln>
        </p:spPr>
      </p:sp>
      <p:sp>
        <p:nvSpPr>
          <p:cNvPr id="9" name="Text 7"/>
          <p:cNvSpPr txBox="1"/>
          <p:nvPr/>
        </p:nvSpPr>
        <p:spPr>
          <a:xfrm>
            <a:off x="4864608" y="5568696"/>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0%</a:t>
            </a:r>
            <a:endParaRPr lang="en-US" sz="1000" dirty="0"/>
          </a:p>
        </p:txBody>
      </p:sp>
      <p:sp>
        <p:nvSpPr>
          <p:cNvPr id="10" name="Shape 8"/>
          <p:cNvSpPr/>
          <p:nvPr/>
        </p:nvSpPr>
        <p:spPr>
          <a:xfrm>
            <a:off x="6199632" y="1554480"/>
            <a:ext cx="0" cy="3977640"/>
          </a:xfrm>
          <a:prstGeom prst="line">
            <a:avLst/>
          </a:prstGeom>
          <a:noFill/>
          <a:ln w="9525">
            <a:solidFill>
              <a:srgbClr val="D4D6D9"/>
            </a:solidFill>
            <a:prstDash val="solid"/>
          </a:ln>
        </p:spPr>
      </p:sp>
      <p:sp>
        <p:nvSpPr>
          <p:cNvPr id="11" name="Text 9"/>
          <p:cNvSpPr txBox="1"/>
          <p:nvPr/>
        </p:nvSpPr>
        <p:spPr>
          <a:xfrm>
            <a:off x="5833872" y="5568696"/>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+10%</a:t>
            </a:r>
            <a:endParaRPr lang="en-US" sz="1000" dirty="0"/>
          </a:p>
        </p:txBody>
      </p:sp>
      <p:sp>
        <p:nvSpPr>
          <p:cNvPr id="12" name="Shape 10"/>
          <p:cNvSpPr/>
          <p:nvPr/>
        </p:nvSpPr>
        <p:spPr>
          <a:xfrm>
            <a:off x="7168896" y="1554480"/>
            <a:ext cx="0" cy="3977640"/>
          </a:xfrm>
          <a:prstGeom prst="line">
            <a:avLst/>
          </a:prstGeom>
          <a:noFill/>
          <a:ln w="9525">
            <a:solidFill>
              <a:srgbClr val="D4D6D9"/>
            </a:solidFill>
            <a:prstDash val="solid"/>
          </a:ln>
        </p:spPr>
      </p:sp>
      <p:sp>
        <p:nvSpPr>
          <p:cNvPr id="13" name="Text 11"/>
          <p:cNvSpPr txBox="1"/>
          <p:nvPr/>
        </p:nvSpPr>
        <p:spPr>
          <a:xfrm>
            <a:off x="6803136" y="5568696"/>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+20%</a:t>
            </a:r>
            <a:endParaRPr lang="en-US" sz="1000" dirty="0"/>
          </a:p>
        </p:txBody>
      </p:sp>
      <p:sp>
        <p:nvSpPr>
          <p:cNvPr id="14" name="Shape 12"/>
          <p:cNvSpPr/>
          <p:nvPr/>
        </p:nvSpPr>
        <p:spPr>
          <a:xfrm>
            <a:off x="8138160" y="1554480"/>
            <a:ext cx="0" cy="3977640"/>
          </a:xfrm>
          <a:prstGeom prst="line">
            <a:avLst/>
          </a:prstGeom>
          <a:noFill/>
          <a:ln w="9525">
            <a:solidFill>
              <a:srgbClr val="D4D6D9"/>
            </a:solidFill>
            <a:prstDash val="solid"/>
          </a:ln>
        </p:spPr>
      </p:sp>
      <p:sp>
        <p:nvSpPr>
          <p:cNvPr id="15" name="Text 13"/>
          <p:cNvSpPr txBox="1"/>
          <p:nvPr/>
        </p:nvSpPr>
        <p:spPr>
          <a:xfrm>
            <a:off x="7772400" y="5568696"/>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+30%</a:t>
            </a:r>
            <a:endParaRPr lang="en-US" sz="1000" dirty="0"/>
          </a:p>
        </p:txBody>
      </p:sp>
      <p:sp>
        <p:nvSpPr>
          <p:cNvPr id="16" name="Shape 14"/>
          <p:cNvSpPr/>
          <p:nvPr/>
        </p:nvSpPr>
        <p:spPr>
          <a:xfrm>
            <a:off x="548640" y="1554480"/>
            <a:ext cx="7589520" cy="265176"/>
          </a:xfrm>
          <a:prstGeom prst="rect">
            <a:avLst/>
          </a:prstGeom>
          <a:solidFill>
            <a:srgbClr val="FAFAFA"/>
          </a:solidFill>
          <a:ln/>
        </p:spPr>
      </p:sp>
      <p:sp>
        <p:nvSpPr>
          <p:cNvPr id="17" name="Text 15"/>
          <p:cNvSpPr txBox="1"/>
          <p:nvPr/>
        </p:nvSpPr>
        <p:spPr>
          <a:xfrm>
            <a:off x="548640" y="1554480"/>
            <a:ext cx="2606040" cy="265176"/>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Cloud skill (AWS, Azure, GCP)</a:t>
            </a:r>
            <a:endParaRPr lang="en-US" sz="1200" dirty="0"/>
          </a:p>
        </p:txBody>
      </p:sp>
      <p:sp>
        <p:nvSpPr>
          <p:cNvPr id="18" name="Shape 16"/>
          <p:cNvSpPr/>
          <p:nvPr/>
        </p:nvSpPr>
        <p:spPr>
          <a:xfrm>
            <a:off x="5765092" y="1687068"/>
            <a:ext cx="1405880" cy="0"/>
          </a:xfrm>
          <a:prstGeom prst="line">
            <a:avLst/>
          </a:prstGeom>
          <a:noFill/>
          <a:ln w="28575">
            <a:solidFill>
              <a:srgbClr val="990000"/>
            </a:solidFill>
            <a:prstDash val="solid"/>
          </a:ln>
        </p:spPr>
      </p:sp>
      <p:sp>
        <p:nvSpPr>
          <p:cNvPr id="19" name="Shape 17"/>
          <p:cNvSpPr/>
          <p:nvPr/>
        </p:nvSpPr>
        <p:spPr>
          <a:xfrm>
            <a:off x="6367132" y="1609344"/>
            <a:ext cx="155448" cy="155448"/>
          </a:xfrm>
          <a:prstGeom prst="ellipse">
            <a:avLst/>
          </a:prstGeom>
          <a:solidFill>
            <a:srgbClr val="990000"/>
          </a:solidFill>
          <a:ln/>
        </p:spPr>
      </p:sp>
      <p:sp>
        <p:nvSpPr>
          <p:cNvPr id="20" name="Text 18"/>
          <p:cNvSpPr txBox="1"/>
          <p:nvPr/>
        </p:nvSpPr>
        <p:spPr>
          <a:xfrm>
            <a:off x="548640" y="1819656"/>
            <a:ext cx="2606040" cy="265176"/>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Seniority (per step)</a:t>
            </a:r>
            <a:endParaRPr lang="en-US" sz="1200" dirty="0"/>
          </a:p>
        </p:txBody>
      </p:sp>
      <p:sp>
        <p:nvSpPr>
          <p:cNvPr id="21" name="Shape 19"/>
          <p:cNvSpPr/>
          <p:nvPr/>
        </p:nvSpPr>
        <p:spPr>
          <a:xfrm>
            <a:off x="6147408" y="1952244"/>
            <a:ext cx="334051" cy="0"/>
          </a:xfrm>
          <a:prstGeom prst="line">
            <a:avLst/>
          </a:prstGeom>
          <a:noFill/>
          <a:ln w="28575">
            <a:solidFill>
              <a:srgbClr val="990000"/>
            </a:solidFill>
            <a:prstDash val="solid"/>
          </a:ln>
        </p:spPr>
      </p:sp>
      <p:sp>
        <p:nvSpPr>
          <p:cNvPr id="22" name="Shape 20"/>
          <p:cNvSpPr/>
          <p:nvPr/>
        </p:nvSpPr>
        <p:spPr>
          <a:xfrm>
            <a:off x="6235312" y="1874520"/>
            <a:ext cx="155448" cy="155448"/>
          </a:xfrm>
          <a:prstGeom prst="ellipse">
            <a:avLst/>
          </a:prstGeom>
          <a:solidFill>
            <a:srgbClr val="990000"/>
          </a:solidFill>
          <a:ln/>
        </p:spPr>
      </p:sp>
      <p:sp>
        <p:nvSpPr>
          <p:cNvPr id="23" name="Shape 21"/>
          <p:cNvSpPr/>
          <p:nvPr/>
        </p:nvSpPr>
        <p:spPr>
          <a:xfrm>
            <a:off x="548640" y="2084832"/>
            <a:ext cx="7589520" cy="265176"/>
          </a:xfrm>
          <a:prstGeom prst="rect">
            <a:avLst/>
          </a:prstGeom>
          <a:solidFill>
            <a:srgbClr val="FAFAFA"/>
          </a:solidFill>
          <a:ln/>
        </p:spPr>
      </p:sp>
      <p:sp>
        <p:nvSpPr>
          <p:cNvPr id="24" name="Text 22"/>
          <p:cNvSpPr txBox="1"/>
          <p:nvPr/>
        </p:nvSpPr>
        <p:spPr>
          <a:xfrm>
            <a:off x="548640" y="2084832"/>
            <a:ext cx="2606040" cy="265176"/>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Required experience (per year)</a:t>
            </a:r>
            <a:endParaRPr lang="en-US" sz="1200" dirty="0"/>
          </a:p>
        </p:txBody>
      </p:sp>
      <p:sp>
        <p:nvSpPr>
          <p:cNvPr id="25" name="Shape 23"/>
          <p:cNvSpPr/>
          <p:nvPr/>
        </p:nvSpPr>
        <p:spPr>
          <a:xfrm>
            <a:off x="5395566" y="2217420"/>
            <a:ext cx="166008" cy="0"/>
          </a:xfrm>
          <a:prstGeom prst="line">
            <a:avLst/>
          </a:prstGeom>
          <a:noFill/>
          <a:ln w="28575">
            <a:solidFill>
              <a:srgbClr val="990000"/>
            </a:solidFill>
            <a:prstDash val="solid"/>
          </a:ln>
        </p:spPr>
      </p:sp>
      <p:sp>
        <p:nvSpPr>
          <p:cNvPr id="26" name="Shape 24"/>
          <p:cNvSpPr/>
          <p:nvPr/>
        </p:nvSpPr>
        <p:spPr>
          <a:xfrm>
            <a:off x="5399806" y="2139696"/>
            <a:ext cx="155448" cy="155448"/>
          </a:xfrm>
          <a:prstGeom prst="ellipse">
            <a:avLst/>
          </a:prstGeom>
          <a:solidFill>
            <a:srgbClr val="990000"/>
          </a:solidFill>
          <a:ln/>
        </p:spPr>
      </p:sp>
      <p:sp>
        <p:nvSpPr>
          <p:cNvPr id="27" name="Text 25"/>
          <p:cNvSpPr txBox="1"/>
          <p:nvPr/>
        </p:nvSpPr>
        <p:spPr>
          <a:xfrm>
            <a:off x="548640" y="2350008"/>
            <a:ext cx="2606040" cy="265176"/>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West (vs. Midwest)</a:t>
            </a:r>
            <a:endParaRPr lang="en-US" sz="1200" dirty="0"/>
          </a:p>
        </p:txBody>
      </p:sp>
      <p:sp>
        <p:nvSpPr>
          <p:cNvPr id="28" name="Shape 26"/>
          <p:cNvSpPr/>
          <p:nvPr/>
        </p:nvSpPr>
        <p:spPr>
          <a:xfrm>
            <a:off x="5730378" y="2482596"/>
            <a:ext cx="1687475" cy="0"/>
          </a:xfrm>
          <a:prstGeom prst="line">
            <a:avLst/>
          </a:prstGeom>
          <a:noFill/>
          <a:ln w="28575">
            <a:solidFill>
              <a:srgbClr val="990000"/>
            </a:solidFill>
            <a:prstDash val="solid"/>
          </a:ln>
        </p:spPr>
      </p:sp>
      <p:sp>
        <p:nvSpPr>
          <p:cNvPr id="29" name="Shape 27"/>
          <p:cNvSpPr/>
          <p:nvPr/>
        </p:nvSpPr>
        <p:spPr>
          <a:xfrm>
            <a:off x="6464058" y="2404872"/>
            <a:ext cx="155448" cy="155448"/>
          </a:xfrm>
          <a:prstGeom prst="ellipse">
            <a:avLst/>
          </a:prstGeom>
          <a:solidFill>
            <a:srgbClr val="FFFFFF"/>
          </a:solidFill>
          <a:ln w="19050">
            <a:solidFill>
              <a:srgbClr val="990000"/>
            </a:solidFill>
            <a:prstDash val="solid"/>
          </a:ln>
        </p:spPr>
      </p:sp>
      <p:sp>
        <p:nvSpPr>
          <p:cNvPr id="30" name="Shape 28"/>
          <p:cNvSpPr/>
          <p:nvPr/>
        </p:nvSpPr>
        <p:spPr>
          <a:xfrm>
            <a:off x="548640" y="2615184"/>
            <a:ext cx="7589520" cy="265176"/>
          </a:xfrm>
          <a:prstGeom prst="rect">
            <a:avLst/>
          </a:prstGeom>
          <a:solidFill>
            <a:srgbClr val="FAFAFA"/>
          </a:solidFill>
          <a:ln/>
        </p:spPr>
      </p:sp>
      <p:sp>
        <p:nvSpPr>
          <p:cNvPr id="31" name="Text 29"/>
          <p:cNvSpPr txBox="1"/>
          <p:nvPr/>
        </p:nvSpPr>
        <p:spPr>
          <a:xfrm>
            <a:off x="548640" y="2615184"/>
            <a:ext cx="2606040" cy="265176"/>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Northeast (vs. Midwest)</a:t>
            </a:r>
            <a:endParaRPr lang="en-US" sz="1200" dirty="0"/>
          </a:p>
        </p:txBody>
      </p:sp>
      <p:sp>
        <p:nvSpPr>
          <p:cNvPr id="32" name="Shape 30"/>
          <p:cNvSpPr/>
          <p:nvPr/>
        </p:nvSpPr>
        <p:spPr>
          <a:xfrm>
            <a:off x="5475738" y="2747772"/>
            <a:ext cx="1269306" cy="0"/>
          </a:xfrm>
          <a:prstGeom prst="line">
            <a:avLst/>
          </a:prstGeom>
          <a:noFill/>
          <a:ln w="28575">
            <a:solidFill>
              <a:srgbClr val="990000"/>
            </a:solidFill>
            <a:prstDash val="solid"/>
          </a:ln>
        </p:spPr>
      </p:sp>
      <p:sp>
        <p:nvSpPr>
          <p:cNvPr id="33" name="Shape 31"/>
          <p:cNvSpPr/>
          <p:nvPr/>
        </p:nvSpPr>
        <p:spPr>
          <a:xfrm>
            <a:off x="6013350" y="2670048"/>
            <a:ext cx="155448" cy="155448"/>
          </a:xfrm>
          <a:prstGeom prst="ellipse">
            <a:avLst/>
          </a:prstGeom>
          <a:solidFill>
            <a:srgbClr val="FFFFFF"/>
          </a:solidFill>
          <a:ln w="19050">
            <a:solidFill>
              <a:srgbClr val="990000"/>
            </a:solidFill>
            <a:prstDash val="solid"/>
          </a:ln>
        </p:spPr>
      </p:sp>
      <p:sp>
        <p:nvSpPr>
          <p:cNvPr id="34" name="Text 32"/>
          <p:cNvSpPr txBox="1"/>
          <p:nvPr/>
        </p:nvSpPr>
        <p:spPr>
          <a:xfrm>
            <a:off x="548640" y="2880360"/>
            <a:ext cx="2606040" cy="265176"/>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STEM degree</a:t>
            </a:r>
            <a:endParaRPr lang="en-US" sz="1200" dirty="0"/>
          </a:p>
        </p:txBody>
      </p:sp>
      <p:sp>
        <p:nvSpPr>
          <p:cNvPr id="35" name="Shape 33"/>
          <p:cNvSpPr/>
          <p:nvPr/>
        </p:nvSpPr>
        <p:spPr>
          <a:xfrm>
            <a:off x="5275057" y="3012948"/>
            <a:ext cx="918071" cy="0"/>
          </a:xfrm>
          <a:prstGeom prst="line">
            <a:avLst/>
          </a:prstGeom>
          <a:noFill/>
          <a:ln w="28575">
            <a:solidFill>
              <a:srgbClr val="990000"/>
            </a:solidFill>
            <a:prstDash val="solid"/>
          </a:ln>
        </p:spPr>
      </p:sp>
      <p:sp>
        <p:nvSpPr>
          <p:cNvPr id="36" name="Shape 34"/>
          <p:cNvSpPr/>
          <p:nvPr/>
        </p:nvSpPr>
        <p:spPr>
          <a:xfrm>
            <a:off x="5645999" y="2935224"/>
            <a:ext cx="155448" cy="155448"/>
          </a:xfrm>
          <a:prstGeom prst="ellipse">
            <a:avLst/>
          </a:prstGeom>
          <a:solidFill>
            <a:srgbClr val="FFFFFF"/>
          </a:solidFill>
          <a:ln w="19050">
            <a:solidFill>
              <a:srgbClr val="990000"/>
            </a:solidFill>
            <a:prstDash val="solid"/>
          </a:ln>
        </p:spPr>
      </p:sp>
      <p:sp>
        <p:nvSpPr>
          <p:cNvPr id="37" name="Shape 35"/>
          <p:cNvSpPr/>
          <p:nvPr/>
        </p:nvSpPr>
        <p:spPr>
          <a:xfrm>
            <a:off x="548640" y="3145536"/>
            <a:ext cx="7589520" cy="265176"/>
          </a:xfrm>
          <a:prstGeom prst="rect">
            <a:avLst/>
          </a:prstGeom>
          <a:solidFill>
            <a:srgbClr val="FAFAFA"/>
          </a:solidFill>
          <a:ln/>
        </p:spPr>
      </p:sp>
      <p:sp>
        <p:nvSpPr>
          <p:cNvPr id="38" name="Text 36"/>
          <p:cNvSpPr txBox="1"/>
          <p:nvPr/>
        </p:nvSpPr>
        <p:spPr>
          <a:xfrm>
            <a:off x="548640" y="3145536"/>
            <a:ext cx="2606040" cy="265176"/>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States an experience minimum</a:t>
            </a:r>
            <a:endParaRPr lang="en-US" sz="1200" dirty="0"/>
          </a:p>
        </p:txBody>
      </p:sp>
      <p:sp>
        <p:nvSpPr>
          <p:cNvPr id="39" name="Shape 37"/>
          <p:cNvSpPr/>
          <p:nvPr/>
        </p:nvSpPr>
        <p:spPr>
          <a:xfrm>
            <a:off x="4013119" y="3278124"/>
            <a:ext cx="1108338" cy="0"/>
          </a:xfrm>
          <a:prstGeom prst="line">
            <a:avLst/>
          </a:prstGeom>
          <a:noFill/>
          <a:ln w="28575">
            <a:solidFill>
              <a:srgbClr val="990000"/>
            </a:solidFill>
            <a:prstDash val="solid"/>
          </a:ln>
        </p:spPr>
      </p:sp>
      <p:sp>
        <p:nvSpPr>
          <p:cNvPr id="40" name="Shape 38"/>
          <p:cNvSpPr/>
          <p:nvPr/>
        </p:nvSpPr>
        <p:spPr>
          <a:xfrm>
            <a:off x="4472221" y="3200400"/>
            <a:ext cx="155448" cy="155448"/>
          </a:xfrm>
          <a:prstGeom prst="ellipse">
            <a:avLst/>
          </a:prstGeom>
          <a:solidFill>
            <a:srgbClr val="FFFFFF"/>
          </a:solidFill>
          <a:ln w="19050">
            <a:solidFill>
              <a:srgbClr val="990000"/>
            </a:solidFill>
            <a:prstDash val="solid"/>
          </a:ln>
        </p:spPr>
      </p:sp>
      <p:sp>
        <p:nvSpPr>
          <p:cNvPr id="41" name="Text 39"/>
          <p:cNvSpPr txBox="1"/>
          <p:nvPr/>
        </p:nvSpPr>
        <p:spPr>
          <a:xfrm>
            <a:off x="548640" y="3410712"/>
            <a:ext cx="2606040" cy="265176"/>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ML/AI skill</a:t>
            </a:r>
            <a:endParaRPr lang="en-US" sz="1200" dirty="0"/>
          </a:p>
        </p:txBody>
      </p:sp>
      <p:sp>
        <p:nvSpPr>
          <p:cNvPr id="42" name="Shape 40"/>
          <p:cNvSpPr/>
          <p:nvPr/>
        </p:nvSpPr>
        <p:spPr>
          <a:xfrm>
            <a:off x="5302360" y="3543300"/>
            <a:ext cx="1824490" cy="0"/>
          </a:xfrm>
          <a:prstGeom prst="line">
            <a:avLst/>
          </a:prstGeom>
          <a:noFill/>
          <a:ln w="28575">
            <a:solidFill>
              <a:srgbClr val="5E6A78"/>
            </a:solidFill>
            <a:prstDash val="solid"/>
          </a:ln>
        </p:spPr>
      </p:sp>
      <p:sp>
        <p:nvSpPr>
          <p:cNvPr id="43" name="Shape 41"/>
          <p:cNvSpPr/>
          <p:nvPr/>
        </p:nvSpPr>
        <p:spPr>
          <a:xfrm>
            <a:off x="6097676" y="3465576"/>
            <a:ext cx="155448" cy="155448"/>
          </a:xfrm>
          <a:prstGeom prst="ellipse">
            <a:avLst/>
          </a:prstGeom>
          <a:solidFill>
            <a:srgbClr val="5E6A78"/>
          </a:solidFill>
          <a:ln/>
        </p:spPr>
      </p:sp>
      <p:sp>
        <p:nvSpPr>
          <p:cNvPr id="44" name="Shape 42"/>
          <p:cNvSpPr/>
          <p:nvPr/>
        </p:nvSpPr>
        <p:spPr>
          <a:xfrm>
            <a:off x="548640" y="3675888"/>
            <a:ext cx="7589520" cy="265176"/>
          </a:xfrm>
          <a:prstGeom prst="rect">
            <a:avLst/>
          </a:prstGeom>
          <a:solidFill>
            <a:srgbClr val="FAFAFA"/>
          </a:solidFill>
          <a:ln/>
        </p:spPr>
      </p:sp>
      <p:sp>
        <p:nvSpPr>
          <p:cNvPr id="45" name="Text 43"/>
          <p:cNvSpPr txBox="1"/>
          <p:nvPr/>
        </p:nvSpPr>
        <p:spPr>
          <a:xfrm>
            <a:off x="548640" y="3675888"/>
            <a:ext cx="2606040" cy="265176"/>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AI/ML role family</a:t>
            </a:r>
            <a:endParaRPr lang="en-US" sz="1200" dirty="0"/>
          </a:p>
        </p:txBody>
      </p:sp>
      <p:sp>
        <p:nvSpPr>
          <p:cNvPr id="46" name="Shape 44"/>
          <p:cNvSpPr/>
          <p:nvPr/>
        </p:nvSpPr>
        <p:spPr>
          <a:xfrm>
            <a:off x="5238125" y="3808476"/>
            <a:ext cx="1585646" cy="0"/>
          </a:xfrm>
          <a:prstGeom prst="line">
            <a:avLst/>
          </a:prstGeom>
          <a:noFill/>
          <a:ln w="28575">
            <a:solidFill>
              <a:srgbClr val="5E6A78"/>
            </a:solidFill>
            <a:prstDash val="solid"/>
          </a:ln>
        </p:spPr>
      </p:sp>
      <p:sp>
        <p:nvSpPr>
          <p:cNvPr id="47" name="Shape 45"/>
          <p:cNvSpPr/>
          <p:nvPr/>
        </p:nvSpPr>
        <p:spPr>
          <a:xfrm>
            <a:off x="5923209" y="3730752"/>
            <a:ext cx="155448" cy="155448"/>
          </a:xfrm>
          <a:prstGeom prst="ellipse">
            <a:avLst/>
          </a:prstGeom>
          <a:solidFill>
            <a:srgbClr val="5E6A78"/>
          </a:solidFill>
          <a:ln/>
        </p:spPr>
      </p:sp>
      <p:sp>
        <p:nvSpPr>
          <p:cNvPr id="48" name="Text 46"/>
          <p:cNvSpPr txBox="1"/>
          <p:nvPr/>
        </p:nvSpPr>
        <p:spPr>
          <a:xfrm>
            <a:off x="548640" y="3941064"/>
            <a:ext cx="2606040" cy="265176"/>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Data-center operator</a:t>
            </a:r>
            <a:endParaRPr lang="en-US" sz="1200" dirty="0"/>
          </a:p>
        </p:txBody>
      </p:sp>
      <p:sp>
        <p:nvSpPr>
          <p:cNvPr id="49" name="Shape 47"/>
          <p:cNvSpPr/>
          <p:nvPr/>
        </p:nvSpPr>
        <p:spPr>
          <a:xfrm>
            <a:off x="4860564" y="4073652"/>
            <a:ext cx="2943601" cy="0"/>
          </a:xfrm>
          <a:prstGeom prst="line">
            <a:avLst/>
          </a:prstGeom>
          <a:noFill/>
          <a:ln w="28575">
            <a:solidFill>
              <a:srgbClr val="A7A9AB"/>
            </a:solidFill>
            <a:prstDash val="solid"/>
          </a:ln>
        </p:spPr>
      </p:sp>
      <p:sp>
        <p:nvSpPr>
          <p:cNvPr id="50" name="Shape 48"/>
          <p:cNvSpPr/>
          <p:nvPr/>
        </p:nvSpPr>
        <p:spPr>
          <a:xfrm>
            <a:off x="6153894" y="3995928"/>
            <a:ext cx="155448" cy="155448"/>
          </a:xfrm>
          <a:prstGeom prst="ellipse">
            <a:avLst/>
          </a:prstGeom>
          <a:solidFill>
            <a:srgbClr val="A7A9AB"/>
          </a:solidFill>
          <a:ln/>
        </p:spPr>
      </p:sp>
      <p:sp>
        <p:nvSpPr>
          <p:cNvPr id="51" name="Shape 49"/>
          <p:cNvSpPr/>
          <p:nvPr/>
        </p:nvSpPr>
        <p:spPr>
          <a:xfrm>
            <a:off x="548640" y="4206240"/>
            <a:ext cx="7589520" cy="265176"/>
          </a:xfrm>
          <a:prstGeom prst="rect">
            <a:avLst/>
          </a:prstGeom>
          <a:solidFill>
            <a:srgbClr val="FAFAFA"/>
          </a:solidFill>
          <a:ln/>
        </p:spPr>
      </p:sp>
      <p:sp>
        <p:nvSpPr>
          <p:cNvPr id="52" name="Text 50"/>
          <p:cNvSpPr txBox="1"/>
          <p:nvPr/>
        </p:nvSpPr>
        <p:spPr>
          <a:xfrm>
            <a:off x="548640" y="4206240"/>
            <a:ext cx="2606040" cy="265176"/>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South (vs. Midwest)</a:t>
            </a:r>
            <a:endParaRPr lang="en-US" sz="1200" dirty="0"/>
          </a:p>
        </p:txBody>
      </p:sp>
      <p:sp>
        <p:nvSpPr>
          <p:cNvPr id="53" name="Shape 51"/>
          <p:cNvSpPr/>
          <p:nvPr/>
        </p:nvSpPr>
        <p:spPr>
          <a:xfrm>
            <a:off x="5189744" y="4338828"/>
            <a:ext cx="1752014" cy="0"/>
          </a:xfrm>
          <a:prstGeom prst="line">
            <a:avLst/>
          </a:prstGeom>
          <a:noFill/>
          <a:ln w="28575">
            <a:solidFill>
              <a:srgbClr val="A7A9AB"/>
            </a:solidFill>
            <a:prstDash val="solid"/>
          </a:ln>
        </p:spPr>
      </p:sp>
      <p:sp>
        <p:nvSpPr>
          <p:cNvPr id="54" name="Shape 52"/>
          <p:cNvSpPr/>
          <p:nvPr/>
        </p:nvSpPr>
        <p:spPr>
          <a:xfrm>
            <a:off x="5951318" y="4261104"/>
            <a:ext cx="155448" cy="155448"/>
          </a:xfrm>
          <a:prstGeom prst="ellipse">
            <a:avLst/>
          </a:prstGeom>
          <a:solidFill>
            <a:srgbClr val="A7A9AB"/>
          </a:solidFill>
          <a:ln/>
        </p:spPr>
      </p:sp>
      <p:sp>
        <p:nvSpPr>
          <p:cNvPr id="55" name="Text 53"/>
          <p:cNvSpPr txBox="1"/>
          <p:nvPr/>
        </p:nvSpPr>
        <p:spPr>
          <a:xfrm>
            <a:off x="548640" y="4471416"/>
            <a:ext cx="2606040" cy="265176"/>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Pay-transparency mandate</a:t>
            </a:r>
            <a:endParaRPr lang="en-US" sz="1200" dirty="0"/>
          </a:p>
        </p:txBody>
      </p:sp>
      <p:sp>
        <p:nvSpPr>
          <p:cNvPr id="56" name="Shape 54"/>
          <p:cNvSpPr/>
          <p:nvPr/>
        </p:nvSpPr>
        <p:spPr>
          <a:xfrm>
            <a:off x="4761341" y="4604004"/>
            <a:ext cx="1180142" cy="0"/>
          </a:xfrm>
          <a:prstGeom prst="line">
            <a:avLst/>
          </a:prstGeom>
          <a:noFill/>
          <a:ln w="28575">
            <a:solidFill>
              <a:srgbClr val="A7A9AB"/>
            </a:solidFill>
            <a:prstDash val="solid"/>
          </a:ln>
        </p:spPr>
      </p:sp>
      <p:sp>
        <p:nvSpPr>
          <p:cNvPr id="57" name="Shape 55"/>
          <p:cNvSpPr/>
          <p:nvPr/>
        </p:nvSpPr>
        <p:spPr>
          <a:xfrm>
            <a:off x="5256355" y="4526280"/>
            <a:ext cx="155448" cy="155448"/>
          </a:xfrm>
          <a:prstGeom prst="ellipse">
            <a:avLst/>
          </a:prstGeom>
          <a:solidFill>
            <a:srgbClr val="A7A9AB"/>
          </a:solidFill>
          <a:ln/>
        </p:spPr>
      </p:sp>
      <p:sp>
        <p:nvSpPr>
          <p:cNvPr id="58" name="Shape 56"/>
          <p:cNvSpPr/>
          <p:nvPr/>
        </p:nvSpPr>
        <p:spPr>
          <a:xfrm>
            <a:off x="548640" y="4736592"/>
            <a:ext cx="7589520" cy="265176"/>
          </a:xfrm>
          <a:prstGeom prst="rect">
            <a:avLst/>
          </a:prstGeom>
          <a:solidFill>
            <a:srgbClr val="FAFAFA"/>
          </a:solidFill>
          <a:ln/>
        </p:spPr>
      </p:sp>
      <p:sp>
        <p:nvSpPr>
          <p:cNvPr id="59" name="Text 57"/>
          <p:cNvSpPr txBox="1"/>
          <p:nvPr/>
        </p:nvSpPr>
        <p:spPr>
          <a:xfrm>
            <a:off x="548640" y="4736592"/>
            <a:ext cx="2606040" cy="265176"/>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Remote-eligible</a:t>
            </a:r>
            <a:endParaRPr lang="en-US" sz="1200" dirty="0"/>
          </a:p>
        </p:txBody>
      </p:sp>
      <p:sp>
        <p:nvSpPr>
          <p:cNvPr id="60" name="Shape 58"/>
          <p:cNvSpPr/>
          <p:nvPr/>
        </p:nvSpPr>
        <p:spPr>
          <a:xfrm>
            <a:off x="4689677" y="4869180"/>
            <a:ext cx="1319651" cy="0"/>
          </a:xfrm>
          <a:prstGeom prst="line">
            <a:avLst/>
          </a:prstGeom>
          <a:noFill/>
          <a:ln w="28575">
            <a:solidFill>
              <a:srgbClr val="A7A9AB"/>
            </a:solidFill>
            <a:prstDash val="solid"/>
          </a:ln>
        </p:spPr>
      </p:sp>
      <p:sp>
        <p:nvSpPr>
          <p:cNvPr id="61" name="Shape 59"/>
          <p:cNvSpPr/>
          <p:nvPr/>
        </p:nvSpPr>
        <p:spPr>
          <a:xfrm>
            <a:off x="5249570" y="4791456"/>
            <a:ext cx="155448" cy="155448"/>
          </a:xfrm>
          <a:prstGeom prst="ellipse">
            <a:avLst/>
          </a:prstGeom>
          <a:solidFill>
            <a:srgbClr val="A7A9AB"/>
          </a:solidFill>
          <a:ln/>
        </p:spPr>
      </p:sp>
      <p:sp>
        <p:nvSpPr>
          <p:cNvPr id="62" name="Text 60"/>
          <p:cNvSpPr txBox="1"/>
          <p:nvPr/>
        </p:nvSpPr>
        <p:spPr>
          <a:xfrm>
            <a:off x="548640" y="5001768"/>
            <a:ext cx="2606040" cy="265176"/>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Advertised hourly</a:t>
            </a:r>
            <a:endParaRPr lang="en-US" sz="1200" dirty="0"/>
          </a:p>
        </p:txBody>
      </p:sp>
      <p:sp>
        <p:nvSpPr>
          <p:cNvPr id="63" name="Shape 61"/>
          <p:cNvSpPr/>
          <p:nvPr/>
        </p:nvSpPr>
        <p:spPr>
          <a:xfrm>
            <a:off x="4264249" y="5134356"/>
            <a:ext cx="1509027" cy="0"/>
          </a:xfrm>
          <a:prstGeom prst="line">
            <a:avLst/>
          </a:prstGeom>
          <a:noFill/>
          <a:ln w="28575">
            <a:solidFill>
              <a:srgbClr val="A7A9AB"/>
            </a:solidFill>
            <a:prstDash val="solid"/>
          </a:ln>
        </p:spPr>
      </p:sp>
      <p:sp>
        <p:nvSpPr>
          <p:cNvPr id="64" name="Shape 62"/>
          <p:cNvSpPr/>
          <p:nvPr/>
        </p:nvSpPr>
        <p:spPr>
          <a:xfrm>
            <a:off x="4911297" y="5056632"/>
            <a:ext cx="155448" cy="155448"/>
          </a:xfrm>
          <a:prstGeom prst="ellipse">
            <a:avLst/>
          </a:prstGeom>
          <a:solidFill>
            <a:srgbClr val="A7A9AB"/>
          </a:solidFill>
          <a:ln/>
        </p:spPr>
      </p:sp>
      <p:sp>
        <p:nvSpPr>
          <p:cNvPr id="65" name="Shape 63"/>
          <p:cNvSpPr/>
          <p:nvPr/>
        </p:nvSpPr>
        <p:spPr>
          <a:xfrm>
            <a:off x="548640" y="5266944"/>
            <a:ext cx="7589520" cy="265176"/>
          </a:xfrm>
          <a:prstGeom prst="rect">
            <a:avLst/>
          </a:prstGeom>
          <a:solidFill>
            <a:srgbClr val="FAFAFA"/>
          </a:solidFill>
          <a:ln/>
        </p:spPr>
      </p:sp>
      <p:sp>
        <p:nvSpPr>
          <p:cNvPr id="66" name="Text 64"/>
          <p:cNvSpPr txBox="1"/>
          <p:nvPr/>
        </p:nvSpPr>
        <p:spPr>
          <a:xfrm>
            <a:off x="548640" y="5266944"/>
            <a:ext cx="2606040" cy="265176"/>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Requires a degree</a:t>
            </a:r>
            <a:endParaRPr lang="en-US" sz="1200" dirty="0"/>
          </a:p>
        </p:txBody>
      </p:sp>
      <p:sp>
        <p:nvSpPr>
          <p:cNvPr id="67" name="Shape 65"/>
          <p:cNvSpPr/>
          <p:nvPr/>
        </p:nvSpPr>
        <p:spPr>
          <a:xfrm>
            <a:off x="4267741" y="5399532"/>
            <a:ext cx="973295" cy="0"/>
          </a:xfrm>
          <a:prstGeom prst="line">
            <a:avLst/>
          </a:prstGeom>
          <a:noFill/>
          <a:ln w="28575">
            <a:solidFill>
              <a:srgbClr val="A7A9AB"/>
            </a:solidFill>
            <a:prstDash val="solid"/>
          </a:ln>
        </p:spPr>
      </p:sp>
      <p:sp>
        <p:nvSpPr>
          <p:cNvPr id="68" name="Shape 66"/>
          <p:cNvSpPr/>
          <p:nvPr/>
        </p:nvSpPr>
        <p:spPr>
          <a:xfrm>
            <a:off x="4664135" y="5321808"/>
            <a:ext cx="155448" cy="155448"/>
          </a:xfrm>
          <a:prstGeom prst="ellipse">
            <a:avLst/>
          </a:prstGeom>
          <a:solidFill>
            <a:srgbClr val="A7A9AB"/>
          </a:solidFill>
          <a:ln/>
        </p:spPr>
      </p:sp>
      <p:sp>
        <p:nvSpPr>
          <p:cNvPr id="69" name="Text 67"/>
          <p:cNvSpPr txBox="1"/>
          <p:nvPr/>
        </p:nvSpPr>
        <p:spPr>
          <a:xfrm>
            <a:off x="8503920" y="1554480"/>
            <a:ext cx="3139135" cy="274320"/>
          </a:xfrm>
          <a:prstGeom prst="rect">
            <a:avLst/>
          </a:prstGeom>
          <a:noFill/>
          <a:ln/>
        </p:spPr>
        <p:txBody>
          <a:bodyPr wrap="square" lIns="0" tIns="0" rIns="0" bIns="0" rtlCol="0" anchor="t"/>
          <a:lstStyle/>
          <a:p>
            <a:pPr indent="0" marL="0">
              <a:buNone/>
            </a:pPr>
            <a:r>
              <a:rPr lang="en-US" sz="1000" b="1" spc="150" kern="0" dirty="0">
                <a:solidFill>
                  <a:srgbClr val="990000"/>
                </a:solidFill>
                <a:latin typeface="Arial" pitchFamily="34" charset="0"/>
                <a:ea typeface="Arial" pitchFamily="34" charset="-122"/>
                <a:cs typeface="Arial" pitchFamily="34" charset="-120"/>
              </a:rPr>
              <a:t>HOW TO READ IT</a:t>
            </a:r>
            <a:endParaRPr lang="en-US" sz="1000" dirty="0"/>
          </a:p>
        </p:txBody>
      </p:sp>
      <p:sp>
        <p:nvSpPr>
          <p:cNvPr id="70" name="Shape 68"/>
          <p:cNvSpPr/>
          <p:nvPr/>
        </p:nvSpPr>
        <p:spPr>
          <a:xfrm>
            <a:off x="8517636" y="1979676"/>
            <a:ext cx="155448" cy="155448"/>
          </a:xfrm>
          <a:prstGeom prst="ellipse">
            <a:avLst/>
          </a:prstGeom>
          <a:solidFill>
            <a:srgbClr val="990000"/>
          </a:solidFill>
          <a:ln/>
        </p:spPr>
      </p:sp>
      <p:sp>
        <p:nvSpPr>
          <p:cNvPr id="71" name="Text 69"/>
          <p:cNvSpPr txBox="1"/>
          <p:nvPr/>
        </p:nvSpPr>
        <p:spPr>
          <a:xfrm>
            <a:off x="8823960" y="1938528"/>
            <a:ext cx="2819095" cy="256032"/>
          </a:xfrm>
          <a:prstGeom prst="rect">
            <a:avLst/>
          </a:prstGeom>
          <a:noFill/>
          <a:ln/>
        </p:spPr>
        <p:txBody>
          <a:bodyPr wrap="square" lIns="0" tIns="0" rIns="0" bIns="0" rtlCol="0" anchor="t"/>
          <a:lstStyle/>
          <a:p>
            <a:pPr indent="0" marL="0">
              <a:buNone/>
            </a:pPr>
            <a:r>
              <a:rPr lang="en-US" sz="1200" b="1" dirty="0">
                <a:solidFill>
                  <a:srgbClr val="243142"/>
                </a:solidFill>
                <a:latin typeface="Arial" pitchFamily="34" charset="0"/>
                <a:ea typeface="Arial" pitchFamily="34" charset="-122"/>
                <a:cs typeface="Arial" pitchFamily="34" charset="-120"/>
              </a:rPr>
              <a:t>Holds under every check</a:t>
            </a:r>
            <a:endParaRPr lang="en-US" sz="1200" dirty="0"/>
          </a:p>
        </p:txBody>
      </p:sp>
      <p:sp>
        <p:nvSpPr>
          <p:cNvPr id="72" name="Text 70"/>
          <p:cNvSpPr txBox="1"/>
          <p:nvPr/>
        </p:nvSpPr>
        <p:spPr>
          <a:xfrm>
            <a:off x="8823960" y="2194560"/>
            <a:ext cx="2819095" cy="411480"/>
          </a:xfrm>
          <a:prstGeom prst="rect">
            <a:avLst/>
          </a:prstGeom>
          <a:noFill/>
          <a:ln/>
        </p:spPr>
        <p:txBody>
          <a:bodyPr wrap="square" lIns="0" tIns="0" rIns="0" bIns="0" rtlCol="0" anchor="t"/>
          <a:lstStyle/>
          <a:p>
            <a:pPr indent="0" marL="0">
              <a:buNone/>
            </a:pPr>
            <a:r>
              <a:rPr lang="en-US" sz="1100" dirty="0">
                <a:solidFill>
                  <a:srgbClr val="5E6A78"/>
                </a:solidFill>
                <a:latin typeface="Arial" pitchFamily="34" charset="0"/>
                <a:ea typeface="Arial" pitchFamily="34" charset="-122"/>
                <a:cs typeface="Arial" pitchFamily="34" charset="-120"/>
              </a:rPr>
              <a:t>seniority, required experience and a stated cloud skill</a:t>
            </a:r>
            <a:endParaRPr lang="en-US" sz="1100" dirty="0"/>
          </a:p>
        </p:txBody>
      </p:sp>
      <p:sp>
        <p:nvSpPr>
          <p:cNvPr id="73" name="Shape 71"/>
          <p:cNvSpPr/>
          <p:nvPr/>
        </p:nvSpPr>
        <p:spPr>
          <a:xfrm>
            <a:off x="8517636" y="2692908"/>
            <a:ext cx="155448" cy="155448"/>
          </a:xfrm>
          <a:prstGeom prst="ellipse">
            <a:avLst/>
          </a:prstGeom>
          <a:solidFill>
            <a:srgbClr val="FFFFFF"/>
          </a:solidFill>
          <a:ln w="19050">
            <a:solidFill>
              <a:srgbClr val="990000"/>
            </a:solidFill>
            <a:prstDash val="solid"/>
          </a:ln>
        </p:spPr>
      </p:sp>
      <p:sp>
        <p:nvSpPr>
          <p:cNvPr id="74" name="Text 72"/>
          <p:cNvSpPr txBox="1"/>
          <p:nvPr/>
        </p:nvSpPr>
        <p:spPr>
          <a:xfrm>
            <a:off x="8823960" y="2651760"/>
            <a:ext cx="2819095" cy="256032"/>
          </a:xfrm>
          <a:prstGeom prst="rect">
            <a:avLst/>
          </a:prstGeom>
          <a:noFill/>
          <a:ln/>
        </p:spPr>
        <p:txBody>
          <a:bodyPr wrap="square" lIns="0" tIns="0" rIns="0" bIns="0" rtlCol="0" anchor="t"/>
          <a:lstStyle/>
          <a:p>
            <a:pPr indent="0" marL="0">
              <a:buNone/>
            </a:pPr>
            <a:r>
              <a:rPr lang="en-US" sz="1200" b="1" dirty="0">
                <a:solidFill>
                  <a:srgbClr val="243142"/>
                </a:solidFill>
                <a:latin typeface="Arial" pitchFamily="34" charset="0"/>
                <a:ea typeface="Arial" pitchFamily="34" charset="-122"/>
                <a:cs typeface="Arial" pitchFamily="34" charset="-120"/>
              </a:rPr>
              <a:t>Tentative or nominal only</a:t>
            </a:r>
            <a:endParaRPr lang="en-US" sz="1200" dirty="0"/>
          </a:p>
        </p:txBody>
      </p:sp>
      <p:sp>
        <p:nvSpPr>
          <p:cNvPr id="75" name="Text 73"/>
          <p:cNvSpPr txBox="1"/>
          <p:nvPr/>
        </p:nvSpPr>
        <p:spPr>
          <a:xfrm>
            <a:off x="8823960" y="2907792"/>
            <a:ext cx="2819095" cy="411480"/>
          </a:xfrm>
          <a:prstGeom prst="rect">
            <a:avLst/>
          </a:prstGeom>
          <a:noFill/>
          <a:ln/>
        </p:spPr>
        <p:txBody>
          <a:bodyPr wrap="square" lIns="0" tIns="0" rIns="0" bIns="0" rtlCol="0" anchor="t"/>
          <a:lstStyle/>
          <a:p>
            <a:pPr indent="0" marL="0">
              <a:buNone/>
            </a:pPr>
            <a:r>
              <a:rPr lang="en-US" sz="1100" dirty="0">
                <a:solidFill>
                  <a:srgbClr val="5E6A78"/>
                </a:solidFill>
                <a:latin typeface="Arial" pitchFamily="34" charset="0"/>
                <a:ea typeface="Arial" pitchFamily="34" charset="-122"/>
                <a:cs typeface="Arial" pitchFamily="34" charset="-120"/>
              </a:rPr>
              <a:t>passes the bootstrap, fails a check</a:t>
            </a:r>
            <a:endParaRPr lang="en-US" sz="1100" dirty="0"/>
          </a:p>
        </p:txBody>
      </p:sp>
      <p:sp>
        <p:nvSpPr>
          <p:cNvPr id="76" name="Shape 74"/>
          <p:cNvSpPr/>
          <p:nvPr/>
        </p:nvSpPr>
        <p:spPr>
          <a:xfrm>
            <a:off x="8517636" y="3406140"/>
            <a:ext cx="155448" cy="155448"/>
          </a:xfrm>
          <a:prstGeom prst="ellipse">
            <a:avLst/>
          </a:prstGeom>
          <a:solidFill>
            <a:srgbClr val="5E6A78"/>
          </a:solidFill>
          <a:ln/>
        </p:spPr>
      </p:sp>
      <p:sp>
        <p:nvSpPr>
          <p:cNvPr id="77" name="Text 75"/>
          <p:cNvSpPr txBox="1"/>
          <p:nvPr/>
        </p:nvSpPr>
        <p:spPr>
          <a:xfrm>
            <a:off x="8823960" y="3364992"/>
            <a:ext cx="2819095" cy="256032"/>
          </a:xfrm>
          <a:prstGeom prst="rect">
            <a:avLst/>
          </a:prstGeom>
          <a:noFill/>
          <a:ln/>
        </p:spPr>
        <p:txBody>
          <a:bodyPr wrap="square" lIns="0" tIns="0" rIns="0" bIns="0" rtlCol="0" anchor="t"/>
          <a:lstStyle/>
          <a:p>
            <a:pPr indent="0" marL="0">
              <a:buNone/>
            </a:pPr>
            <a:r>
              <a:rPr lang="en-US" sz="1200" b="1" dirty="0">
                <a:solidFill>
                  <a:srgbClr val="243142"/>
                </a:solidFill>
                <a:latin typeface="Arial" pitchFamily="34" charset="0"/>
                <a:ea typeface="Arial" pitchFamily="34" charset="-122"/>
                <a:cs typeface="Arial" pitchFamily="34" charset="-120"/>
              </a:rPr>
              <a:t>Overturned by the bootstrap</a:t>
            </a:r>
            <a:endParaRPr lang="en-US" sz="1200" dirty="0"/>
          </a:p>
        </p:txBody>
      </p:sp>
      <p:sp>
        <p:nvSpPr>
          <p:cNvPr id="78" name="Text 76"/>
          <p:cNvSpPr txBox="1"/>
          <p:nvPr/>
        </p:nvSpPr>
        <p:spPr>
          <a:xfrm>
            <a:off x="8823960" y="3621024"/>
            <a:ext cx="2819095" cy="411480"/>
          </a:xfrm>
          <a:prstGeom prst="rect">
            <a:avLst/>
          </a:prstGeom>
          <a:noFill/>
          <a:ln/>
        </p:spPr>
        <p:txBody>
          <a:bodyPr wrap="square" lIns="0" tIns="0" rIns="0" bIns="0" rtlCol="0" anchor="t"/>
          <a:lstStyle/>
          <a:p>
            <a:pPr indent="0" marL="0">
              <a:buNone/>
            </a:pPr>
            <a:r>
              <a:rPr lang="en-US" sz="1100" dirty="0">
                <a:solidFill>
                  <a:srgbClr val="5E6A78"/>
                </a:solidFill>
                <a:latin typeface="Arial" pitchFamily="34" charset="0"/>
                <a:ea typeface="Arial" pitchFamily="34" charset="-122"/>
                <a:cs typeface="Arial" pitchFamily="34" charset="-120"/>
              </a:rPr>
              <a:t>clustered p &lt; 0.05, bootstrap p ≥ 0.05</a:t>
            </a:r>
            <a:endParaRPr lang="en-US" sz="1100" dirty="0"/>
          </a:p>
        </p:txBody>
      </p:sp>
      <p:sp>
        <p:nvSpPr>
          <p:cNvPr id="79" name="Shape 77"/>
          <p:cNvSpPr/>
          <p:nvPr/>
        </p:nvSpPr>
        <p:spPr>
          <a:xfrm>
            <a:off x="8517636" y="4119372"/>
            <a:ext cx="155448" cy="155448"/>
          </a:xfrm>
          <a:prstGeom prst="ellipse">
            <a:avLst/>
          </a:prstGeom>
          <a:solidFill>
            <a:srgbClr val="A7A9AB"/>
          </a:solidFill>
          <a:ln/>
        </p:spPr>
      </p:sp>
      <p:sp>
        <p:nvSpPr>
          <p:cNvPr id="80" name="Text 78"/>
          <p:cNvSpPr txBox="1"/>
          <p:nvPr/>
        </p:nvSpPr>
        <p:spPr>
          <a:xfrm>
            <a:off x="8823960" y="4078224"/>
            <a:ext cx="2819095" cy="256032"/>
          </a:xfrm>
          <a:prstGeom prst="rect">
            <a:avLst/>
          </a:prstGeom>
          <a:noFill/>
          <a:ln/>
        </p:spPr>
        <p:txBody>
          <a:bodyPr wrap="square" lIns="0" tIns="0" rIns="0" bIns="0" rtlCol="0" anchor="t"/>
          <a:lstStyle/>
          <a:p>
            <a:pPr indent="0" marL="0">
              <a:buNone/>
            </a:pPr>
            <a:r>
              <a:rPr lang="en-US" sz="1200" b="1" dirty="0">
                <a:solidFill>
                  <a:srgbClr val="243142"/>
                </a:solidFill>
                <a:latin typeface="Arial" pitchFamily="34" charset="0"/>
                <a:ea typeface="Arial" pitchFamily="34" charset="-122"/>
                <a:cs typeface="Arial" pitchFamily="34" charset="-120"/>
              </a:rPr>
              <a:t>Not significant</a:t>
            </a:r>
            <a:endParaRPr lang="en-US" sz="1200" dirty="0"/>
          </a:p>
        </p:txBody>
      </p:sp>
      <p:sp>
        <p:nvSpPr>
          <p:cNvPr id="81" name="Shape 79"/>
          <p:cNvSpPr/>
          <p:nvPr/>
        </p:nvSpPr>
        <p:spPr>
          <a:xfrm>
            <a:off x="8503920" y="4846320"/>
            <a:ext cx="3139135" cy="960120"/>
          </a:xfrm>
          <a:prstGeom prst="rect">
            <a:avLst/>
          </a:prstGeom>
          <a:solidFill>
            <a:srgbClr val="EDEBEB"/>
          </a:solidFill>
          <a:ln/>
        </p:spPr>
      </p:sp>
      <p:sp>
        <p:nvSpPr>
          <p:cNvPr id="82" name="Text 80"/>
          <p:cNvSpPr txBox="1"/>
          <p:nvPr/>
        </p:nvSpPr>
        <p:spPr>
          <a:xfrm>
            <a:off x="8641080" y="4846320"/>
            <a:ext cx="2864815" cy="960120"/>
          </a:xfrm>
          <a:prstGeom prst="rect">
            <a:avLst/>
          </a:prstGeom>
          <a:noFill/>
          <a:ln/>
        </p:spPr>
        <p:txBody>
          <a:bodyPr wrap="square" lIns="0" tIns="0" rIns="0" bIns="0" rtlCol="0" anchor="ctr"/>
          <a:lstStyle/>
          <a:p>
            <a:pPr indent="0" marL="0">
              <a:buNone/>
            </a:pPr>
            <a:r>
              <a:rPr lang="en-US" sz="1100" dirty="0">
                <a:solidFill>
                  <a:srgbClr val="243142"/>
                </a:solidFill>
                <a:latin typeface="Arial" pitchFamily="34" charset="0"/>
                <a:ea typeface="Arial" pitchFamily="34" charset="-122"/>
                <a:cs typeface="Arial" pitchFamily="34" charset="-120"/>
              </a:rPr>
              <a:t>Core model, N = 543, 100 employer clusters, R² = 0.589. Dot: % effect, e^β − 1. Bar: 95% cluster-robust CI.</a:t>
            </a:r>
            <a:endParaRPr lang="en-US" sz="11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PAY</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In dollars: one seniority step is worth about $17,000 a year</a:t>
            </a:r>
            <a:endParaRPr lang="en-US" sz="2600" dirty="0"/>
          </a:p>
        </p:txBody>
      </p:sp>
      <p:sp>
        <p:nvSpPr>
          <p:cNvPr id="4" name="Shape 2"/>
          <p:cNvSpPr/>
          <p:nvPr/>
        </p:nvSpPr>
        <p:spPr>
          <a:xfrm>
            <a:off x="548640" y="1554480"/>
            <a:ext cx="4480560" cy="1261872"/>
          </a:xfrm>
          <a:prstGeom prst="rect">
            <a:avLst/>
          </a:prstGeom>
          <a:solidFill>
            <a:srgbClr val="F6E3E3"/>
          </a:solidFill>
          <a:ln/>
        </p:spPr>
      </p:sp>
      <p:sp>
        <p:nvSpPr>
          <p:cNvPr id="5" name="Text 3"/>
          <p:cNvSpPr txBox="1"/>
          <p:nvPr/>
        </p:nvSpPr>
        <p:spPr>
          <a:xfrm>
            <a:off x="731520" y="1554480"/>
            <a:ext cx="1828800" cy="1261872"/>
          </a:xfrm>
          <a:prstGeom prst="rect">
            <a:avLst/>
          </a:prstGeom>
          <a:noFill/>
          <a:ln/>
        </p:spPr>
        <p:txBody>
          <a:bodyPr wrap="square" lIns="0" tIns="0" rIns="0" bIns="0" rtlCol="0" anchor="ctr"/>
          <a:lstStyle/>
          <a:p>
            <a:pPr indent="0" marL="0">
              <a:buNone/>
            </a:pPr>
            <a:r>
              <a:rPr lang="en-US" sz="3600" b="1" dirty="0">
                <a:solidFill>
                  <a:srgbClr val="990000"/>
                </a:solidFill>
                <a:latin typeface="Cambria" pitchFamily="34" charset="0"/>
                <a:ea typeface="Cambria" pitchFamily="34" charset="-122"/>
                <a:cs typeface="Cambria" pitchFamily="34" charset="-120"/>
              </a:rPr>
              <a:t>+11.2%</a:t>
            </a:r>
            <a:endParaRPr lang="en-US" sz="3600" dirty="0"/>
          </a:p>
        </p:txBody>
      </p:sp>
      <p:sp>
        <p:nvSpPr>
          <p:cNvPr id="6" name="Text 4"/>
          <p:cNvSpPr txBox="1"/>
          <p:nvPr/>
        </p:nvSpPr>
        <p:spPr>
          <a:xfrm>
            <a:off x="2560320" y="1554480"/>
            <a:ext cx="2377440" cy="12618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per seniority step</a:t>
            </a:r>
            <a:endParaRPr lang="en-US" sz="1200" dirty="0"/>
          </a:p>
          <a:p>
            <a:pPr indent="0" marL="0">
              <a:buNone/>
            </a:pPr>
            <a:r>
              <a:rPr lang="en-US" sz="1200" dirty="0">
                <a:solidFill>
                  <a:srgbClr val="243142"/>
                </a:solidFill>
                <a:latin typeface="Arial" pitchFamily="34" charset="0"/>
                <a:ea typeface="Arial" pitchFamily="34" charset="-122"/>
                <a:cs typeface="Arial" pitchFamily="34" charset="-120"/>
              </a:rPr>
              <a:t>≈ $17,000 a year at mean pay</a:t>
            </a:r>
            <a:endParaRPr lang="en-US" sz="1200" dirty="0"/>
          </a:p>
          <a:p>
            <a:pPr indent="0" marL="0">
              <a:buNone/>
            </a:pPr>
            <a:r>
              <a:rPr lang="en-US" sz="1200" i="1" dirty="0">
                <a:solidFill>
                  <a:srgbClr val="5E6A78"/>
                </a:solidFill>
                <a:latin typeface="Arial" pitchFamily="34" charset="0"/>
                <a:ea typeface="Arial" pitchFamily="34" charset="-122"/>
                <a:cs typeface="Arial" pitchFamily="34" charset="-120"/>
              </a:rPr>
              <a:t>Pre-registered</a:t>
            </a:r>
            <a:endParaRPr lang="en-US" sz="1200" dirty="0"/>
          </a:p>
        </p:txBody>
      </p:sp>
      <p:sp>
        <p:nvSpPr>
          <p:cNvPr id="7" name="Shape 5"/>
          <p:cNvSpPr/>
          <p:nvPr/>
        </p:nvSpPr>
        <p:spPr>
          <a:xfrm>
            <a:off x="548640" y="2971800"/>
            <a:ext cx="4480560" cy="1261872"/>
          </a:xfrm>
          <a:prstGeom prst="rect">
            <a:avLst/>
          </a:prstGeom>
          <a:solidFill>
            <a:srgbClr val="EDEBEB"/>
          </a:solidFill>
          <a:ln/>
        </p:spPr>
      </p:sp>
      <p:sp>
        <p:nvSpPr>
          <p:cNvPr id="8" name="Text 6"/>
          <p:cNvSpPr txBox="1"/>
          <p:nvPr/>
        </p:nvSpPr>
        <p:spPr>
          <a:xfrm>
            <a:off x="731520" y="2971800"/>
            <a:ext cx="1828800" cy="1261872"/>
          </a:xfrm>
          <a:prstGeom prst="rect">
            <a:avLst/>
          </a:prstGeom>
          <a:noFill/>
          <a:ln/>
        </p:spPr>
        <p:txBody>
          <a:bodyPr wrap="square" lIns="0" tIns="0" rIns="0" bIns="0" rtlCol="0" anchor="ctr"/>
          <a:lstStyle/>
          <a:p>
            <a:pPr indent="0" marL="0">
              <a:buNone/>
            </a:pPr>
            <a:r>
              <a:rPr lang="en-US" sz="3600" b="1" dirty="0">
                <a:solidFill>
                  <a:srgbClr val="990000"/>
                </a:solidFill>
                <a:latin typeface="Cambria" pitchFamily="34" charset="0"/>
                <a:ea typeface="Cambria" pitchFamily="34" charset="-122"/>
                <a:cs typeface="Cambria" pitchFamily="34" charset="-120"/>
              </a:rPr>
              <a:t>+2.5%</a:t>
            </a:r>
            <a:endParaRPr lang="en-US" sz="3600" dirty="0"/>
          </a:p>
        </p:txBody>
      </p:sp>
      <p:sp>
        <p:nvSpPr>
          <p:cNvPr id="9" name="Text 7"/>
          <p:cNvSpPr txBox="1"/>
          <p:nvPr/>
        </p:nvSpPr>
        <p:spPr>
          <a:xfrm>
            <a:off x="2560320" y="2971800"/>
            <a:ext cx="2377440" cy="12618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per year of required experience</a:t>
            </a:r>
            <a:endParaRPr lang="en-US" sz="1200" dirty="0"/>
          </a:p>
          <a:p>
            <a:pPr indent="0" marL="0">
              <a:buNone/>
            </a:pPr>
            <a:r>
              <a:rPr lang="en-US" sz="1200" dirty="0">
                <a:solidFill>
                  <a:srgbClr val="243142"/>
                </a:solidFill>
                <a:latin typeface="Arial" pitchFamily="34" charset="0"/>
                <a:ea typeface="Arial" pitchFamily="34" charset="-122"/>
                <a:cs typeface="Arial" pitchFamily="34" charset="-120"/>
              </a:rPr>
              <a:t>≈ $3,900 a year at mean pay</a:t>
            </a:r>
            <a:endParaRPr lang="en-US" sz="1200" dirty="0"/>
          </a:p>
          <a:p>
            <a:pPr indent="0" marL="0">
              <a:buNone/>
            </a:pPr>
            <a:r>
              <a:rPr lang="en-US" sz="1200" i="1" dirty="0">
                <a:solidFill>
                  <a:srgbClr val="5E6A78"/>
                </a:solidFill>
                <a:latin typeface="Arial" pitchFamily="34" charset="0"/>
                <a:ea typeface="Arial" pitchFamily="34" charset="-122"/>
                <a:cs typeface="Arial" pitchFamily="34" charset="-120"/>
              </a:rPr>
              <a:t>Pre-registered</a:t>
            </a:r>
            <a:endParaRPr lang="en-US" sz="1200" dirty="0"/>
          </a:p>
        </p:txBody>
      </p:sp>
      <p:sp>
        <p:nvSpPr>
          <p:cNvPr id="10" name="Shape 8"/>
          <p:cNvSpPr/>
          <p:nvPr/>
        </p:nvSpPr>
        <p:spPr>
          <a:xfrm>
            <a:off x="548640" y="4389120"/>
            <a:ext cx="4480560" cy="1261872"/>
          </a:xfrm>
          <a:prstGeom prst="rect">
            <a:avLst/>
          </a:prstGeom>
          <a:solidFill>
            <a:srgbClr val="EDEBEB"/>
          </a:solidFill>
          <a:ln/>
        </p:spPr>
      </p:sp>
      <p:sp>
        <p:nvSpPr>
          <p:cNvPr id="11" name="Text 9"/>
          <p:cNvSpPr txBox="1"/>
          <p:nvPr/>
        </p:nvSpPr>
        <p:spPr>
          <a:xfrm>
            <a:off x="731520" y="4389120"/>
            <a:ext cx="1828800" cy="1261872"/>
          </a:xfrm>
          <a:prstGeom prst="rect">
            <a:avLst/>
          </a:prstGeom>
          <a:noFill/>
          <a:ln/>
        </p:spPr>
        <p:txBody>
          <a:bodyPr wrap="square" lIns="0" tIns="0" rIns="0" bIns="0" rtlCol="0" anchor="ctr"/>
          <a:lstStyle/>
          <a:p>
            <a:pPr indent="0" marL="0">
              <a:buNone/>
            </a:pPr>
            <a:r>
              <a:rPr lang="en-US" sz="3600" b="1" dirty="0">
                <a:solidFill>
                  <a:srgbClr val="990000"/>
                </a:solidFill>
                <a:latin typeface="Cambria" pitchFamily="34" charset="0"/>
                <a:ea typeface="Cambria" pitchFamily="34" charset="-122"/>
                <a:cs typeface="Cambria" pitchFamily="34" charset="-120"/>
              </a:rPr>
              <a:t>+12.5%</a:t>
            </a:r>
            <a:endParaRPr lang="en-US" sz="3600" dirty="0"/>
          </a:p>
        </p:txBody>
      </p:sp>
      <p:sp>
        <p:nvSpPr>
          <p:cNvPr id="12" name="Text 10"/>
          <p:cNvSpPr txBox="1"/>
          <p:nvPr/>
        </p:nvSpPr>
        <p:spPr>
          <a:xfrm>
            <a:off x="2560320" y="4389120"/>
            <a:ext cx="2377440" cy="12618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for a stated cloud skill</a:t>
            </a:r>
            <a:endParaRPr lang="en-US" sz="1200" dirty="0"/>
          </a:p>
          <a:p>
            <a:pPr indent="0" marL="0">
              <a:buNone/>
            </a:pPr>
            <a:r>
              <a:rPr lang="en-US" sz="1200" dirty="0">
                <a:solidFill>
                  <a:srgbClr val="243142"/>
                </a:solidFill>
                <a:latin typeface="Arial" pitchFamily="34" charset="0"/>
                <a:ea typeface="Arial" pitchFamily="34" charset="-122"/>
                <a:cs typeface="Arial" pitchFamily="34" charset="-120"/>
              </a:rPr>
              <a:t>≈ $19,000 a year at mean pay</a:t>
            </a:r>
            <a:endParaRPr lang="en-US" sz="1200" dirty="0"/>
          </a:p>
          <a:p>
            <a:pPr indent="0" marL="0">
              <a:buNone/>
            </a:pPr>
            <a:r>
              <a:rPr lang="en-US" sz="1200" i="1" dirty="0">
                <a:solidFill>
                  <a:srgbClr val="5E6A78"/>
                </a:solidFill>
                <a:latin typeface="Arial" pitchFamily="34" charset="0"/>
                <a:ea typeface="Arial" pitchFamily="34" charset="-122"/>
                <a:cs typeface="Arial" pitchFamily="34" charset="-120"/>
              </a:rPr>
              <a:t>Exploratory</a:t>
            </a:r>
            <a:endParaRPr lang="en-US" sz="1200" dirty="0"/>
          </a:p>
        </p:txBody>
      </p:sp>
      <p:graphicFrame>
        <p:nvGraphicFramePr>
          <p:cNvPr id="13" name="Chart 0" descr=""/>
          <p:cNvGraphicFramePr/>
          <p:nvPr/>
        </p:nvGraphicFramePr>
        <p:xfrm>
          <a:off x="5394960" y="1508760"/>
          <a:ext cx="6248095" cy="41605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Mean advertised pay $151,839 (median $144,360). Predictions are geometric means from the core model: exp(mean ln pay + β × (rank − mean rank)).</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ROBUSTNESS</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Only three results hold under the bootstrap and all four checks</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14600"/>
                <a:gridCol w="1051560"/>
                <a:gridCol w="1051560"/>
                <a:gridCol w="1325880"/>
                <a:gridCol w="1188720"/>
                <a:gridCol w="1188720"/>
                <a:gridCol w="1234440"/>
                <a:gridCol w="1538935"/>
              </a:tblGrid>
              <a:tr h="251460">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Attribute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Clustered SE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Wild bootstrap</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Without nationwide-remote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Price-adjusted pay</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Without Crusoe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Without federal rows</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Verdict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90000"/>
                    </a:solidFill>
                  </a:tcPr>
                </a:tc>
              </a:tr>
              <a:tr h="251460">
                <a:tc>
                  <a:txBody>
                    <a:bodyPr/>
                    <a:lstStyle/>
                    <a:p>
                      <a:pPr indent="0" marL="0">
                        <a:buNone/>
                      </a:pPr>
                      <a:r>
                        <a:rPr lang="en-US" sz="1050" b="1" dirty="0">
                          <a:solidFill>
                            <a:srgbClr val="243142"/>
                          </a:solidFill>
                          <a:latin typeface="Arial" pitchFamily="34" charset="0"/>
                          <a:ea typeface="Arial" pitchFamily="34" charset="-122"/>
                          <a:cs typeface="Arial" pitchFamily="34" charset="-120"/>
                        </a:rPr>
                        <a:t>Seniority (per step)</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Holds everywhere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b="1" dirty="0">
                          <a:solidFill>
                            <a:srgbClr val="243142"/>
                          </a:solidFill>
                          <a:latin typeface="Arial" pitchFamily="34" charset="0"/>
                          <a:ea typeface="Arial" pitchFamily="34" charset="-122"/>
                          <a:cs typeface="Arial" pitchFamily="34" charset="-120"/>
                        </a:rPr>
                        <a:t>Required experience (per year)</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Holds everywhere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b="1" dirty="0">
                          <a:solidFill>
                            <a:srgbClr val="243142"/>
                          </a:solidFill>
                          <a:latin typeface="Arial" pitchFamily="34" charset="0"/>
                          <a:ea typeface="Arial" pitchFamily="34" charset="-122"/>
                          <a:cs typeface="Arial" pitchFamily="34" charset="-120"/>
                        </a:rPr>
                        <a:t>Cloud skill (AWS, Azure, GCP)</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0.003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0.002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Holds everywhere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West (vs. Midwest)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0.001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0.011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0.022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0.149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0.012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0.015</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Nominal only</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Northeast (vs. Midwest)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0.005</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0.019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0.023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0.706</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0.018</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Nominal only</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States an experience minimum</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0.020</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0.023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0.017</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0.030</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Tentative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STEM degree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0.043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0.028</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0.036</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0.086</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0.051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b="1" dirty="0">
                          <a:solidFill>
                            <a:srgbClr val="990000"/>
                          </a:solidFill>
                          <a:latin typeface="Arial" pitchFamily="34" charset="0"/>
                          <a:ea typeface="Arial" pitchFamily="34" charset="-122"/>
                          <a:cs typeface="Arial" pitchFamily="34" charset="-120"/>
                        </a:rPr>
                        <a:t>Tentative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Requires a degree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0.055</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0.074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0.104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0.114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0.156</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0.078</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A7A9AB"/>
                          </a:solidFill>
                          <a:latin typeface="Arial" pitchFamily="34" charset="0"/>
                          <a:ea typeface="Arial" pitchFamily="34" charset="-122"/>
                          <a:cs typeface="Arial" pitchFamily="34" charset="-120"/>
                        </a:rPr>
                        <a:t>Not significant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ML/AI skill</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0.033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0.074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0.011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0.002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0.207</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0.069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5E6A78"/>
                          </a:solidFill>
                          <a:latin typeface="Arial" pitchFamily="34" charset="0"/>
                          <a:ea typeface="Arial" pitchFamily="34" charset="-122"/>
                          <a:cs typeface="Arial" pitchFamily="34" charset="-120"/>
                        </a:rPr>
                        <a:t>Overturned</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AI/ML role family</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6B0000"/>
                          </a:solidFill>
                          <a:latin typeface="Arial" pitchFamily="34" charset="0"/>
                          <a:ea typeface="Arial" pitchFamily="34" charset="-122"/>
                          <a:cs typeface="Arial" pitchFamily="34" charset="-120"/>
                        </a:rPr>
                        <a:t>0.048</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E3E3"/>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0.083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0.070</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0.019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0.087</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0.080</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5E6A78"/>
                          </a:solidFill>
                          <a:latin typeface="Arial" pitchFamily="34" charset="0"/>
                          <a:ea typeface="Arial" pitchFamily="34" charset="-122"/>
                          <a:cs typeface="Arial" pitchFamily="34" charset="-120"/>
                        </a:rPr>
                        <a:t>Overturned</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South (vs. Midwest)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0.063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0.154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0.189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0.306</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0.072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0.141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A7A9AB"/>
                          </a:solidFill>
                          <a:latin typeface="Arial" pitchFamily="34" charset="0"/>
                          <a:ea typeface="Arial" pitchFamily="34" charset="-122"/>
                          <a:cs typeface="Arial" pitchFamily="34" charset="-120"/>
                        </a:rPr>
                        <a:t>Not significant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Data-center operator</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0.160</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0.584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0.677</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0.212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0.365</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0.589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A7A9AB"/>
                          </a:solidFill>
                          <a:latin typeface="Arial" pitchFamily="34" charset="0"/>
                          <a:ea typeface="Arial" pitchFamily="34" charset="-122"/>
                          <a:cs typeface="Arial" pitchFamily="34" charset="-120"/>
                        </a:rPr>
                        <a:t>Not significant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Advertised hourly</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0.535</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0.644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0.684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0.088</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0.623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0.661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A7A9AB"/>
                          </a:solidFill>
                          <a:latin typeface="Arial" pitchFamily="34" charset="0"/>
                          <a:ea typeface="Arial" pitchFamily="34" charset="-122"/>
                          <a:cs typeface="Arial" pitchFamily="34" charset="-120"/>
                        </a:rPr>
                        <a:t>Not significant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Pay-transparency mandate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0.730</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0.744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0.923</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0.086</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0.811</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0.692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A7A9AB"/>
                          </a:solidFill>
                          <a:latin typeface="Arial" pitchFamily="34" charset="0"/>
                          <a:ea typeface="Arial" pitchFamily="34" charset="-122"/>
                          <a:cs typeface="Arial" pitchFamily="34" charset="-120"/>
                        </a:rPr>
                        <a:t>Not significant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251460">
                <a:tc>
                  <a:txBody>
                    <a:bodyPr/>
                    <a:lstStyle/>
                    <a:p>
                      <a:pPr indent="0" marL="0">
                        <a:buNone/>
                      </a:pPr>
                      <a:r>
                        <a:rPr lang="en-US" sz="1050" dirty="0">
                          <a:solidFill>
                            <a:srgbClr val="243142"/>
                          </a:solidFill>
                          <a:latin typeface="Arial" pitchFamily="34" charset="0"/>
                          <a:ea typeface="Arial" pitchFamily="34" charset="-122"/>
                          <a:cs typeface="Arial" pitchFamily="34" charset="-120"/>
                        </a:rPr>
                        <a:t>Remote-eligible</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0.772</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243142"/>
                          </a:solidFill>
                          <a:latin typeface="Arial" pitchFamily="34" charset="0"/>
                          <a:ea typeface="Arial" pitchFamily="34" charset="-122"/>
                          <a:cs typeface="Arial" pitchFamily="34" charset="-120"/>
                        </a:rPr>
                        <a:t>0.787</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0.675</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0.844</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0.507</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algn="ctr" indent="0" marL="0">
                        <a:buNone/>
                      </a:pPr>
                      <a:r>
                        <a:rPr lang="en-US" sz="1050" dirty="0">
                          <a:solidFill>
                            <a:srgbClr val="A7A9AB"/>
                          </a:solidFill>
                          <a:latin typeface="Arial" pitchFamily="34" charset="0"/>
                          <a:ea typeface="Arial" pitchFamily="34" charset="-122"/>
                          <a:cs typeface="Arial" pitchFamily="34" charset="-120"/>
                        </a:rPr>
                        <a:t>0.719</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4F5"/>
                    </a:solidFill>
                  </a:tcPr>
                </a:tc>
                <a:tc>
                  <a:txBody>
                    <a:bodyPr/>
                    <a:lstStyle/>
                    <a:p>
                      <a:pPr indent="0" marL="0">
                        <a:buNone/>
                      </a:pPr>
                      <a:r>
                        <a:rPr lang="en-US" sz="1050" dirty="0">
                          <a:solidFill>
                            <a:srgbClr val="A7A9AB"/>
                          </a:solidFill>
                          <a:latin typeface="Arial" pitchFamily="34" charset="0"/>
                          <a:ea typeface="Arial" pitchFamily="34" charset="-122"/>
                          <a:cs typeface="Arial" pitchFamily="34" charset="-120"/>
                        </a:rPr>
                        <a:t>Not significant</a:t>
                      </a:r>
                      <a:endParaRPr lang="en-US" sz="1050" dirty="0">
                        <a:latin typeface="Arial" charset="0"/>
                        <a:ea typeface="Arial" charset="0"/>
                        <a:cs typeface="Arial" charset="0"/>
                      </a:endParaRPr>
                    </a:p>
                  </a:txBody>
                  <a:tcPr marL="64008" marR="64008"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Cells: p-values; shaded = p &lt; 0.05. Price-adjusted pay has no bootstrap, so that column is clustered. Tentative: p ≥ 0.02 on the bootstrap or the remote check, or fails a check. Nominal only: fails price adjustment alone.</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PRE-REGISTERED HYPOTHESES</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Three of seven pre-registered hypotheses are supported</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548640"/>
                <a:gridCol w="3749040"/>
                <a:gridCol w="1051560"/>
                <a:gridCol w="2103120"/>
                <a:gridCol w="1463040"/>
                <a:gridCol w="2179015"/>
              </a:tblGrid>
              <a:tr h="457200">
                <a:tc>
                  <a:txBody>
                    <a:bodyPr/>
                    <a:lstStyle/>
                    <a:p>
                      <a:pPr algn="l" indent="0" marL="0">
                        <a:buNone/>
                      </a:pP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Hypothesis</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Predicted</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Estimate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 (bootstrap)</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Verdict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H1</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Seniority dominates advertised pay</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+11.2% per step</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&lt;0.001</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Supported</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H2</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A mandate raises disclosure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91.3% vs. 47.5%</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descriptive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Supported, descriptively</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H3</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Required experience raises pay</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+2.5% per year</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&lt;0.001</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Supported</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0000"/>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H4</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AI/ML roles carry a premium</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+8.0%</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0.083</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243142"/>
                          </a:solidFill>
                          <a:latin typeface="Arial" pitchFamily="34" charset="0"/>
                          <a:ea typeface="Arial" pitchFamily="34" charset="-122"/>
                          <a:cs typeface="Arial" pitchFamily="34" charset="-120"/>
                        </a:rPr>
                        <a:t>Inconclusive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4F5"/>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H5</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A required degree raises pay</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−5.0%</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0.074</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243142"/>
                          </a:solidFill>
                          <a:latin typeface="Arial" pitchFamily="34" charset="0"/>
                          <a:ea typeface="Arial" pitchFamily="34" charset="-122"/>
                          <a:cs typeface="Arial" pitchFamily="34" charset="-120"/>
                        </a:rPr>
                        <a:t>Inconclusive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4F5"/>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H6</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Mandate states advertise wider ranges</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−5.8% range width</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0.497 (clustered)</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243142"/>
                          </a:solidFill>
                          <a:latin typeface="Arial" pitchFamily="34" charset="0"/>
                          <a:ea typeface="Arial" pitchFamily="34" charset="-122"/>
                          <a:cs typeface="Arial" pitchFamily="34" charset="-120"/>
                        </a:rPr>
                        <a:t>Inconclusive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4F5"/>
                    </a:solidFill>
                  </a:tcPr>
                </a:tc>
              </a:tr>
              <a:tr h="457200">
                <a:tc>
                  <a:txBody>
                    <a:bodyPr/>
                    <a:lstStyle/>
                    <a:p>
                      <a:pPr indent="0" marL="0">
                        <a:buNone/>
                      </a:pPr>
                      <a:r>
                        <a:rPr lang="en-US" sz="1300" b="1" dirty="0">
                          <a:solidFill>
                            <a:srgbClr val="990000"/>
                          </a:solidFill>
                          <a:latin typeface="Arial" pitchFamily="34" charset="0"/>
                          <a:ea typeface="Arial" pitchFamily="34" charset="-122"/>
                          <a:cs typeface="Arial" pitchFamily="34" charset="-120"/>
                        </a:rPr>
                        <a:t>H7</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dirty="0">
                          <a:solidFill>
                            <a:srgbClr val="243142"/>
                          </a:solidFill>
                          <a:latin typeface="Arial" pitchFamily="34" charset="0"/>
                          <a:ea typeface="Arial" pitchFamily="34" charset="-122"/>
                          <a:cs typeface="Arial" pitchFamily="34" charset="-120"/>
                        </a:rPr>
                        <a:t>Data centers pay more than utilities</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243142"/>
                          </a:solidFill>
                          <a:latin typeface="Arial" pitchFamily="34" charset="0"/>
                          <a:ea typeface="Arial" pitchFamily="34" charset="-122"/>
                          <a:cs typeface="Arial" pitchFamily="34" charset="-120"/>
                        </a:rPr>
                        <a:t>+10.3%</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5E6A78"/>
                          </a:solidFill>
                          <a:latin typeface="Arial" pitchFamily="34" charset="0"/>
                          <a:ea typeface="Arial" pitchFamily="34" charset="-122"/>
                          <a:cs typeface="Arial" pitchFamily="34" charset="-120"/>
                        </a:rPr>
                        <a:t>0.584</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indent="0" marL="0">
                        <a:buNone/>
                      </a:pPr>
                      <a:r>
                        <a:rPr lang="en-US" sz="1300" b="1" dirty="0">
                          <a:solidFill>
                            <a:srgbClr val="243142"/>
                          </a:solidFill>
                          <a:latin typeface="Arial" pitchFamily="34" charset="0"/>
                          <a:ea typeface="Arial" pitchFamily="34" charset="-122"/>
                          <a:cs typeface="Arial" pitchFamily="34" charset="-120"/>
                        </a:rPr>
                        <a:t>Inconclusive</a:t>
                      </a:r>
                      <a:endParaRPr lang="en-US" sz="1300" dirty="0">
                        <a:latin typeface="Arial" charset="0"/>
                        <a:ea typeface="Arial" charset="0"/>
                        <a:cs typeface="Arial" charset="0"/>
                      </a:endParaRPr>
                    </a:p>
                  </a:txBody>
                  <a:tcPr marL="91440" marR="91440"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4F5"/>
                    </a:solidFill>
                  </a:tcPr>
                </a:tc>
              </a:tr>
            </a:tbl>
          </a:graphicData>
        </a:graphic>
      </p:graphicFrame>
      <p:sp>
        <p:nvSpPr>
          <p:cNvPr id="5" name="Shape 2"/>
          <p:cNvSpPr/>
          <p:nvPr/>
        </p:nvSpPr>
        <p:spPr>
          <a:xfrm>
            <a:off x="548640" y="5440680"/>
            <a:ext cx="11094415" cy="457200"/>
          </a:xfrm>
          <a:prstGeom prst="rect">
            <a:avLst/>
          </a:prstGeom>
          <a:solidFill>
            <a:srgbClr val="EDEBEB"/>
          </a:solidFill>
          <a:ln/>
        </p:spPr>
      </p:sp>
      <p:sp>
        <p:nvSpPr>
          <p:cNvPr id="6" name="Text 3"/>
          <p:cNvSpPr txBox="1"/>
          <p:nvPr/>
        </p:nvSpPr>
        <p:spPr>
          <a:xfrm>
            <a:off x="731520" y="5440680"/>
            <a:ext cx="10728655" cy="457200"/>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H5 has the wrong sign (−5.0%); clustered errors would call it significant (p = 0.055), the bootstrap does not (p = 0.074).</a:t>
            </a:r>
            <a:endParaRPr lang="en-US" sz="12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THE EARLY-CAREER QUESTION</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Early-career postings: 80 observations are too few to pin down premiums</a:t>
            </a:r>
            <a:endParaRPr lang="en-US" sz="2600" dirty="0"/>
          </a:p>
        </p:txBody>
      </p:sp>
      <p:sp>
        <p:nvSpPr>
          <p:cNvPr id="4" name="Shape 2"/>
          <p:cNvSpPr/>
          <p:nvPr/>
        </p:nvSpPr>
        <p:spPr>
          <a:xfrm>
            <a:off x="3291840" y="1554480"/>
            <a:ext cx="0" cy="3950208"/>
          </a:xfrm>
          <a:prstGeom prst="line">
            <a:avLst/>
          </a:prstGeom>
          <a:noFill/>
          <a:ln w="9525">
            <a:solidFill>
              <a:srgbClr val="D4D6D9"/>
            </a:solidFill>
            <a:prstDash val="solid"/>
          </a:ln>
        </p:spPr>
      </p:sp>
      <p:sp>
        <p:nvSpPr>
          <p:cNvPr id="5" name="Text 3"/>
          <p:cNvSpPr txBox="1"/>
          <p:nvPr/>
        </p:nvSpPr>
        <p:spPr>
          <a:xfrm>
            <a:off x="2926080" y="5541264"/>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−30%</a:t>
            </a:r>
            <a:endParaRPr lang="en-US" sz="1000" dirty="0"/>
          </a:p>
        </p:txBody>
      </p:sp>
      <p:sp>
        <p:nvSpPr>
          <p:cNvPr id="6" name="Shape 4"/>
          <p:cNvSpPr/>
          <p:nvPr/>
        </p:nvSpPr>
        <p:spPr>
          <a:xfrm>
            <a:off x="4907280" y="1554480"/>
            <a:ext cx="0" cy="3950208"/>
          </a:xfrm>
          <a:prstGeom prst="line">
            <a:avLst/>
          </a:prstGeom>
          <a:noFill/>
          <a:ln w="12700">
            <a:solidFill>
              <a:srgbClr val="243142"/>
            </a:solidFill>
            <a:prstDash val="solid"/>
          </a:ln>
        </p:spPr>
      </p:sp>
      <p:sp>
        <p:nvSpPr>
          <p:cNvPr id="7" name="Text 5"/>
          <p:cNvSpPr txBox="1"/>
          <p:nvPr/>
        </p:nvSpPr>
        <p:spPr>
          <a:xfrm>
            <a:off x="4541520" y="5541264"/>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0%</a:t>
            </a:r>
            <a:endParaRPr lang="en-US" sz="1000" dirty="0"/>
          </a:p>
        </p:txBody>
      </p:sp>
      <p:sp>
        <p:nvSpPr>
          <p:cNvPr id="8" name="Shape 6"/>
          <p:cNvSpPr/>
          <p:nvPr/>
        </p:nvSpPr>
        <p:spPr>
          <a:xfrm>
            <a:off x="6522720" y="1554480"/>
            <a:ext cx="0" cy="3950208"/>
          </a:xfrm>
          <a:prstGeom prst="line">
            <a:avLst/>
          </a:prstGeom>
          <a:noFill/>
          <a:ln w="9525">
            <a:solidFill>
              <a:srgbClr val="D4D6D9"/>
            </a:solidFill>
            <a:prstDash val="solid"/>
          </a:ln>
        </p:spPr>
      </p:sp>
      <p:sp>
        <p:nvSpPr>
          <p:cNvPr id="9" name="Text 7"/>
          <p:cNvSpPr txBox="1"/>
          <p:nvPr/>
        </p:nvSpPr>
        <p:spPr>
          <a:xfrm>
            <a:off x="6156960" y="5541264"/>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+30%</a:t>
            </a:r>
            <a:endParaRPr lang="en-US" sz="1000" dirty="0"/>
          </a:p>
        </p:txBody>
      </p:sp>
      <p:sp>
        <p:nvSpPr>
          <p:cNvPr id="10" name="Shape 8"/>
          <p:cNvSpPr/>
          <p:nvPr/>
        </p:nvSpPr>
        <p:spPr>
          <a:xfrm>
            <a:off x="8138160" y="1554480"/>
            <a:ext cx="0" cy="3950208"/>
          </a:xfrm>
          <a:prstGeom prst="line">
            <a:avLst/>
          </a:prstGeom>
          <a:noFill/>
          <a:ln w="9525">
            <a:solidFill>
              <a:srgbClr val="D4D6D9"/>
            </a:solidFill>
            <a:prstDash val="solid"/>
          </a:ln>
        </p:spPr>
      </p:sp>
      <p:sp>
        <p:nvSpPr>
          <p:cNvPr id="11" name="Text 9"/>
          <p:cNvSpPr txBox="1"/>
          <p:nvPr/>
        </p:nvSpPr>
        <p:spPr>
          <a:xfrm>
            <a:off x="7772400" y="5541264"/>
            <a:ext cx="731520" cy="228600"/>
          </a:xfrm>
          <a:prstGeom prst="rect">
            <a:avLst/>
          </a:prstGeom>
          <a:noFill/>
          <a:ln/>
        </p:spPr>
        <p:txBody>
          <a:bodyPr wrap="square" lIns="0" tIns="0" rIns="0" bIns="0" rtlCol="0" anchor="t"/>
          <a:lstStyle/>
          <a:p>
            <a:pPr algn="ctr" indent="0" marL="0">
              <a:buNone/>
            </a:pPr>
            <a:r>
              <a:rPr lang="en-US" sz="1000" dirty="0">
                <a:solidFill>
                  <a:srgbClr val="5E6A78"/>
                </a:solidFill>
                <a:latin typeface="Arial" pitchFamily="34" charset="0"/>
                <a:ea typeface="Arial" pitchFamily="34" charset="-122"/>
                <a:cs typeface="Arial" pitchFamily="34" charset="-120"/>
              </a:rPr>
              <a:t>+60%</a:t>
            </a:r>
            <a:endParaRPr lang="en-US" sz="1000" dirty="0"/>
          </a:p>
        </p:txBody>
      </p:sp>
      <p:sp>
        <p:nvSpPr>
          <p:cNvPr id="12" name="Shape 10"/>
          <p:cNvSpPr/>
          <p:nvPr/>
        </p:nvSpPr>
        <p:spPr>
          <a:xfrm>
            <a:off x="548640" y="1554480"/>
            <a:ext cx="7589520" cy="246888"/>
          </a:xfrm>
          <a:prstGeom prst="rect">
            <a:avLst/>
          </a:prstGeom>
          <a:solidFill>
            <a:srgbClr val="FAFAFA"/>
          </a:solidFill>
          <a:ln/>
        </p:spPr>
      </p:sp>
      <p:sp>
        <p:nvSpPr>
          <p:cNvPr id="13" name="Text 11"/>
          <p:cNvSpPr txBox="1"/>
          <p:nvPr/>
        </p:nvSpPr>
        <p:spPr>
          <a:xfrm>
            <a:off x="548640" y="1554480"/>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Required experience (per year)</a:t>
            </a:r>
            <a:endParaRPr lang="en-US" sz="1200" dirty="0"/>
          </a:p>
        </p:txBody>
      </p:sp>
      <p:sp>
        <p:nvSpPr>
          <p:cNvPr id="14" name="Shape 12"/>
          <p:cNvSpPr/>
          <p:nvPr/>
        </p:nvSpPr>
        <p:spPr>
          <a:xfrm>
            <a:off x="4999056" y="1677924"/>
            <a:ext cx="92227" cy="0"/>
          </a:xfrm>
          <a:prstGeom prst="line">
            <a:avLst/>
          </a:prstGeom>
          <a:noFill/>
          <a:ln w="28575">
            <a:solidFill>
              <a:srgbClr val="990000"/>
            </a:solidFill>
            <a:prstDash val="solid"/>
          </a:ln>
        </p:spPr>
      </p:sp>
      <p:sp>
        <p:nvSpPr>
          <p:cNvPr id="15" name="Shape 13"/>
          <p:cNvSpPr/>
          <p:nvPr/>
        </p:nvSpPr>
        <p:spPr>
          <a:xfrm>
            <a:off x="4966868" y="1600200"/>
            <a:ext cx="155448" cy="155448"/>
          </a:xfrm>
          <a:prstGeom prst="ellipse">
            <a:avLst/>
          </a:prstGeom>
          <a:solidFill>
            <a:srgbClr val="990000"/>
          </a:solidFill>
          <a:ln/>
        </p:spPr>
      </p:sp>
      <p:sp>
        <p:nvSpPr>
          <p:cNvPr id="16" name="Text 14"/>
          <p:cNvSpPr txBox="1"/>
          <p:nvPr/>
        </p:nvSpPr>
        <p:spPr>
          <a:xfrm>
            <a:off x="548640" y="1801368"/>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17" name="Shape 15"/>
          <p:cNvSpPr/>
          <p:nvPr/>
        </p:nvSpPr>
        <p:spPr>
          <a:xfrm>
            <a:off x="4688384" y="1924812"/>
            <a:ext cx="680227" cy="0"/>
          </a:xfrm>
          <a:prstGeom prst="line">
            <a:avLst/>
          </a:prstGeom>
          <a:noFill/>
          <a:ln w="28575">
            <a:solidFill>
              <a:srgbClr val="5E6A78"/>
            </a:solidFill>
            <a:prstDash val="solid"/>
          </a:ln>
        </p:spPr>
      </p:sp>
      <p:sp>
        <p:nvSpPr>
          <p:cNvPr id="18" name="Shape 16"/>
          <p:cNvSpPr/>
          <p:nvPr/>
        </p:nvSpPr>
        <p:spPr>
          <a:xfrm>
            <a:off x="4940483" y="1847088"/>
            <a:ext cx="155448" cy="155448"/>
          </a:xfrm>
          <a:prstGeom prst="ellipse">
            <a:avLst/>
          </a:prstGeom>
          <a:solidFill>
            <a:srgbClr val="FFFFFF"/>
          </a:solidFill>
          <a:ln w="19050">
            <a:solidFill>
              <a:srgbClr val="5E6A78"/>
            </a:solidFill>
            <a:prstDash val="solid"/>
          </a:ln>
        </p:spPr>
      </p:sp>
      <p:sp>
        <p:nvSpPr>
          <p:cNvPr id="19" name="Shape 17"/>
          <p:cNvSpPr/>
          <p:nvPr/>
        </p:nvSpPr>
        <p:spPr>
          <a:xfrm>
            <a:off x="548640" y="2048256"/>
            <a:ext cx="7589520" cy="246888"/>
          </a:xfrm>
          <a:prstGeom prst="rect">
            <a:avLst/>
          </a:prstGeom>
          <a:solidFill>
            <a:srgbClr val="FAFAFA"/>
          </a:solidFill>
          <a:ln/>
        </p:spPr>
      </p:sp>
      <p:sp>
        <p:nvSpPr>
          <p:cNvPr id="20" name="Text 18"/>
          <p:cNvSpPr txBox="1"/>
          <p:nvPr/>
        </p:nvSpPr>
        <p:spPr>
          <a:xfrm>
            <a:off x="548640" y="2048256"/>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Requires a degree</a:t>
            </a:r>
            <a:endParaRPr lang="en-US" sz="1200" dirty="0"/>
          </a:p>
        </p:txBody>
      </p:sp>
      <p:sp>
        <p:nvSpPr>
          <p:cNvPr id="21" name="Shape 19"/>
          <p:cNvSpPr/>
          <p:nvPr/>
        </p:nvSpPr>
        <p:spPr>
          <a:xfrm>
            <a:off x="4372487" y="2171700"/>
            <a:ext cx="540719" cy="0"/>
          </a:xfrm>
          <a:prstGeom prst="line">
            <a:avLst/>
          </a:prstGeom>
          <a:noFill/>
          <a:ln w="28575">
            <a:solidFill>
              <a:srgbClr val="990000"/>
            </a:solidFill>
            <a:prstDash val="solid"/>
          </a:ln>
        </p:spPr>
      </p:sp>
      <p:sp>
        <p:nvSpPr>
          <p:cNvPr id="22" name="Shape 20"/>
          <p:cNvSpPr/>
          <p:nvPr/>
        </p:nvSpPr>
        <p:spPr>
          <a:xfrm>
            <a:off x="4558162" y="2093976"/>
            <a:ext cx="155448" cy="155448"/>
          </a:xfrm>
          <a:prstGeom prst="ellipse">
            <a:avLst/>
          </a:prstGeom>
          <a:solidFill>
            <a:srgbClr val="990000"/>
          </a:solidFill>
          <a:ln/>
        </p:spPr>
      </p:sp>
      <p:sp>
        <p:nvSpPr>
          <p:cNvPr id="23" name="Text 21"/>
          <p:cNvSpPr txBox="1"/>
          <p:nvPr/>
        </p:nvSpPr>
        <p:spPr>
          <a:xfrm>
            <a:off x="548640" y="2295144"/>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24" name="Shape 22"/>
          <p:cNvSpPr/>
          <p:nvPr/>
        </p:nvSpPr>
        <p:spPr>
          <a:xfrm>
            <a:off x="4015298" y="2418588"/>
            <a:ext cx="969538" cy="0"/>
          </a:xfrm>
          <a:prstGeom prst="line">
            <a:avLst/>
          </a:prstGeom>
          <a:noFill/>
          <a:ln w="28575">
            <a:solidFill>
              <a:srgbClr val="5E6A78"/>
            </a:solidFill>
            <a:prstDash val="solid"/>
          </a:ln>
        </p:spPr>
      </p:sp>
      <p:sp>
        <p:nvSpPr>
          <p:cNvPr id="25" name="Shape 23"/>
          <p:cNvSpPr/>
          <p:nvPr/>
        </p:nvSpPr>
        <p:spPr>
          <a:xfrm>
            <a:off x="4398772" y="2340864"/>
            <a:ext cx="155448" cy="155448"/>
          </a:xfrm>
          <a:prstGeom prst="ellipse">
            <a:avLst/>
          </a:prstGeom>
          <a:solidFill>
            <a:srgbClr val="FFFFFF"/>
          </a:solidFill>
          <a:ln w="19050">
            <a:solidFill>
              <a:srgbClr val="5E6A78"/>
            </a:solidFill>
            <a:prstDash val="solid"/>
          </a:ln>
        </p:spPr>
      </p:sp>
      <p:sp>
        <p:nvSpPr>
          <p:cNvPr id="26" name="Shape 24"/>
          <p:cNvSpPr/>
          <p:nvPr/>
        </p:nvSpPr>
        <p:spPr>
          <a:xfrm>
            <a:off x="548640" y="2542032"/>
            <a:ext cx="7589520" cy="246888"/>
          </a:xfrm>
          <a:prstGeom prst="rect">
            <a:avLst/>
          </a:prstGeom>
          <a:solidFill>
            <a:srgbClr val="FAFAFA"/>
          </a:solidFill>
          <a:ln/>
        </p:spPr>
      </p:sp>
      <p:sp>
        <p:nvSpPr>
          <p:cNvPr id="27" name="Text 25"/>
          <p:cNvSpPr txBox="1"/>
          <p:nvPr/>
        </p:nvSpPr>
        <p:spPr>
          <a:xfrm>
            <a:off x="548640" y="2542032"/>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STEM degree</a:t>
            </a:r>
            <a:endParaRPr lang="en-US" sz="1200" dirty="0"/>
          </a:p>
        </p:txBody>
      </p:sp>
      <p:sp>
        <p:nvSpPr>
          <p:cNvPr id="28" name="Shape 26"/>
          <p:cNvSpPr/>
          <p:nvPr/>
        </p:nvSpPr>
        <p:spPr>
          <a:xfrm>
            <a:off x="4932107" y="2665476"/>
            <a:ext cx="510040" cy="0"/>
          </a:xfrm>
          <a:prstGeom prst="line">
            <a:avLst/>
          </a:prstGeom>
          <a:noFill/>
          <a:ln w="28575">
            <a:solidFill>
              <a:srgbClr val="990000"/>
            </a:solidFill>
            <a:prstDash val="solid"/>
          </a:ln>
        </p:spPr>
      </p:sp>
      <p:sp>
        <p:nvSpPr>
          <p:cNvPr id="29" name="Shape 27"/>
          <p:cNvSpPr/>
          <p:nvPr/>
        </p:nvSpPr>
        <p:spPr>
          <a:xfrm>
            <a:off x="5103642" y="2587752"/>
            <a:ext cx="155448" cy="155448"/>
          </a:xfrm>
          <a:prstGeom prst="ellipse">
            <a:avLst/>
          </a:prstGeom>
          <a:solidFill>
            <a:srgbClr val="990000"/>
          </a:solidFill>
          <a:ln/>
        </p:spPr>
      </p:sp>
      <p:sp>
        <p:nvSpPr>
          <p:cNvPr id="30" name="Text 28"/>
          <p:cNvSpPr txBox="1"/>
          <p:nvPr/>
        </p:nvSpPr>
        <p:spPr>
          <a:xfrm>
            <a:off x="548640" y="2788920"/>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31" name="Shape 29"/>
          <p:cNvSpPr/>
          <p:nvPr/>
        </p:nvSpPr>
        <p:spPr>
          <a:xfrm>
            <a:off x="4541728" y="2912364"/>
            <a:ext cx="1063643" cy="0"/>
          </a:xfrm>
          <a:prstGeom prst="line">
            <a:avLst/>
          </a:prstGeom>
          <a:noFill/>
          <a:ln w="28575">
            <a:solidFill>
              <a:srgbClr val="5E6A78"/>
            </a:solidFill>
            <a:prstDash val="solid"/>
          </a:ln>
        </p:spPr>
      </p:sp>
      <p:sp>
        <p:nvSpPr>
          <p:cNvPr id="32" name="Shape 30"/>
          <p:cNvSpPr/>
          <p:nvPr/>
        </p:nvSpPr>
        <p:spPr>
          <a:xfrm>
            <a:off x="4970099" y="2834640"/>
            <a:ext cx="155448" cy="155448"/>
          </a:xfrm>
          <a:prstGeom prst="ellipse">
            <a:avLst/>
          </a:prstGeom>
          <a:solidFill>
            <a:srgbClr val="FFFFFF"/>
          </a:solidFill>
          <a:ln w="19050">
            <a:solidFill>
              <a:srgbClr val="5E6A78"/>
            </a:solidFill>
            <a:prstDash val="solid"/>
          </a:ln>
        </p:spPr>
      </p:sp>
      <p:sp>
        <p:nvSpPr>
          <p:cNvPr id="33" name="Shape 31"/>
          <p:cNvSpPr/>
          <p:nvPr/>
        </p:nvSpPr>
        <p:spPr>
          <a:xfrm>
            <a:off x="548640" y="3035808"/>
            <a:ext cx="7589520" cy="246888"/>
          </a:xfrm>
          <a:prstGeom prst="rect">
            <a:avLst/>
          </a:prstGeom>
          <a:solidFill>
            <a:srgbClr val="FAFAFA"/>
          </a:solidFill>
          <a:ln/>
        </p:spPr>
      </p:sp>
      <p:sp>
        <p:nvSpPr>
          <p:cNvPr id="34" name="Text 32"/>
          <p:cNvSpPr txBox="1"/>
          <p:nvPr/>
        </p:nvSpPr>
        <p:spPr>
          <a:xfrm>
            <a:off x="548640" y="3035808"/>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Cloud skill (AWS, Azure, GCP)</a:t>
            </a:r>
            <a:endParaRPr lang="en-US" sz="1200" dirty="0"/>
          </a:p>
        </p:txBody>
      </p:sp>
      <p:sp>
        <p:nvSpPr>
          <p:cNvPr id="35" name="Shape 33"/>
          <p:cNvSpPr/>
          <p:nvPr/>
        </p:nvSpPr>
        <p:spPr>
          <a:xfrm>
            <a:off x="5204349" y="3159252"/>
            <a:ext cx="781044" cy="0"/>
          </a:xfrm>
          <a:prstGeom prst="line">
            <a:avLst/>
          </a:prstGeom>
          <a:noFill/>
          <a:ln w="28575">
            <a:solidFill>
              <a:srgbClr val="990000"/>
            </a:solidFill>
            <a:prstDash val="solid"/>
          </a:ln>
        </p:spPr>
      </p:sp>
      <p:sp>
        <p:nvSpPr>
          <p:cNvPr id="36" name="Shape 34"/>
          <p:cNvSpPr/>
          <p:nvPr/>
        </p:nvSpPr>
        <p:spPr>
          <a:xfrm>
            <a:off x="5504271" y="3081528"/>
            <a:ext cx="155448" cy="155448"/>
          </a:xfrm>
          <a:prstGeom prst="ellipse">
            <a:avLst/>
          </a:prstGeom>
          <a:solidFill>
            <a:srgbClr val="990000"/>
          </a:solidFill>
          <a:ln/>
        </p:spPr>
      </p:sp>
      <p:sp>
        <p:nvSpPr>
          <p:cNvPr id="37" name="Text 35"/>
          <p:cNvSpPr txBox="1"/>
          <p:nvPr/>
        </p:nvSpPr>
        <p:spPr>
          <a:xfrm>
            <a:off x="548640" y="3282696"/>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38" name="Shape 36"/>
          <p:cNvSpPr/>
          <p:nvPr/>
        </p:nvSpPr>
        <p:spPr>
          <a:xfrm>
            <a:off x="4913207" y="3406140"/>
            <a:ext cx="2897866" cy="0"/>
          </a:xfrm>
          <a:prstGeom prst="line">
            <a:avLst/>
          </a:prstGeom>
          <a:noFill/>
          <a:ln w="28575">
            <a:solidFill>
              <a:srgbClr val="5E6A78"/>
            </a:solidFill>
            <a:prstDash val="solid"/>
          </a:ln>
        </p:spPr>
      </p:sp>
      <p:sp>
        <p:nvSpPr>
          <p:cNvPr id="39" name="Shape 37"/>
          <p:cNvSpPr/>
          <p:nvPr/>
        </p:nvSpPr>
        <p:spPr>
          <a:xfrm>
            <a:off x="6128908" y="3328416"/>
            <a:ext cx="155448" cy="155448"/>
          </a:xfrm>
          <a:prstGeom prst="ellipse">
            <a:avLst/>
          </a:prstGeom>
          <a:solidFill>
            <a:srgbClr val="FFFFFF"/>
          </a:solidFill>
          <a:ln w="19050">
            <a:solidFill>
              <a:srgbClr val="5E6A78"/>
            </a:solidFill>
            <a:prstDash val="solid"/>
          </a:ln>
        </p:spPr>
      </p:sp>
      <p:sp>
        <p:nvSpPr>
          <p:cNvPr id="40" name="Shape 38"/>
          <p:cNvSpPr/>
          <p:nvPr/>
        </p:nvSpPr>
        <p:spPr>
          <a:xfrm>
            <a:off x="548640" y="3529584"/>
            <a:ext cx="7589520" cy="246888"/>
          </a:xfrm>
          <a:prstGeom prst="rect">
            <a:avLst/>
          </a:prstGeom>
          <a:solidFill>
            <a:srgbClr val="FAFAFA"/>
          </a:solidFill>
          <a:ln/>
        </p:spPr>
      </p:sp>
      <p:sp>
        <p:nvSpPr>
          <p:cNvPr id="41" name="Text 39"/>
          <p:cNvSpPr txBox="1"/>
          <p:nvPr/>
        </p:nvSpPr>
        <p:spPr>
          <a:xfrm>
            <a:off x="548640" y="3529584"/>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ML/AI skill</a:t>
            </a:r>
            <a:endParaRPr lang="en-US" sz="1200" dirty="0"/>
          </a:p>
        </p:txBody>
      </p:sp>
      <p:sp>
        <p:nvSpPr>
          <p:cNvPr id="42" name="Shape 40"/>
          <p:cNvSpPr/>
          <p:nvPr/>
        </p:nvSpPr>
        <p:spPr>
          <a:xfrm>
            <a:off x="4947275" y="3653028"/>
            <a:ext cx="1013605" cy="0"/>
          </a:xfrm>
          <a:prstGeom prst="line">
            <a:avLst/>
          </a:prstGeom>
          <a:noFill/>
          <a:ln w="28575">
            <a:solidFill>
              <a:srgbClr val="990000"/>
            </a:solidFill>
            <a:prstDash val="solid"/>
          </a:ln>
        </p:spPr>
      </p:sp>
      <p:sp>
        <p:nvSpPr>
          <p:cNvPr id="43" name="Shape 41"/>
          <p:cNvSpPr/>
          <p:nvPr/>
        </p:nvSpPr>
        <p:spPr>
          <a:xfrm>
            <a:off x="5354574" y="3575304"/>
            <a:ext cx="155448" cy="155448"/>
          </a:xfrm>
          <a:prstGeom prst="ellipse">
            <a:avLst/>
          </a:prstGeom>
          <a:solidFill>
            <a:srgbClr val="990000"/>
          </a:solidFill>
          <a:ln/>
        </p:spPr>
      </p:sp>
      <p:sp>
        <p:nvSpPr>
          <p:cNvPr id="44" name="Text 42"/>
          <p:cNvSpPr txBox="1"/>
          <p:nvPr/>
        </p:nvSpPr>
        <p:spPr>
          <a:xfrm>
            <a:off x="548640" y="3776472"/>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45" name="Shape 43"/>
          <p:cNvSpPr/>
          <p:nvPr/>
        </p:nvSpPr>
        <p:spPr>
          <a:xfrm>
            <a:off x="4287874" y="3899916"/>
            <a:ext cx="2212033" cy="0"/>
          </a:xfrm>
          <a:prstGeom prst="line">
            <a:avLst/>
          </a:prstGeom>
          <a:noFill/>
          <a:ln w="28575">
            <a:solidFill>
              <a:srgbClr val="5E6A78"/>
            </a:solidFill>
            <a:prstDash val="solid"/>
          </a:ln>
        </p:spPr>
      </p:sp>
      <p:sp>
        <p:nvSpPr>
          <p:cNvPr id="46" name="Shape 44"/>
          <p:cNvSpPr/>
          <p:nvPr/>
        </p:nvSpPr>
        <p:spPr>
          <a:xfrm>
            <a:off x="5210800" y="3822192"/>
            <a:ext cx="155448" cy="155448"/>
          </a:xfrm>
          <a:prstGeom prst="ellipse">
            <a:avLst/>
          </a:prstGeom>
          <a:solidFill>
            <a:srgbClr val="FFFFFF"/>
          </a:solidFill>
          <a:ln w="19050">
            <a:solidFill>
              <a:srgbClr val="5E6A78"/>
            </a:solidFill>
            <a:prstDash val="solid"/>
          </a:ln>
        </p:spPr>
      </p:sp>
      <p:sp>
        <p:nvSpPr>
          <p:cNvPr id="47" name="Shape 45"/>
          <p:cNvSpPr/>
          <p:nvPr/>
        </p:nvSpPr>
        <p:spPr>
          <a:xfrm>
            <a:off x="548640" y="4023360"/>
            <a:ext cx="7589520" cy="246888"/>
          </a:xfrm>
          <a:prstGeom prst="rect">
            <a:avLst/>
          </a:prstGeom>
          <a:solidFill>
            <a:srgbClr val="FAFAFA"/>
          </a:solidFill>
          <a:ln/>
        </p:spPr>
      </p:sp>
      <p:sp>
        <p:nvSpPr>
          <p:cNvPr id="48" name="Text 46"/>
          <p:cNvSpPr txBox="1"/>
          <p:nvPr/>
        </p:nvSpPr>
        <p:spPr>
          <a:xfrm>
            <a:off x="548640" y="4023360"/>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AI/ML role family</a:t>
            </a:r>
            <a:endParaRPr lang="en-US" sz="1200" dirty="0"/>
          </a:p>
        </p:txBody>
      </p:sp>
      <p:sp>
        <p:nvSpPr>
          <p:cNvPr id="49" name="Shape 47"/>
          <p:cNvSpPr/>
          <p:nvPr/>
        </p:nvSpPr>
        <p:spPr>
          <a:xfrm>
            <a:off x="4911590" y="4146804"/>
            <a:ext cx="880914" cy="0"/>
          </a:xfrm>
          <a:prstGeom prst="line">
            <a:avLst/>
          </a:prstGeom>
          <a:noFill/>
          <a:ln w="28575">
            <a:solidFill>
              <a:srgbClr val="990000"/>
            </a:solidFill>
            <a:prstDash val="solid"/>
          </a:ln>
        </p:spPr>
      </p:sp>
      <p:sp>
        <p:nvSpPr>
          <p:cNvPr id="50" name="Shape 48"/>
          <p:cNvSpPr/>
          <p:nvPr/>
        </p:nvSpPr>
        <p:spPr>
          <a:xfrm>
            <a:off x="5257648" y="4069080"/>
            <a:ext cx="155448" cy="155448"/>
          </a:xfrm>
          <a:prstGeom prst="ellipse">
            <a:avLst/>
          </a:prstGeom>
          <a:solidFill>
            <a:srgbClr val="990000"/>
          </a:solidFill>
          <a:ln/>
        </p:spPr>
      </p:sp>
      <p:sp>
        <p:nvSpPr>
          <p:cNvPr id="51" name="Text 49"/>
          <p:cNvSpPr txBox="1"/>
          <p:nvPr/>
        </p:nvSpPr>
        <p:spPr>
          <a:xfrm>
            <a:off x="548640" y="4270248"/>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52" name="Shape 50"/>
          <p:cNvSpPr/>
          <p:nvPr/>
        </p:nvSpPr>
        <p:spPr>
          <a:xfrm>
            <a:off x="5025407" y="4393692"/>
            <a:ext cx="2726202" cy="0"/>
          </a:xfrm>
          <a:prstGeom prst="line">
            <a:avLst/>
          </a:prstGeom>
          <a:noFill/>
          <a:ln w="28575">
            <a:solidFill>
              <a:srgbClr val="5E6A78"/>
            </a:solidFill>
            <a:prstDash val="solid"/>
          </a:ln>
        </p:spPr>
      </p:sp>
      <p:sp>
        <p:nvSpPr>
          <p:cNvPr id="53" name="Shape 51"/>
          <p:cNvSpPr/>
          <p:nvPr/>
        </p:nvSpPr>
        <p:spPr>
          <a:xfrm>
            <a:off x="6174141" y="4315968"/>
            <a:ext cx="155448" cy="155448"/>
          </a:xfrm>
          <a:prstGeom prst="ellipse">
            <a:avLst/>
          </a:prstGeom>
          <a:solidFill>
            <a:srgbClr val="FFFFFF"/>
          </a:solidFill>
          <a:ln w="19050">
            <a:solidFill>
              <a:srgbClr val="5E6A78"/>
            </a:solidFill>
            <a:prstDash val="solid"/>
          </a:ln>
        </p:spPr>
      </p:sp>
      <p:sp>
        <p:nvSpPr>
          <p:cNvPr id="54" name="Shape 52"/>
          <p:cNvSpPr/>
          <p:nvPr/>
        </p:nvSpPr>
        <p:spPr>
          <a:xfrm>
            <a:off x="548640" y="4517136"/>
            <a:ext cx="7589520" cy="246888"/>
          </a:xfrm>
          <a:prstGeom prst="rect">
            <a:avLst/>
          </a:prstGeom>
          <a:solidFill>
            <a:srgbClr val="FAFAFA"/>
          </a:solidFill>
          <a:ln/>
        </p:spPr>
      </p:sp>
      <p:sp>
        <p:nvSpPr>
          <p:cNvPr id="55" name="Text 53"/>
          <p:cNvSpPr txBox="1"/>
          <p:nvPr/>
        </p:nvSpPr>
        <p:spPr>
          <a:xfrm>
            <a:off x="548640" y="4517136"/>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Data-center operator</a:t>
            </a:r>
            <a:endParaRPr lang="en-US" sz="1200" dirty="0"/>
          </a:p>
        </p:txBody>
      </p:sp>
      <p:sp>
        <p:nvSpPr>
          <p:cNvPr id="56" name="Shape 54"/>
          <p:cNvSpPr/>
          <p:nvPr/>
        </p:nvSpPr>
        <p:spPr>
          <a:xfrm>
            <a:off x="4701833" y="4640580"/>
            <a:ext cx="1635334" cy="0"/>
          </a:xfrm>
          <a:prstGeom prst="line">
            <a:avLst/>
          </a:prstGeom>
          <a:noFill/>
          <a:ln w="28575">
            <a:solidFill>
              <a:srgbClr val="990000"/>
            </a:solidFill>
            <a:prstDash val="solid"/>
          </a:ln>
        </p:spPr>
      </p:sp>
      <p:sp>
        <p:nvSpPr>
          <p:cNvPr id="57" name="Shape 55"/>
          <p:cNvSpPr/>
          <p:nvPr/>
        </p:nvSpPr>
        <p:spPr>
          <a:xfrm>
            <a:off x="5385806" y="4562856"/>
            <a:ext cx="155448" cy="155448"/>
          </a:xfrm>
          <a:prstGeom prst="ellipse">
            <a:avLst/>
          </a:prstGeom>
          <a:solidFill>
            <a:srgbClr val="990000"/>
          </a:solidFill>
          <a:ln/>
        </p:spPr>
      </p:sp>
      <p:sp>
        <p:nvSpPr>
          <p:cNvPr id="58" name="Text 56"/>
          <p:cNvSpPr txBox="1"/>
          <p:nvPr/>
        </p:nvSpPr>
        <p:spPr>
          <a:xfrm>
            <a:off x="548640" y="4764024"/>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59" name="Shape 57"/>
          <p:cNvSpPr/>
          <p:nvPr/>
        </p:nvSpPr>
        <p:spPr>
          <a:xfrm>
            <a:off x="4311760" y="4887468"/>
            <a:ext cx="2045198" cy="0"/>
          </a:xfrm>
          <a:prstGeom prst="line">
            <a:avLst/>
          </a:prstGeom>
          <a:noFill/>
          <a:ln w="28575">
            <a:solidFill>
              <a:srgbClr val="5E6A78"/>
            </a:solidFill>
            <a:prstDash val="solid"/>
          </a:ln>
        </p:spPr>
      </p:sp>
      <p:sp>
        <p:nvSpPr>
          <p:cNvPr id="60" name="Shape 58"/>
          <p:cNvSpPr/>
          <p:nvPr/>
        </p:nvSpPr>
        <p:spPr>
          <a:xfrm>
            <a:off x="5166106" y="4809744"/>
            <a:ext cx="155448" cy="155448"/>
          </a:xfrm>
          <a:prstGeom prst="ellipse">
            <a:avLst/>
          </a:prstGeom>
          <a:solidFill>
            <a:srgbClr val="FFFFFF"/>
          </a:solidFill>
          <a:ln w="19050">
            <a:solidFill>
              <a:srgbClr val="5E6A78"/>
            </a:solidFill>
            <a:prstDash val="solid"/>
          </a:ln>
        </p:spPr>
      </p:sp>
      <p:sp>
        <p:nvSpPr>
          <p:cNvPr id="61" name="Shape 59"/>
          <p:cNvSpPr/>
          <p:nvPr/>
        </p:nvSpPr>
        <p:spPr>
          <a:xfrm>
            <a:off x="548640" y="5010912"/>
            <a:ext cx="7589520" cy="246888"/>
          </a:xfrm>
          <a:prstGeom prst="rect">
            <a:avLst/>
          </a:prstGeom>
          <a:solidFill>
            <a:srgbClr val="FAFAFA"/>
          </a:solidFill>
          <a:ln/>
        </p:spPr>
      </p:sp>
      <p:sp>
        <p:nvSpPr>
          <p:cNvPr id="62" name="Text 60"/>
          <p:cNvSpPr txBox="1"/>
          <p:nvPr/>
        </p:nvSpPr>
        <p:spPr>
          <a:xfrm>
            <a:off x="548640" y="5010912"/>
            <a:ext cx="2606040" cy="246888"/>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Pay-transparency mandate</a:t>
            </a:r>
            <a:endParaRPr lang="en-US" sz="1200" dirty="0"/>
          </a:p>
        </p:txBody>
      </p:sp>
      <p:sp>
        <p:nvSpPr>
          <p:cNvPr id="63" name="Shape 61"/>
          <p:cNvSpPr/>
          <p:nvPr/>
        </p:nvSpPr>
        <p:spPr>
          <a:xfrm>
            <a:off x="4646709" y="5134356"/>
            <a:ext cx="655635" cy="0"/>
          </a:xfrm>
          <a:prstGeom prst="line">
            <a:avLst/>
          </a:prstGeom>
          <a:noFill/>
          <a:ln w="28575">
            <a:solidFill>
              <a:srgbClr val="990000"/>
            </a:solidFill>
            <a:prstDash val="solid"/>
          </a:ln>
        </p:spPr>
      </p:sp>
      <p:sp>
        <p:nvSpPr>
          <p:cNvPr id="64" name="Shape 62"/>
          <p:cNvSpPr/>
          <p:nvPr/>
        </p:nvSpPr>
        <p:spPr>
          <a:xfrm>
            <a:off x="4887173" y="5056632"/>
            <a:ext cx="155448" cy="155448"/>
          </a:xfrm>
          <a:prstGeom prst="ellipse">
            <a:avLst/>
          </a:prstGeom>
          <a:solidFill>
            <a:srgbClr val="990000"/>
          </a:solidFill>
          <a:ln/>
        </p:spPr>
      </p:sp>
      <p:sp>
        <p:nvSpPr>
          <p:cNvPr id="65" name="Text 63"/>
          <p:cNvSpPr txBox="1"/>
          <p:nvPr/>
        </p:nvSpPr>
        <p:spPr>
          <a:xfrm>
            <a:off x="548640" y="5257800"/>
            <a:ext cx="2606040" cy="246888"/>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   early career</a:t>
            </a:r>
            <a:endParaRPr lang="en-US" sz="1200" dirty="0"/>
          </a:p>
        </p:txBody>
      </p:sp>
      <p:sp>
        <p:nvSpPr>
          <p:cNvPr id="66" name="Shape 64"/>
          <p:cNvSpPr/>
          <p:nvPr/>
        </p:nvSpPr>
        <p:spPr>
          <a:xfrm>
            <a:off x="4617584" y="5381244"/>
            <a:ext cx="1206978" cy="0"/>
          </a:xfrm>
          <a:prstGeom prst="line">
            <a:avLst/>
          </a:prstGeom>
          <a:noFill/>
          <a:ln w="28575">
            <a:solidFill>
              <a:srgbClr val="5E6A78"/>
            </a:solidFill>
            <a:prstDash val="solid"/>
          </a:ln>
        </p:spPr>
      </p:sp>
      <p:sp>
        <p:nvSpPr>
          <p:cNvPr id="67" name="Shape 65"/>
          <p:cNvSpPr/>
          <p:nvPr/>
        </p:nvSpPr>
        <p:spPr>
          <a:xfrm>
            <a:off x="5111181" y="5303520"/>
            <a:ext cx="155448" cy="155448"/>
          </a:xfrm>
          <a:prstGeom prst="ellipse">
            <a:avLst/>
          </a:prstGeom>
          <a:solidFill>
            <a:srgbClr val="FFFFFF"/>
          </a:solidFill>
          <a:ln w="19050">
            <a:solidFill>
              <a:srgbClr val="5E6A78"/>
            </a:solidFill>
            <a:prstDash val="solid"/>
          </a:ln>
        </p:spPr>
      </p:sp>
      <p:sp>
        <p:nvSpPr>
          <p:cNvPr id="68" name="Shape 66"/>
          <p:cNvSpPr/>
          <p:nvPr/>
        </p:nvSpPr>
        <p:spPr>
          <a:xfrm>
            <a:off x="8503920" y="1554480"/>
            <a:ext cx="3139135" cy="1371600"/>
          </a:xfrm>
          <a:prstGeom prst="rect">
            <a:avLst/>
          </a:prstGeom>
          <a:solidFill>
            <a:srgbClr val="F6E3E3"/>
          </a:solidFill>
          <a:ln/>
        </p:spPr>
      </p:sp>
      <p:sp>
        <p:nvSpPr>
          <p:cNvPr id="69" name="Text 67"/>
          <p:cNvSpPr txBox="1"/>
          <p:nvPr/>
        </p:nvSpPr>
        <p:spPr>
          <a:xfrm>
            <a:off x="8686800" y="1600200"/>
            <a:ext cx="1188720" cy="822960"/>
          </a:xfrm>
          <a:prstGeom prst="rect">
            <a:avLst/>
          </a:prstGeom>
          <a:noFill/>
          <a:ln/>
        </p:spPr>
        <p:txBody>
          <a:bodyPr wrap="square" lIns="0" tIns="0" rIns="0" bIns="0" rtlCol="0" anchor="ctr"/>
          <a:lstStyle/>
          <a:p>
            <a:pPr indent="0" marL="0">
              <a:buNone/>
            </a:pPr>
            <a:r>
              <a:rPr lang="en-US" sz="4000" b="1" dirty="0">
                <a:solidFill>
                  <a:srgbClr val="990000"/>
                </a:solidFill>
                <a:latin typeface="Cambria" pitchFamily="34" charset="0"/>
                <a:ea typeface="Cambria" pitchFamily="34" charset="-122"/>
                <a:cs typeface="Cambria" pitchFamily="34" charset="-120"/>
              </a:rPr>
              <a:t>80</a:t>
            </a:r>
            <a:endParaRPr lang="en-US" sz="4000" dirty="0"/>
          </a:p>
        </p:txBody>
      </p:sp>
      <p:sp>
        <p:nvSpPr>
          <p:cNvPr id="70" name="Text 68"/>
          <p:cNvSpPr txBox="1"/>
          <p:nvPr/>
        </p:nvSpPr>
        <p:spPr>
          <a:xfrm>
            <a:off x="9966960" y="1645920"/>
            <a:ext cx="1538935" cy="777240"/>
          </a:xfrm>
          <a:prstGeom prst="rect">
            <a:avLst/>
          </a:prstGeom>
          <a:noFill/>
          <a:ln/>
        </p:spPr>
        <p:txBody>
          <a:bodyPr wrap="square" lIns="0" tIns="0" rIns="0" bIns="0" rtlCol="0" anchor="ctr"/>
          <a:lstStyle/>
          <a:p>
            <a:pPr indent="0" marL="0">
              <a:buNone/>
            </a:pPr>
            <a:r>
              <a:rPr lang="en-US" sz="1200" dirty="0">
                <a:solidFill>
                  <a:srgbClr val="243142"/>
                </a:solidFill>
                <a:latin typeface="Arial" pitchFamily="34" charset="0"/>
                <a:ea typeface="Arial" pitchFamily="34" charset="-122"/>
                <a:cs typeface="Arial" pitchFamily="34" charset="-120"/>
              </a:rPr>
              <a:t>early-career postings that state pay, from 36 employers</a:t>
            </a:r>
            <a:endParaRPr lang="en-US" sz="1200" dirty="0"/>
          </a:p>
        </p:txBody>
      </p:sp>
      <p:sp>
        <p:nvSpPr>
          <p:cNvPr id="71" name="Text 69"/>
          <p:cNvSpPr txBox="1"/>
          <p:nvPr/>
        </p:nvSpPr>
        <p:spPr>
          <a:xfrm>
            <a:off x="8686800" y="2468880"/>
            <a:ext cx="2773375" cy="320040"/>
          </a:xfrm>
          <a:prstGeom prst="rect">
            <a:avLst/>
          </a:prstGeom>
          <a:noFill/>
          <a:ln/>
        </p:spPr>
        <p:txBody>
          <a:bodyPr wrap="square" lIns="0" tIns="0" rIns="0" bIns="0" rtlCol="0" anchor="t"/>
          <a:lstStyle/>
          <a:p>
            <a:pPr indent="0" marL="0">
              <a:buNone/>
            </a:pPr>
            <a:r>
              <a:rPr lang="en-US" sz="1200" dirty="0">
                <a:solidFill>
                  <a:srgbClr val="5E6A78"/>
                </a:solidFill>
                <a:latin typeface="Arial" pitchFamily="34" charset="0"/>
                <a:ea typeface="Arial" pitchFamily="34" charset="-122"/>
                <a:cs typeface="Arial" pitchFamily="34" charset="-120"/>
              </a:rPr>
              <a:t>Full sample: N = 543</a:t>
            </a:r>
            <a:endParaRPr lang="en-US" sz="1200" dirty="0"/>
          </a:p>
        </p:txBody>
      </p:sp>
      <p:sp>
        <p:nvSpPr>
          <p:cNvPr id="72" name="Text 70"/>
          <p:cNvSpPr txBox="1"/>
          <p:nvPr/>
        </p:nvSpPr>
        <p:spPr>
          <a:xfrm>
            <a:off x="8503920" y="3108960"/>
            <a:ext cx="3139135" cy="777240"/>
          </a:xfrm>
          <a:prstGeom prst="rect">
            <a:avLst/>
          </a:prstGeom>
          <a:noFill/>
          <a:ln/>
        </p:spPr>
        <p:txBody>
          <a:bodyPr wrap="square" lIns="0" tIns="0" rIns="0" bIns="0" rtlCol="0" anchor="t"/>
          <a:lstStyle/>
          <a:p>
            <a:pPr indent="0" marL="0">
              <a:buNone/>
            </a:pPr>
            <a:r>
              <a:rPr lang="en-US" sz="1200" b="1" dirty="0">
                <a:solidFill>
                  <a:srgbClr val="990000"/>
                </a:solidFill>
                <a:latin typeface="Arial" pitchFamily="34" charset="0"/>
                <a:ea typeface="Arial" pitchFamily="34" charset="-122"/>
                <a:cs typeface="Arial" pitchFamily="34" charset="-120"/>
              </a:rPr>
              <a:t>Crimson: </a:t>
            </a:r>
            <a:pPr indent="0" marL="0">
              <a:buNone/>
            </a:pPr>
            <a:r>
              <a:rPr lang="en-US" sz="1200" dirty="0">
                <a:solidFill>
                  <a:srgbClr val="243142"/>
                </a:solidFill>
                <a:latin typeface="Arial" pitchFamily="34" charset="0"/>
                <a:ea typeface="Arial" pitchFamily="34" charset="-122"/>
                <a:cs typeface="Arial" pitchFamily="34" charset="-120"/>
              </a:rPr>
              <a:t>full sample (core model).</a:t>
            </a:r>
            <a:endParaRPr lang="en-US" sz="1200" dirty="0"/>
          </a:p>
          <a:p>
            <a:pPr indent="0" marL="0">
              <a:buNone/>
            </a:pPr>
            <a:r>
              <a:rPr lang="en-US" sz="1200" b="1" dirty="0">
                <a:solidFill>
                  <a:srgbClr val="5E6A78"/>
                </a:solidFill>
                <a:latin typeface="Arial" pitchFamily="34" charset="0"/>
                <a:ea typeface="Arial" pitchFamily="34" charset="-122"/>
                <a:cs typeface="Arial" pitchFamily="34" charset="-120"/>
              </a:rPr>
              <a:t>Grey, hollow: </a:t>
            </a:r>
            <a:pPr indent="0" marL="0">
              <a:buNone/>
            </a:pPr>
            <a:r>
              <a:rPr lang="en-US" sz="1200" dirty="0">
                <a:solidFill>
                  <a:srgbClr val="243142"/>
                </a:solidFill>
                <a:latin typeface="Arial" pitchFamily="34" charset="0"/>
                <a:ea typeface="Arial" pitchFamily="34" charset="-122"/>
                <a:cs typeface="Arial" pitchFamily="34" charset="-120"/>
              </a:rPr>
              <a:t>early-career subsample (no bootstrap; clustered p).</a:t>
            </a:r>
            <a:endParaRPr lang="en-US" sz="1200" dirty="0"/>
          </a:p>
        </p:txBody>
      </p:sp>
      <p:sp>
        <p:nvSpPr>
          <p:cNvPr id="73" name="Text 71"/>
          <p:cNvSpPr txBox="1"/>
          <p:nvPr/>
        </p:nvSpPr>
        <p:spPr>
          <a:xfrm>
            <a:off x="8503920" y="3977640"/>
            <a:ext cx="3139135" cy="914400"/>
          </a:xfrm>
          <a:prstGeom prst="rect">
            <a:avLst/>
          </a:prstGeom>
          <a:noFill/>
          <a:ln/>
        </p:spPr>
        <p:txBody>
          <a:bodyPr wrap="square" lIns="0" tIns="0" rIns="0" bIns="0" rtlCol="0" anchor="t"/>
          <a:lstStyle/>
          <a:p>
            <a:pPr indent="0" marL="0">
              <a:buNone/>
            </a:pPr>
            <a:r>
              <a:rPr lang="en-US" sz="1200" dirty="0">
                <a:solidFill>
                  <a:srgbClr val="243142"/>
                </a:solidFill>
                <a:latin typeface="Arial" pitchFamily="34" charset="0"/>
                <a:ea typeface="Arial" pitchFamily="34" charset="-122"/>
                <a:cs typeface="Arial" pitchFamily="34" charset="-120"/>
              </a:rPr>
              <a:t>At p &lt; 0.05 (clustered): a stated cloud skill (+24%) and an AI/ML role family (+25%). Intervals this wide cannot be read as findings.</a:t>
            </a:r>
            <a:endParaRPr lang="en-US" sz="1200" dirty="0"/>
          </a:p>
        </p:txBody>
      </p:sp>
      <p:sp>
        <p:nvSpPr>
          <p:cNvPr id="74" name="Text 72"/>
          <p:cNvSpPr txBox="1"/>
          <p:nvPr/>
        </p:nvSpPr>
        <p:spPr>
          <a:xfrm>
            <a:off x="8503920" y="4937760"/>
            <a:ext cx="3139135" cy="685800"/>
          </a:xfrm>
          <a:prstGeom prst="rect">
            <a:avLst/>
          </a:prstGeom>
          <a:noFill/>
          <a:ln/>
        </p:spPr>
        <p:txBody>
          <a:bodyPr wrap="square" lIns="0" tIns="0" rIns="0" bIns="0" rtlCol="0" anchor="t"/>
          <a:lstStyle/>
          <a:p>
            <a:pPr indent="0" marL="0">
              <a:buNone/>
            </a:pPr>
            <a:r>
              <a:rPr lang="en-US" sz="1100" dirty="0">
                <a:solidFill>
                  <a:srgbClr val="5E6A78"/>
                </a:solidFill>
                <a:latin typeface="Arial" pitchFamily="34" charset="0"/>
                <a:ea typeface="Arial" pitchFamily="34" charset="-122"/>
                <a:cs typeface="Arial" pitchFamily="34" charset="-120"/>
              </a:rPr>
              <a:t>In the full sample, requires a degree, ML/AI skill, AI/ML role family, data-center operator and pay-transparency mandate are not significant under the bootstrap.</a:t>
            </a:r>
            <a:endParaRPr lang="en-US" sz="1100" dirty="0"/>
          </a:p>
        </p:txBody>
      </p:sp>
      <p:sp>
        <p:nvSpPr>
          <p:cNvPr id="75" name="Text 73"/>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Early career: an entry-level title, or a stated experience minimum of 3 years or less. Bars: 95% cluster-robust CI. Seniority is left off the plot: the subsample spans only entry and mid ranks.</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RESULTS · WHAT DID NOT HOLD</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What did not hold up</a:t>
            </a:r>
            <a:endParaRPr lang="en-US" sz="2600" dirty="0"/>
          </a:p>
        </p:txBody>
      </p:sp>
      <p:sp>
        <p:nvSpPr>
          <p:cNvPr id="4" name="Shape 2"/>
          <p:cNvSpPr/>
          <p:nvPr/>
        </p:nvSpPr>
        <p:spPr>
          <a:xfrm>
            <a:off x="548640" y="1600200"/>
            <a:ext cx="5410048" cy="1965960"/>
          </a:xfrm>
          <a:prstGeom prst="rect">
            <a:avLst/>
          </a:prstGeom>
          <a:solidFill>
            <a:srgbClr val="F6E3E3"/>
          </a:solidFill>
          <a:ln/>
        </p:spPr>
      </p:sp>
      <p:sp>
        <p:nvSpPr>
          <p:cNvPr id="5" name="Shape 3"/>
          <p:cNvSpPr/>
          <p:nvPr/>
        </p:nvSpPr>
        <p:spPr>
          <a:xfrm>
            <a:off x="777240" y="1828800"/>
            <a:ext cx="420624" cy="420624"/>
          </a:xfrm>
          <a:prstGeom prst="ellipse">
            <a:avLst/>
          </a:prstGeom>
          <a:solidFill>
            <a:srgbClr val="990000"/>
          </a:solidFill>
          <a:ln/>
        </p:spPr>
      </p:sp>
      <p:sp>
        <p:nvSpPr>
          <p:cNvPr id="6" name="Text 4"/>
          <p:cNvSpPr txBox="1"/>
          <p:nvPr/>
        </p:nvSpPr>
        <p:spPr>
          <a:xfrm>
            <a:off x="777240" y="18288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71600" y="1755648"/>
            <a:ext cx="4404208" cy="566928"/>
          </a:xfrm>
          <a:prstGeom prst="rect">
            <a:avLst/>
          </a:prstGeom>
          <a:noFill/>
          <a:ln/>
        </p:spPr>
        <p:txBody>
          <a:bodyPr wrap="square" lIns="0" tIns="0" rIns="0" bIns="0" rtlCol="0" anchor="ctr"/>
          <a:lstStyle/>
          <a:p>
            <a:pPr indent="0" marL="0">
              <a:buNone/>
            </a:pPr>
            <a:r>
              <a:rPr lang="en-US" sz="1600" b="1" dirty="0">
                <a:solidFill>
                  <a:srgbClr val="6B0000"/>
                </a:solidFill>
                <a:latin typeface="Arial" pitchFamily="34" charset="0"/>
                <a:ea typeface="Arial" pitchFamily="34" charset="-122"/>
                <a:cs typeface="Arial" pitchFamily="34" charset="-120"/>
              </a:rPr>
              <a:t>Overturned by the bootstrap</a:t>
            </a:r>
            <a:endParaRPr lang="en-US" sz="1600" dirty="0"/>
          </a:p>
        </p:txBody>
      </p:sp>
      <p:sp>
        <p:nvSpPr>
          <p:cNvPr id="8" name="Text 6"/>
          <p:cNvSpPr txBox="1"/>
          <p:nvPr/>
        </p:nvSpPr>
        <p:spPr>
          <a:xfrm>
            <a:off x="1371600" y="2423160"/>
            <a:ext cx="4358488" cy="1005840"/>
          </a:xfrm>
          <a:prstGeom prst="rect">
            <a:avLst/>
          </a:prstGeom>
          <a:noFill/>
          <a:ln/>
        </p:spPr>
        <p:txBody>
          <a:bodyPr wrap="square" lIns="0" tIns="0" rIns="0" bIns="0" rtlCol="0" anchor="t"/>
          <a:lstStyle/>
          <a:p>
            <a:pPr indent="0" marL="0">
              <a:spcAft>
                <a:spcPts val="600"/>
              </a:spcAft>
              <a:buNone/>
            </a:pPr>
            <a:r>
              <a:rPr lang="en-US" sz="1300" dirty="0">
                <a:solidFill>
                  <a:srgbClr val="243142"/>
                </a:solidFill>
                <a:latin typeface="Arial" pitchFamily="34" charset="0"/>
                <a:ea typeface="Arial" pitchFamily="34" charset="-122"/>
                <a:cs typeface="Arial" pitchFamily="34" charset="-120"/>
              </a:rPr>
              <a:t>ML/AI skill +9.8%: p = 0.033 clustered, 0.074 bootstrap</a:t>
            </a:r>
            <a:endParaRPr lang="en-US" sz="1300" dirty="0"/>
          </a:p>
          <a:p>
            <a:pPr indent="0" marL="0">
              <a:spcAft>
                <a:spcPts val="600"/>
              </a:spcAft>
              <a:buNone/>
            </a:pPr>
            <a:r>
              <a:rPr lang="en-US" sz="1300" dirty="0">
                <a:solidFill>
                  <a:srgbClr val="243142"/>
                </a:solidFill>
                <a:latin typeface="Arial" pitchFamily="34" charset="0"/>
                <a:ea typeface="Arial" pitchFamily="34" charset="-122"/>
                <a:cs typeface="Arial" pitchFamily="34" charset="-120"/>
              </a:rPr>
              <a:t>AI/ML role family +8.0%: p = 0.048 clustered, 0.083 bootstrap</a:t>
            </a:r>
            <a:endParaRPr lang="en-US" sz="1300" dirty="0"/>
          </a:p>
        </p:txBody>
      </p:sp>
      <p:sp>
        <p:nvSpPr>
          <p:cNvPr id="9" name="Shape 7"/>
          <p:cNvSpPr/>
          <p:nvPr/>
        </p:nvSpPr>
        <p:spPr>
          <a:xfrm>
            <a:off x="6233008" y="1600200"/>
            <a:ext cx="5410048" cy="1965960"/>
          </a:xfrm>
          <a:prstGeom prst="rect">
            <a:avLst/>
          </a:prstGeom>
          <a:solidFill>
            <a:srgbClr val="EDEBEB"/>
          </a:solidFill>
          <a:ln/>
        </p:spPr>
      </p:sp>
      <p:sp>
        <p:nvSpPr>
          <p:cNvPr id="10" name="Shape 8"/>
          <p:cNvSpPr/>
          <p:nvPr/>
        </p:nvSpPr>
        <p:spPr>
          <a:xfrm>
            <a:off x="6461608" y="1828800"/>
            <a:ext cx="420624" cy="420624"/>
          </a:xfrm>
          <a:prstGeom prst="ellipse">
            <a:avLst/>
          </a:prstGeom>
          <a:solidFill>
            <a:srgbClr val="990000"/>
          </a:solidFill>
          <a:ln/>
        </p:spPr>
      </p:sp>
      <p:sp>
        <p:nvSpPr>
          <p:cNvPr id="11" name="Text 9"/>
          <p:cNvSpPr txBox="1"/>
          <p:nvPr/>
        </p:nvSpPr>
        <p:spPr>
          <a:xfrm>
            <a:off x="6461608" y="18288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055968" y="1755648"/>
            <a:ext cx="4404208" cy="566928"/>
          </a:xfrm>
          <a:prstGeom prst="rect">
            <a:avLst/>
          </a:prstGeom>
          <a:noFill/>
          <a:ln/>
        </p:spPr>
        <p:txBody>
          <a:bodyPr wrap="square" lIns="0" tIns="0" rIns="0" bIns="0" rtlCol="0" anchor="ctr"/>
          <a:lstStyle/>
          <a:p>
            <a:pPr indent="0" marL="0">
              <a:buNone/>
            </a:pPr>
            <a:r>
              <a:rPr lang="en-US" sz="1600" b="1" dirty="0">
                <a:solidFill>
                  <a:srgbClr val="6B0000"/>
                </a:solidFill>
                <a:latin typeface="Arial" pitchFamily="34" charset="0"/>
                <a:ea typeface="Arial" pitchFamily="34" charset="-122"/>
                <a:cs typeface="Arial" pitchFamily="34" charset="-120"/>
              </a:rPr>
              <a:t>A degree requirement: wrong sign, inconclusive</a:t>
            </a:r>
            <a:endParaRPr lang="en-US" sz="1600" dirty="0"/>
          </a:p>
        </p:txBody>
      </p:sp>
      <p:sp>
        <p:nvSpPr>
          <p:cNvPr id="13" name="Text 11"/>
          <p:cNvSpPr txBox="1"/>
          <p:nvPr/>
        </p:nvSpPr>
        <p:spPr>
          <a:xfrm>
            <a:off x="7055968" y="2423160"/>
            <a:ext cx="4358488" cy="1005840"/>
          </a:xfrm>
          <a:prstGeom prst="rect">
            <a:avLst/>
          </a:prstGeom>
          <a:noFill/>
          <a:ln/>
        </p:spPr>
        <p:txBody>
          <a:bodyPr wrap="square" lIns="0" tIns="0" rIns="0" bIns="0" rtlCol="0" anchor="t"/>
          <a:lstStyle/>
          <a:p>
            <a:pPr indent="0" marL="0">
              <a:spcAft>
                <a:spcPts val="600"/>
              </a:spcAft>
              <a:buNone/>
            </a:pPr>
            <a:r>
              <a:rPr lang="en-US" sz="1300" dirty="0">
                <a:solidFill>
                  <a:srgbClr val="243142"/>
                </a:solidFill>
                <a:latin typeface="Arial" pitchFamily="34" charset="0"/>
                <a:ea typeface="Arial" pitchFamily="34" charset="-122"/>
                <a:cs typeface="Arial" pitchFamily="34" charset="-120"/>
              </a:rPr>
              <a:t>Predicted to raise pay; estimated −5.0% (bootstrap p = 0.074).</a:t>
            </a:r>
            <a:endParaRPr lang="en-US" sz="1300" dirty="0"/>
          </a:p>
          <a:p>
            <a:pPr indent="0" marL="0">
              <a:spcAft>
                <a:spcPts val="600"/>
              </a:spcAft>
              <a:buNone/>
            </a:pPr>
            <a:r>
              <a:rPr lang="en-US" sz="1300" dirty="0">
                <a:solidFill>
                  <a:srgbClr val="243142"/>
                </a:solidFill>
                <a:latin typeface="Arial" pitchFamily="34" charset="0"/>
                <a:ea typeface="Arial" pitchFamily="34" charset="-122"/>
                <a:cs typeface="Arial" pitchFamily="34" charset="-120"/>
              </a:rPr>
              <a:t>Not distinguishable from zero at this cluster count.</a:t>
            </a:r>
            <a:endParaRPr lang="en-US" sz="1300" dirty="0"/>
          </a:p>
        </p:txBody>
      </p:sp>
      <p:sp>
        <p:nvSpPr>
          <p:cNvPr id="14" name="Shape 12"/>
          <p:cNvSpPr/>
          <p:nvPr/>
        </p:nvSpPr>
        <p:spPr>
          <a:xfrm>
            <a:off x="548640" y="3840480"/>
            <a:ext cx="5410048" cy="1965960"/>
          </a:xfrm>
          <a:prstGeom prst="rect">
            <a:avLst/>
          </a:prstGeom>
          <a:solidFill>
            <a:srgbClr val="EDEBEB"/>
          </a:solidFill>
          <a:ln/>
        </p:spPr>
      </p:sp>
      <p:sp>
        <p:nvSpPr>
          <p:cNvPr id="15" name="Shape 13"/>
          <p:cNvSpPr/>
          <p:nvPr/>
        </p:nvSpPr>
        <p:spPr>
          <a:xfrm>
            <a:off x="777240" y="4069080"/>
            <a:ext cx="420624" cy="420624"/>
          </a:xfrm>
          <a:prstGeom prst="ellipse">
            <a:avLst/>
          </a:prstGeom>
          <a:solidFill>
            <a:srgbClr val="990000"/>
          </a:solidFill>
          <a:ln/>
        </p:spPr>
      </p:sp>
      <p:sp>
        <p:nvSpPr>
          <p:cNvPr id="16" name="Text 14"/>
          <p:cNvSpPr txBox="1"/>
          <p:nvPr/>
        </p:nvSpPr>
        <p:spPr>
          <a:xfrm>
            <a:off x="777240" y="40690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371600" y="3995928"/>
            <a:ext cx="4404208" cy="566928"/>
          </a:xfrm>
          <a:prstGeom prst="rect">
            <a:avLst/>
          </a:prstGeom>
          <a:noFill/>
          <a:ln/>
        </p:spPr>
        <p:txBody>
          <a:bodyPr wrap="square" lIns="0" tIns="0" rIns="0" bIns="0" rtlCol="0" anchor="ctr"/>
          <a:lstStyle/>
          <a:p>
            <a:pPr indent="0" marL="0">
              <a:buNone/>
            </a:pPr>
            <a:r>
              <a:rPr lang="en-US" sz="1600" b="1" dirty="0">
                <a:solidFill>
                  <a:srgbClr val="6B0000"/>
                </a:solidFill>
                <a:latin typeface="Arial" pitchFamily="34" charset="0"/>
                <a:ea typeface="Arial" pitchFamily="34" charset="-122"/>
                <a:cs typeface="Arial" pitchFamily="34" charset="-120"/>
              </a:rPr>
              <a:t>STEM degree: tentative</a:t>
            </a:r>
            <a:endParaRPr lang="en-US" sz="1600" dirty="0"/>
          </a:p>
        </p:txBody>
      </p:sp>
      <p:sp>
        <p:nvSpPr>
          <p:cNvPr id="18" name="Text 16"/>
          <p:cNvSpPr txBox="1"/>
          <p:nvPr/>
        </p:nvSpPr>
        <p:spPr>
          <a:xfrm>
            <a:off x="1371600" y="4663440"/>
            <a:ext cx="4358488" cy="1005840"/>
          </a:xfrm>
          <a:prstGeom prst="rect">
            <a:avLst/>
          </a:prstGeom>
          <a:noFill/>
          <a:ln/>
        </p:spPr>
        <p:txBody>
          <a:bodyPr wrap="square" lIns="0" tIns="0" rIns="0" bIns="0" rtlCol="0" anchor="t"/>
          <a:lstStyle/>
          <a:p>
            <a:pPr indent="0" marL="0">
              <a:spcAft>
                <a:spcPts val="600"/>
              </a:spcAft>
              <a:buNone/>
            </a:pPr>
            <a:r>
              <a:rPr lang="en-US" sz="1300" dirty="0">
                <a:solidFill>
                  <a:srgbClr val="243142"/>
                </a:solidFill>
                <a:latin typeface="Arial" pitchFamily="34" charset="0"/>
                <a:ea typeface="Arial" pitchFamily="34" charset="-122"/>
                <a:cs typeface="Arial" pitchFamily="34" charset="-120"/>
              </a:rPr>
              <a:t>+5.1% (bootstrap p = 0.043), but fails without Crusoe (p = 0.086) and without federal rows (p = 0.051).</a:t>
            </a:r>
            <a:endParaRPr lang="en-US" sz="1300" dirty="0"/>
          </a:p>
        </p:txBody>
      </p:sp>
      <p:sp>
        <p:nvSpPr>
          <p:cNvPr id="19" name="Shape 17"/>
          <p:cNvSpPr/>
          <p:nvPr/>
        </p:nvSpPr>
        <p:spPr>
          <a:xfrm>
            <a:off x="6233008" y="3840480"/>
            <a:ext cx="5410048" cy="1965960"/>
          </a:xfrm>
          <a:prstGeom prst="rect">
            <a:avLst/>
          </a:prstGeom>
          <a:solidFill>
            <a:srgbClr val="EDEBEB"/>
          </a:solidFill>
          <a:ln/>
        </p:spPr>
      </p:sp>
      <p:sp>
        <p:nvSpPr>
          <p:cNvPr id="20" name="Shape 18"/>
          <p:cNvSpPr/>
          <p:nvPr/>
        </p:nvSpPr>
        <p:spPr>
          <a:xfrm>
            <a:off x="6461608" y="4069080"/>
            <a:ext cx="420624" cy="420624"/>
          </a:xfrm>
          <a:prstGeom prst="ellipse">
            <a:avLst/>
          </a:prstGeom>
          <a:solidFill>
            <a:srgbClr val="990000"/>
          </a:solidFill>
          <a:ln/>
        </p:spPr>
      </p:sp>
      <p:sp>
        <p:nvSpPr>
          <p:cNvPr id="21" name="Text 19"/>
          <p:cNvSpPr txBox="1"/>
          <p:nvPr/>
        </p:nvSpPr>
        <p:spPr>
          <a:xfrm>
            <a:off x="6461608" y="40690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055968" y="3995928"/>
            <a:ext cx="4404208" cy="566928"/>
          </a:xfrm>
          <a:prstGeom prst="rect">
            <a:avLst/>
          </a:prstGeom>
          <a:noFill/>
          <a:ln/>
        </p:spPr>
        <p:txBody>
          <a:bodyPr wrap="square" lIns="0" tIns="0" rIns="0" bIns="0" rtlCol="0" anchor="ctr"/>
          <a:lstStyle/>
          <a:p>
            <a:pPr indent="0" marL="0">
              <a:buNone/>
            </a:pPr>
            <a:r>
              <a:rPr lang="en-US" sz="1600" b="1" dirty="0">
                <a:solidFill>
                  <a:srgbClr val="6B0000"/>
                </a:solidFill>
                <a:latin typeface="Arial" pitchFamily="34" charset="0"/>
                <a:ea typeface="Arial" pitchFamily="34" charset="-122"/>
                <a:cs typeface="Arial" pitchFamily="34" charset="-120"/>
              </a:rPr>
              <a:t>Regional premiums: nominal only</a:t>
            </a:r>
            <a:endParaRPr lang="en-US" sz="1600" dirty="0"/>
          </a:p>
        </p:txBody>
      </p:sp>
      <p:sp>
        <p:nvSpPr>
          <p:cNvPr id="23" name="Text 21"/>
          <p:cNvSpPr txBox="1"/>
          <p:nvPr/>
        </p:nvSpPr>
        <p:spPr>
          <a:xfrm>
            <a:off x="7055968" y="4663440"/>
            <a:ext cx="4358488" cy="1005840"/>
          </a:xfrm>
          <a:prstGeom prst="rect">
            <a:avLst/>
          </a:prstGeom>
          <a:noFill/>
          <a:ln/>
        </p:spPr>
        <p:txBody>
          <a:bodyPr wrap="square" lIns="0" tIns="0" rIns="0" bIns="0" rtlCol="0" anchor="t"/>
          <a:lstStyle/>
          <a:p>
            <a:pPr indent="0" marL="0">
              <a:spcAft>
                <a:spcPts val="600"/>
              </a:spcAft>
              <a:buNone/>
            </a:pPr>
            <a:r>
              <a:rPr lang="en-US" sz="1300" dirty="0">
                <a:solidFill>
                  <a:srgbClr val="243142"/>
                </a:solidFill>
                <a:latin typeface="Arial" pitchFamily="34" charset="0"/>
                <a:ea typeface="Arial" pitchFamily="34" charset="-122"/>
                <a:cs typeface="Arial" pitchFamily="34" charset="-120"/>
              </a:rPr>
              <a:t>West +13.5% nominal; price-adjusted p = 0.149</a:t>
            </a:r>
            <a:endParaRPr lang="en-US" sz="1300" dirty="0"/>
          </a:p>
          <a:p>
            <a:pPr indent="0" marL="0">
              <a:spcAft>
                <a:spcPts val="600"/>
              </a:spcAft>
              <a:buNone/>
            </a:pPr>
            <a:r>
              <a:rPr lang="en-US" sz="1300" dirty="0">
                <a:solidFill>
                  <a:srgbClr val="243142"/>
                </a:solidFill>
                <a:latin typeface="Arial" pitchFamily="34" charset="0"/>
                <a:ea typeface="Arial" pitchFamily="34" charset="-122"/>
                <a:cs typeface="Arial" pitchFamily="34" charset="-120"/>
              </a:rPr>
              <a:t>Northeast +8.9% nominal; price-adjusted p = 0.706</a:t>
            </a:r>
            <a:endParaRPr lang="en-US" sz="1300" dirty="0"/>
          </a:p>
        </p:txBody>
      </p:sp>
      <p:sp>
        <p:nvSpPr>
          <p:cNvPr id="24" name="Text 22"/>
          <p:cNvSpPr txBox="1"/>
          <p:nvPr/>
        </p:nvSpPr>
        <p:spPr>
          <a:xfrm>
            <a:off x="548640" y="594360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Reported because they were tested: a null or a reversal is a result. The AI/ML premium did not hold, so it is not claimed.</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THREATS TO VALIDITY</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Four threats, and how each is handled</a:t>
            </a:r>
            <a:endParaRPr lang="en-US" sz="2600" dirty="0"/>
          </a:p>
        </p:txBody>
      </p:sp>
      <p:sp>
        <p:nvSpPr>
          <p:cNvPr id="4" name="Shape 2"/>
          <p:cNvSpPr/>
          <p:nvPr/>
        </p:nvSpPr>
        <p:spPr>
          <a:xfrm>
            <a:off x="548640" y="1600200"/>
            <a:ext cx="5410048" cy="1691640"/>
          </a:xfrm>
          <a:prstGeom prst="rect">
            <a:avLst/>
          </a:prstGeom>
          <a:solidFill>
            <a:srgbClr val="EDEBEB"/>
          </a:solidFill>
          <a:ln/>
        </p:spPr>
      </p:sp>
      <p:sp>
        <p:nvSpPr>
          <p:cNvPr id="5" name="Shape 3"/>
          <p:cNvSpPr/>
          <p:nvPr/>
        </p:nvSpPr>
        <p:spPr>
          <a:xfrm>
            <a:off x="777240" y="1828800"/>
            <a:ext cx="420624" cy="420624"/>
          </a:xfrm>
          <a:prstGeom prst="ellipse">
            <a:avLst/>
          </a:prstGeom>
          <a:solidFill>
            <a:srgbClr val="990000"/>
          </a:solidFill>
          <a:ln/>
        </p:spPr>
      </p:sp>
      <p:sp>
        <p:nvSpPr>
          <p:cNvPr id="6" name="Text 4"/>
          <p:cNvSpPr txBox="1"/>
          <p:nvPr/>
        </p:nvSpPr>
        <p:spPr>
          <a:xfrm>
            <a:off x="777240" y="18288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371600" y="1828800"/>
            <a:ext cx="4404208" cy="420624"/>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Advertised is not realized pay</a:t>
            </a:r>
            <a:endParaRPr lang="en-US" sz="1700" dirty="0"/>
          </a:p>
        </p:txBody>
      </p:sp>
      <p:sp>
        <p:nvSpPr>
          <p:cNvPr id="8" name="Text 6"/>
          <p:cNvSpPr txBox="1"/>
          <p:nvPr/>
        </p:nvSpPr>
        <p:spPr>
          <a:xfrm>
            <a:off x="1371600" y="2350008"/>
            <a:ext cx="4358488" cy="82296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The outcome is the midpoint of the posted range; offers can be negotiated in either direction.</a:t>
            </a:r>
            <a:endParaRPr lang="en-US" sz="1300" dirty="0"/>
          </a:p>
        </p:txBody>
      </p:sp>
      <p:sp>
        <p:nvSpPr>
          <p:cNvPr id="9" name="Shape 7"/>
          <p:cNvSpPr/>
          <p:nvPr/>
        </p:nvSpPr>
        <p:spPr>
          <a:xfrm>
            <a:off x="6233008" y="1600200"/>
            <a:ext cx="5410048" cy="1691640"/>
          </a:xfrm>
          <a:prstGeom prst="rect">
            <a:avLst/>
          </a:prstGeom>
          <a:solidFill>
            <a:srgbClr val="F6E3E3"/>
          </a:solidFill>
          <a:ln/>
        </p:spPr>
      </p:sp>
      <p:sp>
        <p:nvSpPr>
          <p:cNvPr id="10" name="Shape 8"/>
          <p:cNvSpPr/>
          <p:nvPr/>
        </p:nvSpPr>
        <p:spPr>
          <a:xfrm>
            <a:off x="6461608" y="1828800"/>
            <a:ext cx="420624" cy="420624"/>
          </a:xfrm>
          <a:prstGeom prst="ellipse">
            <a:avLst/>
          </a:prstGeom>
          <a:solidFill>
            <a:srgbClr val="990000"/>
          </a:solidFill>
          <a:ln/>
        </p:spPr>
      </p:sp>
      <p:sp>
        <p:nvSpPr>
          <p:cNvPr id="11" name="Text 9"/>
          <p:cNvSpPr txBox="1"/>
          <p:nvPr/>
        </p:nvSpPr>
        <p:spPr>
          <a:xfrm>
            <a:off x="6461608" y="18288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055968" y="1828800"/>
            <a:ext cx="4404208" cy="420624"/>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Disclosure is selected</a:t>
            </a:r>
            <a:endParaRPr lang="en-US" sz="1700" dirty="0"/>
          </a:p>
        </p:txBody>
      </p:sp>
      <p:sp>
        <p:nvSpPr>
          <p:cNvPr id="13" name="Text 11"/>
          <p:cNvSpPr txBox="1"/>
          <p:nvPr/>
        </p:nvSpPr>
        <p:spPr>
          <a:xfrm>
            <a:off x="7055968" y="2350008"/>
            <a:ext cx="4358488" cy="82296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Where no law applies only 48% of postings state pay, so pay coefficients are conditional on disclosure. Disclosure is modelled as its own outcome.</a:t>
            </a:r>
            <a:endParaRPr lang="en-US" sz="1300" dirty="0"/>
          </a:p>
        </p:txBody>
      </p:sp>
      <p:sp>
        <p:nvSpPr>
          <p:cNvPr id="14" name="Shape 12"/>
          <p:cNvSpPr/>
          <p:nvPr/>
        </p:nvSpPr>
        <p:spPr>
          <a:xfrm>
            <a:off x="548640" y="3566160"/>
            <a:ext cx="5410048" cy="1691640"/>
          </a:xfrm>
          <a:prstGeom prst="rect">
            <a:avLst/>
          </a:prstGeom>
          <a:solidFill>
            <a:srgbClr val="EDEBEB"/>
          </a:solidFill>
          <a:ln/>
        </p:spPr>
      </p:sp>
      <p:sp>
        <p:nvSpPr>
          <p:cNvPr id="15" name="Shape 13"/>
          <p:cNvSpPr/>
          <p:nvPr/>
        </p:nvSpPr>
        <p:spPr>
          <a:xfrm>
            <a:off x="777240" y="3794760"/>
            <a:ext cx="420624" cy="420624"/>
          </a:xfrm>
          <a:prstGeom prst="ellipse">
            <a:avLst/>
          </a:prstGeom>
          <a:solidFill>
            <a:srgbClr val="990000"/>
          </a:solidFill>
          <a:ln/>
        </p:spPr>
      </p:sp>
      <p:sp>
        <p:nvSpPr>
          <p:cNvPr id="16" name="Text 14"/>
          <p:cNvSpPr txBox="1"/>
          <p:nvPr/>
        </p:nvSpPr>
        <p:spPr>
          <a:xfrm>
            <a:off x="777240" y="37947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371600" y="3794760"/>
            <a:ext cx="4404208" cy="420624"/>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Associational, not causal</a:t>
            </a:r>
            <a:endParaRPr lang="en-US" sz="1700" dirty="0"/>
          </a:p>
        </p:txBody>
      </p:sp>
      <p:sp>
        <p:nvSpPr>
          <p:cNvPr id="18" name="Text 16"/>
          <p:cNvSpPr txBox="1"/>
          <p:nvPr/>
        </p:nvSpPr>
        <p:spPr>
          <a:xfrm>
            <a:off x="1371600" y="4315968"/>
            <a:ext cx="4358488" cy="82296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One cross-section with no time variation: no difference-in-differences. Employers in mandate states differ in other ways.</a:t>
            </a:r>
            <a:endParaRPr lang="en-US" sz="1300" dirty="0"/>
          </a:p>
        </p:txBody>
      </p:sp>
      <p:sp>
        <p:nvSpPr>
          <p:cNvPr id="19" name="Shape 17"/>
          <p:cNvSpPr/>
          <p:nvPr/>
        </p:nvSpPr>
        <p:spPr>
          <a:xfrm>
            <a:off x="6233008" y="3566160"/>
            <a:ext cx="5410048" cy="1691640"/>
          </a:xfrm>
          <a:prstGeom prst="rect">
            <a:avLst/>
          </a:prstGeom>
          <a:solidFill>
            <a:srgbClr val="EDEBEB"/>
          </a:solidFill>
          <a:ln/>
        </p:spPr>
      </p:sp>
      <p:sp>
        <p:nvSpPr>
          <p:cNvPr id="20" name="Shape 18"/>
          <p:cNvSpPr/>
          <p:nvPr/>
        </p:nvSpPr>
        <p:spPr>
          <a:xfrm>
            <a:off x="6461608" y="3794760"/>
            <a:ext cx="420624" cy="420624"/>
          </a:xfrm>
          <a:prstGeom prst="ellipse">
            <a:avLst/>
          </a:prstGeom>
          <a:solidFill>
            <a:srgbClr val="990000"/>
          </a:solidFill>
          <a:ln/>
        </p:spPr>
      </p:sp>
      <p:sp>
        <p:nvSpPr>
          <p:cNvPr id="21" name="Text 19"/>
          <p:cNvSpPr txBox="1"/>
          <p:nvPr/>
        </p:nvSpPr>
        <p:spPr>
          <a:xfrm>
            <a:off x="6461608" y="37947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055968" y="3794760"/>
            <a:ext cx="4404208" cy="420624"/>
          </a:xfrm>
          <a:prstGeom prst="rect">
            <a:avLst/>
          </a:prstGeom>
          <a:noFill/>
          <a:ln/>
        </p:spPr>
        <p:txBody>
          <a:bodyPr wrap="square" lIns="0" tIns="0" rIns="0" bIns="0" rtlCol="0" anchor="ctr"/>
          <a:lstStyle/>
          <a:p>
            <a:pPr indent="0" marL="0">
              <a:buNone/>
            </a:pPr>
            <a:r>
              <a:rPr lang="en-US" sz="1700" b="1" dirty="0">
                <a:solidFill>
                  <a:srgbClr val="243142"/>
                </a:solidFill>
                <a:latin typeface="Arial" pitchFamily="34" charset="0"/>
                <a:ea typeface="Arial" pitchFamily="34" charset="-122"/>
                <a:cs typeface="Arial" pitchFamily="34" charset="-120"/>
              </a:rPr>
              <a:t>Few, uneven clusters</a:t>
            </a:r>
            <a:endParaRPr lang="en-US" sz="1700" dirty="0"/>
          </a:p>
        </p:txBody>
      </p:sp>
      <p:sp>
        <p:nvSpPr>
          <p:cNvPr id="23" name="Text 21"/>
          <p:cNvSpPr txBox="1"/>
          <p:nvPr/>
        </p:nvSpPr>
        <p:spPr>
          <a:xfrm>
            <a:off x="7055968" y="4315968"/>
            <a:ext cx="4358488" cy="82296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100 employers, the largest 9.0% of rows. Every p-value comes from the wild cluster bootstrap; Crusoe is also dropped as a check.</a:t>
            </a:r>
            <a:endParaRPr lang="en-US" sz="1300" dirty="0"/>
          </a:p>
        </p:txBody>
      </p:sp>
      <p:sp>
        <p:nvSpPr>
          <p:cNvPr id="24" name="Text 22"/>
          <p:cNvSpPr txBox="1"/>
          <p:nvPr/>
        </p:nvSpPr>
        <p:spPr>
          <a:xfrm>
            <a:off x="548640" y="571500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Also: pay is nominal in the headline model (a price-adjusted re-estimate, N = 498, is in the robustness table); scope widened in response to the data, with every change dated in the pre-registration; four Chicago-area employers on iCIMS are absent.</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CONCLUSION</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Conclusion</a:t>
            </a:r>
            <a:endParaRPr lang="en-US" sz="2600" dirty="0"/>
          </a:p>
        </p:txBody>
      </p:sp>
      <p:sp>
        <p:nvSpPr>
          <p:cNvPr id="4" name="Shape 2"/>
          <p:cNvSpPr/>
          <p:nvPr/>
        </p:nvSpPr>
        <p:spPr>
          <a:xfrm>
            <a:off x="548640" y="1600200"/>
            <a:ext cx="3515258" cy="2697480"/>
          </a:xfrm>
          <a:prstGeom prst="rect">
            <a:avLst/>
          </a:prstGeom>
          <a:solidFill>
            <a:srgbClr val="F6E3E3"/>
          </a:solidFill>
          <a:ln/>
        </p:spPr>
      </p:sp>
      <p:sp>
        <p:nvSpPr>
          <p:cNvPr id="5" name="Text 3"/>
          <p:cNvSpPr txBox="1"/>
          <p:nvPr/>
        </p:nvSpPr>
        <p:spPr>
          <a:xfrm>
            <a:off x="822960" y="1737360"/>
            <a:ext cx="2966618" cy="731520"/>
          </a:xfrm>
          <a:prstGeom prst="rect">
            <a:avLst/>
          </a:prstGeom>
          <a:noFill/>
          <a:ln/>
        </p:spPr>
        <p:txBody>
          <a:bodyPr wrap="square" lIns="0" tIns="0" rIns="0" bIns="0" rtlCol="0" anchor="ctr"/>
          <a:lstStyle/>
          <a:p>
            <a:pPr indent="0" marL="0">
              <a:buNone/>
            </a:pPr>
            <a:r>
              <a:rPr lang="en-US" sz="3200" b="1" dirty="0">
                <a:solidFill>
                  <a:srgbClr val="990000"/>
                </a:solidFill>
                <a:latin typeface="Cambria" pitchFamily="34" charset="0"/>
                <a:ea typeface="Cambria" pitchFamily="34" charset="-122"/>
                <a:cs typeface="Cambria" pitchFamily="34" charset="-120"/>
              </a:rPr>
              <a:t>91% vs. 48%</a:t>
            </a:r>
            <a:endParaRPr lang="en-US" sz="3200" dirty="0"/>
          </a:p>
        </p:txBody>
      </p:sp>
      <p:sp>
        <p:nvSpPr>
          <p:cNvPr id="6" name="Text 4"/>
          <p:cNvSpPr txBox="1"/>
          <p:nvPr/>
        </p:nvSpPr>
        <p:spPr>
          <a:xfrm>
            <a:off x="822960" y="2514600"/>
            <a:ext cx="2966618" cy="548640"/>
          </a:xfrm>
          <a:prstGeom prst="rect">
            <a:avLst/>
          </a:prstGeom>
          <a:noFill/>
          <a:ln/>
        </p:spPr>
        <p:txBody>
          <a:bodyPr wrap="square" lIns="0" tIns="0" rIns="0" bIns="0" rtlCol="0" anchor="t"/>
          <a:lstStyle/>
          <a:p>
            <a:pPr indent="0" marL="0">
              <a:buNone/>
            </a:pPr>
            <a:r>
              <a:rPr lang="en-US" sz="1600" b="1" dirty="0">
                <a:solidFill>
                  <a:srgbClr val="243142"/>
                </a:solidFill>
                <a:latin typeface="Arial" pitchFamily="34" charset="0"/>
                <a:ea typeface="Arial" pitchFamily="34" charset="-122"/>
                <a:cs typeface="Arial" pitchFamily="34" charset="-120"/>
              </a:rPr>
              <a:t>Disclosure follows the law</a:t>
            </a:r>
            <a:endParaRPr lang="en-US" sz="1600" dirty="0"/>
          </a:p>
        </p:txBody>
      </p:sp>
      <p:sp>
        <p:nvSpPr>
          <p:cNvPr id="7" name="Text 5"/>
          <p:cNvSpPr txBox="1"/>
          <p:nvPr/>
        </p:nvSpPr>
        <p:spPr>
          <a:xfrm>
            <a:off x="822960" y="3063240"/>
            <a:ext cx="2966618" cy="118872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Where a law requires it, 91.3% of postings state pay; elsewhere 47.5%. Stable at 43–45 points across every cut. Associational.</a:t>
            </a:r>
            <a:endParaRPr lang="en-US" sz="1300" dirty="0"/>
          </a:p>
        </p:txBody>
      </p:sp>
      <p:sp>
        <p:nvSpPr>
          <p:cNvPr id="8" name="Shape 6"/>
          <p:cNvSpPr/>
          <p:nvPr/>
        </p:nvSpPr>
        <p:spPr>
          <a:xfrm>
            <a:off x="4338218" y="1600200"/>
            <a:ext cx="3515258" cy="2697480"/>
          </a:xfrm>
          <a:prstGeom prst="rect">
            <a:avLst/>
          </a:prstGeom>
          <a:solidFill>
            <a:srgbClr val="EDEBEB"/>
          </a:solidFill>
          <a:ln/>
        </p:spPr>
      </p:sp>
      <p:sp>
        <p:nvSpPr>
          <p:cNvPr id="9" name="Text 7"/>
          <p:cNvSpPr txBox="1"/>
          <p:nvPr/>
        </p:nvSpPr>
        <p:spPr>
          <a:xfrm>
            <a:off x="4612538" y="1737360"/>
            <a:ext cx="2966618" cy="731520"/>
          </a:xfrm>
          <a:prstGeom prst="rect">
            <a:avLst/>
          </a:prstGeom>
          <a:noFill/>
          <a:ln/>
        </p:spPr>
        <p:txBody>
          <a:bodyPr wrap="square" lIns="0" tIns="0" rIns="0" bIns="0" rtlCol="0" anchor="ctr"/>
          <a:lstStyle/>
          <a:p>
            <a:pPr indent="0" marL="0">
              <a:buNone/>
            </a:pPr>
            <a:r>
              <a:rPr lang="en-US" sz="3200" b="1" dirty="0">
                <a:solidFill>
                  <a:srgbClr val="990000"/>
                </a:solidFill>
                <a:latin typeface="Cambria" pitchFamily="34" charset="0"/>
                <a:ea typeface="Cambria" pitchFamily="34" charset="-122"/>
                <a:cs typeface="Cambria" pitchFamily="34" charset="-120"/>
              </a:rPr>
              <a:t>+11.2%</a:t>
            </a:r>
            <a:endParaRPr lang="en-US" sz="3200" dirty="0"/>
          </a:p>
        </p:txBody>
      </p:sp>
      <p:sp>
        <p:nvSpPr>
          <p:cNvPr id="10" name="Text 8"/>
          <p:cNvSpPr txBox="1"/>
          <p:nvPr/>
        </p:nvSpPr>
        <p:spPr>
          <a:xfrm>
            <a:off x="4612538" y="2514600"/>
            <a:ext cx="2966618" cy="548640"/>
          </a:xfrm>
          <a:prstGeom prst="rect">
            <a:avLst/>
          </a:prstGeom>
          <a:noFill/>
          <a:ln/>
        </p:spPr>
        <p:txBody>
          <a:bodyPr wrap="square" lIns="0" tIns="0" rIns="0" bIns="0" rtlCol="0" anchor="t"/>
          <a:lstStyle/>
          <a:p>
            <a:pPr indent="0" marL="0">
              <a:buNone/>
            </a:pPr>
            <a:r>
              <a:rPr lang="en-US" sz="1600" b="1" dirty="0">
                <a:solidFill>
                  <a:srgbClr val="243142"/>
                </a:solidFill>
                <a:latin typeface="Arial" pitchFamily="34" charset="0"/>
                <a:ea typeface="Arial" pitchFamily="34" charset="-122"/>
                <a:cs typeface="Arial" pitchFamily="34" charset="-120"/>
              </a:rPr>
              <a:t>Seniority and experience set the level</a:t>
            </a:r>
            <a:endParaRPr lang="en-US" sz="1600" dirty="0"/>
          </a:p>
        </p:txBody>
      </p:sp>
      <p:sp>
        <p:nvSpPr>
          <p:cNvPr id="11" name="Text 9"/>
          <p:cNvSpPr txBox="1"/>
          <p:nvPr/>
        </p:nvSpPr>
        <p:spPr>
          <a:xfrm>
            <a:off x="4612538" y="3063240"/>
            <a:ext cx="2966618" cy="118872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Per seniority step, and +2.5% per year of required experience, as pre-registered. A cloud skill adds +12.5% (exploratory).</a:t>
            </a:r>
            <a:endParaRPr lang="en-US" sz="1300" dirty="0"/>
          </a:p>
        </p:txBody>
      </p:sp>
      <p:sp>
        <p:nvSpPr>
          <p:cNvPr id="12" name="Shape 10"/>
          <p:cNvSpPr/>
          <p:nvPr/>
        </p:nvSpPr>
        <p:spPr>
          <a:xfrm>
            <a:off x="8127797" y="1600200"/>
            <a:ext cx="3515258" cy="2697480"/>
          </a:xfrm>
          <a:prstGeom prst="rect">
            <a:avLst/>
          </a:prstGeom>
          <a:solidFill>
            <a:srgbClr val="EDEBEB"/>
          </a:solidFill>
          <a:ln/>
        </p:spPr>
      </p:sp>
      <p:sp>
        <p:nvSpPr>
          <p:cNvPr id="13" name="Text 11"/>
          <p:cNvSpPr txBox="1"/>
          <p:nvPr/>
        </p:nvSpPr>
        <p:spPr>
          <a:xfrm>
            <a:off x="8402117" y="1737360"/>
            <a:ext cx="2966618" cy="731520"/>
          </a:xfrm>
          <a:prstGeom prst="rect">
            <a:avLst/>
          </a:prstGeom>
          <a:noFill/>
          <a:ln/>
        </p:spPr>
        <p:txBody>
          <a:bodyPr wrap="square" lIns="0" tIns="0" rIns="0" bIns="0" rtlCol="0" anchor="ctr"/>
          <a:lstStyle/>
          <a:p>
            <a:pPr indent="0" marL="0">
              <a:buNone/>
            </a:pPr>
            <a:r>
              <a:rPr lang="en-US" sz="3200" b="1" dirty="0">
                <a:solidFill>
                  <a:srgbClr val="990000"/>
                </a:solidFill>
                <a:latin typeface="Cambria" pitchFamily="34" charset="0"/>
                <a:ea typeface="Cambria" pitchFamily="34" charset="-122"/>
                <a:cs typeface="Cambria" pitchFamily="34" charset="-120"/>
              </a:rPr>
              <a:t>Did not hold</a:t>
            </a:r>
            <a:endParaRPr lang="en-US" sz="3200" dirty="0"/>
          </a:p>
        </p:txBody>
      </p:sp>
      <p:sp>
        <p:nvSpPr>
          <p:cNvPr id="14" name="Text 12"/>
          <p:cNvSpPr txBox="1"/>
          <p:nvPr/>
        </p:nvSpPr>
        <p:spPr>
          <a:xfrm>
            <a:off x="8402117" y="2514600"/>
            <a:ext cx="2966618" cy="548640"/>
          </a:xfrm>
          <a:prstGeom prst="rect">
            <a:avLst/>
          </a:prstGeom>
          <a:noFill/>
          <a:ln/>
        </p:spPr>
        <p:txBody>
          <a:bodyPr wrap="square" lIns="0" tIns="0" rIns="0" bIns="0" rtlCol="0" anchor="t"/>
          <a:lstStyle/>
          <a:p>
            <a:pPr indent="0" marL="0">
              <a:buNone/>
            </a:pPr>
            <a:r>
              <a:rPr lang="en-US" sz="1600" b="1" dirty="0">
                <a:solidFill>
                  <a:srgbClr val="243142"/>
                </a:solidFill>
                <a:latin typeface="Arial" pitchFamily="34" charset="0"/>
                <a:ea typeface="Arial" pitchFamily="34" charset="-122"/>
                <a:cs typeface="Arial" pitchFamily="34" charset="-120"/>
              </a:rPr>
              <a:t>Several expected premiums</a:t>
            </a:r>
            <a:endParaRPr lang="en-US" sz="1600" dirty="0"/>
          </a:p>
        </p:txBody>
      </p:sp>
      <p:sp>
        <p:nvSpPr>
          <p:cNvPr id="15" name="Text 13"/>
          <p:cNvSpPr txBox="1"/>
          <p:nvPr/>
        </p:nvSpPr>
        <p:spPr>
          <a:xfrm>
            <a:off x="8402117" y="3063240"/>
            <a:ext cx="2966618" cy="1188720"/>
          </a:xfrm>
          <a:prstGeom prst="rect">
            <a:avLst/>
          </a:prstGeom>
          <a:noFill/>
          <a:ln/>
        </p:spPr>
        <p:txBody>
          <a:bodyPr wrap="square" lIns="0" tIns="0" rIns="0" bIns="0" rtlCol="0" anchor="t"/>
          <a:lstStyle/>
          <a:p>
            <a:pPr indent="0" marL="0">
              <a:buNone/>
            </a:pPr>
            <a:r>
              <a:rPr lang="en-US" sz="1300" dirty="0">
                <a:solidFill>
                  <a:srgbClr val="243142"/>
                </a:solidFill>
                <a:latin typeface="Arial" pitchFamily="34" charset="0"/>
                <a:ea typeface="Arial" pitchFamily="34" charset="-122"/>
                <a:cs typeface="Arial" pitchFamily="34" charset="-120"/>
              </a:rPr>
              <a:t>ML/AI skill, AI/ML role family: overturned by the bootstrap. Degree requirement: wrong sign. West, Northeast: nominal pay only.</a:t>
            </a:r>
            <a:endParaRPr lang="en-US" sz="1300" dirty="0"/>
          </a:p>
        </p:txBody>
      </p:sp>
      <p:sp>
        <p:nvSpPr>
          <p:cNvPr id="16" name="Text 14"/>
          <p:cNvSpPr txBox="1"/>
          <p:nvPr/>
        </p:nvSpPr>
        <p:spPr>
          <a:xfrm>
            <a:off x="548640" y="4480560"/>
            <a:ext cx="11094415" cy="685800"/>
          </a:xfrm>
          <a:prstGeom prst="rect">
            <a:avLst/>
          </a:prstGeom>
          <a:noFill/>
          <a:ln/>
        </p:spPr>
        <p:txBody>
          <a:bodyPr wrap="square" lIns="0" tIns="0" rIns="0" bIns="0" rtlCol="0" anchor="ctr"/>
          <a:lstStyle/>
          <a:p>
            <a:pPr indent="0" marL="0">
              <a:buNone/>
            </a:pPr>
            <a:r>
              <a:rPr lang="en-US" sz="1800" i="1" dirty="0">
                <a:solidFill>
                  <a:srgbClr val="243142"/>
                </a:solidFill>
                <a:latin typeface="Cambria" pitchFamily="34" charset="0"/>
                <a:ea typeface="Cambria" pitchFamily="34" charset="-122"/>
                <a:cs typeface="Cambria" pitchFamily="34" charset="-120"/>
              </a:rPr>
              <a:t>Across 543 postings from 100 employers, the sharpest regularity is not how much pay is advertised, but whether it is named at all.</a:t>
            </a:r>
            <a:endParaRPr lang="en-US" sz="1800" dirty="0"/>
          </a:p>
        </p:txBody>
      </p:sp>
      <p:sp>
        <p:nvSpPr>
          <p:cNvPr id="17" name="Shape 15"/>
          <p:cNvSpPr/>
          <p:nvPr/>
        </p:nvSpPr>
        <p:spPr>
          <a:xfrm>
            <a:off x="548640" y="5349240"/>
            <a:ext cx="11094415" cy="548640"/>
          </a:xfrm>
          <a:prstGeom prst="rect">
            <a:avLst/>
          </a:prstGeom>
          <a:solidFill>
            <a:srgbClr val="F4F4F5"/>
          </a:solidFill>
          <a:ln/>
        </p:spPr>
      </p:sp>
      <p:sp>
        <p:nvSpPr>
          <p:cNvPr id="18" name="Text 16"/>
          <p:cNvSpPr txBox="1"/>
          <p:nvPr/>
        </p:nvSpPr>
        <p:spPr>
          <a:xfrm>
            <a:off x="731520" y="5349240"/>
            <a:ext cx="10728655" cy="548640"/>
          </a:xfrm>
          <a:prstGeom prst="rect">
            <a:avLst/>
          </a:prstGeom>
          <a:noFill/>
          <a:ln/>
        </p:spPr>
        <p:txBody>
          <a:bodyPr wrap="square" lIns="0" tIns="0" rIns="0" bIns="0" rtlCol="0" anchor="ctr"/>
          <a:lstStyle/>
          <a:p>
            <a:pPr indent="0" marL="0">
              <a:buNone/>
            </a:pPr>
            <a:r>
              <a:rPr lang="en-US" sz="1100" b="1" dirty="0">
                <a:solidFill>
                  <a:srgbClr val="243142"/>
                </a:solidFill>
                <a:latin typeface="Arial" pitchFamily="34" charset="0"/>
                <a:ea typeface="Arial" pitchFamily="34" charset="-122"/>
                <a:cs typeface="Arial" pitchFamily="34" charset="-120"/>
              </a:rPr>
              <a:t>AI disclosure: </a:t>
            </a:r>
            <a:pPr indent="0" marL="0">
              <a:buNone/>
            </a:pPr>
            <a:r>
              <a:rPr lang="en-US" sz="1100" dirty="0">
                <a:solidFill>
                  <a:srgbClr val="243142"/>
                </a:solidFill>
                <a:latin typeface="Arial" pitchFamily="34" charset="0"/>
                <a:ea typeface="Arial" pitchFamily="34" charset="-122"/>
                <a:cs typeface="Arial" pitchFamily="34" charset="-120"/>
              </a:rPr>
              <a:t>the collection and analysis code and this deck were produced with Claude Code, Anthropic's AI coding assistant. Study design, decisions and interpretation are the author's.</a:t>
            </a:r>
            <a:endParaRPr lang="en-US" sz="11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286000"/>
            <a:ext cx="11094415" cy="320040"/>
          </a:xfrm>
          <a:prstGeom prst="rect">
            <a:avLst/>
          </a:prstGeom>
          <a:noFill/>
          <a:ln/>
        </p:spPr>
        <p:txBody>
          <a:bodyPr wrap="square" lIns="0" tIns="0" rIns="0" bIns="0" rtlCol="0" anchor="t"/>
          <a:lstStyle/>
          <a:p>
            <a:pPr indent="0" marL="0">
              <a:buNone/>
            </a:pPr>
            <a:r>
              <a:rPr lang="en-US" sz="1300" b="1" spc="300" kern="0" dirty="0">
                <a:solidFill>
                  <a:srgbClr val="EDEBEB"/>
                </a:solidFill>
                <a:latin typeface="Arial" pitchFamily="34" charset="0"/>
                <a:ea typeface="Arial" pitchFamily="34" charset="-122"/>
                <a:cs typeface="Arial" pitchFamily="34" charset="-120"/>
              </a:rPr>
              <a:t>APPENDIX</a:t>
            </a:r>
            <a:endParaRPr lang="en-US" sz="1300" dirty="0"/>
          </a:p>
        </p:txBody>
      </p:sp>
      <p:sp>
        <p:nvSpPr>
          <p:cNvPr id="3" name="Text 1"/>
          <p:cNvSpPr txBox="1"/>
          <p:nvPr/>
        </p:nvSpPr>
        <p:spPr>
          <a:xfrm>
            <a:off x="548640" y="2651760"/>
            <a:ext cx="11094415"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Appendix</a:t>
            </a:r>
            <a:endParaRPr lang="en-US" sz="4000" dirty="0"/>
          </a:p>
        </p:txBody>
      </p:sp>
      <p:sp>
        <p:nvSpPr>
          <p:cNvPr id="4" name="Text 2"/>
          <p:cNvSpPr txBox="1"/>
          <p:nvPr/>
        </p:nvSpPr>
        <p:spPr>
          <a:xfrm>
            <a:off x="548640" y="3611880"/>
            <a:ext cx="8686800" cy="914400"/>
          </a:xfrm>
          <a:prstGeom prst="rect">
            <a:avLst/>
          </a:prstGeom>
          <a:noFill/>
          <a:ln/>
        </p:spPr>
        <p:txBody>
          <a:bodyPr wrap="square" lIns="0" tIns="0" rIns="0" bIns="0" rtlCol="0" anchor="t"/>
          <a:lstStyle/>
          <a:p>
            <a:pPr indent="0" marL="0">
              <a:buNone/>
            </a:pPr>
            <a:r>
              <a:rPr lang="en-US" sz="1600" dirty="0">
                <a:solidFill>
                  <a:srgbClr val="EDEBEB"/>
                </a:solidFill>
                <a:latin typeface="Arial" pitchFamily="34" charset="0"/>
                <a:ea typeface="Arial" pitchFamily="34" charset="-122"/>
                <a:cs typeface="Arial" pitchFamily="34" charset="-120"/>
              </a:rPr>
              <a:t>Full model tables, definitions, data quality and the employer list.</a:t>
            </a:r>
            <a:endParaRPr lang="en-US" sz="16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EDEBE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A1</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Core model (pre-specified): log advertised pay</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412480" cy="914400"/>
        </p:xfrm>
        <a:graphic>
          <a:graphicData uri="http://schemas.openxmlformats.org/drawingml/2006/table">
            <a:tbl>
              <a:tblPr/>
              <a:tblGrid>
                <a:gridCol w="2926080"/>
                <a:gridCol w="1005840"/>
                <a:gridCol w="1005840"/>
                <a:gridCol w="1143000"/>
                <a:gridCol w="1143000"/>
                <a:gridCol w="1188720"/>
              </a:tblGrid>
              <a:tr h="24688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Attribute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Coef.</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Std. err.</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Clustered p</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Bootstrap p</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 effect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Seniority (per step)</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0.1059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0.0079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+11.2%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Required experience (per year)</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0.0252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0.0043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States an experience minimum</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−0.0727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0.0313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0.020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0.023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−7.0%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Requires a degree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−0.0517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0.0270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0.055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0.074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STEM degree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0.0496</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0.0230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0.031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0.043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+5.1%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Cloud skill (AWS, Azure, GCP)</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0.1181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0.0328</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+12.5%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ML/AI skill</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0.0931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0.0437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0.033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0.074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+9.8%</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Remote-eligible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0.0100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0.0344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0.772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0.787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Advertised hourly</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−0.0252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0.0407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0.535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0.644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Pay-transparency mandate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0.0106</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0.0307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0.730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0.744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Northeast (vs. Midwest)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0.0851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0.0307</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0.005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0.019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+8.9%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South (vs. Midwest)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0.0792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0.0426</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0.063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0.154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+8.2%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b="1" dirty="0">
                          <a:solidFill>
                            <a:srgbClr val="6B0000"/>
                          </a:solidFill>
                          <a:latin typeface="Arial" pitchFamily="34" charset="0"/>
                          <a:ea typeface="Arial" pitchFamily="34" charset="-122"/>
                          <a:cs typeface="Arial" pitchFamily="34" charset="-120"/>
                        </a:rPr>
                        <a:t>West (vs. Midwest)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0.1269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0.0391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0.011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+13.5%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Data-center operator</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0.0983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0.0700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0.160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0.584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+10.3%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AI/ML role family</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0.0765</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0.0386</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0.048</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0.083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+8.0%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5" name="Shape 2"/>
          <p:cNvSpPr/>
          <p:nvPr/>
        </p:nvSpPr>
        <p:spPr>
          <a:xfrm>
            <a:off x="9235440" y="1508760"/>
            <a:ext cx="2407615" cy="868680"/>
          </a:xfrm>
          <a:prstGeom prst="rect">
            <a:avLst/>
          </a:prstGeom>
          <a:solidFill>
            <a:srgbClr val="EDEBEB"/>
          </a:solidFill>
          <a:ln/>
        </p:spPr>
      </p:sp>
      <p:sp>
        <p:nvSpPr>
          <p:cNvPr id="6" name="Text 3"/>
          <p:cNvSpPr txBox="1"/>
          <p:nvPr/>
        </p:nvSpPr>
        <p:spPr>
          <a:xfrm>
            <a:off x="9372600" y="1508760"/>
            <a:ext cx="2133295" cy="502920"/>
          </a:xfrm>
          <a:prstGeom prst="rect">
            <a:avLst/>
          </a:prstGeom>
          <a:noFill/>
          <a:ln/>
        </p:spPr>
        <p:txBody>
          <a:bodyPr wrap="square" lIns="0" tIns="0" rIns="0" bIns="0" rtlCol="0" anchor="b"/>
          <a:lstStyle/>
          <a:p>
            <a:pPr indent="0" marL="0">
              <a:buNone/>
            </a:pPr>
            <a:r>
              <a:rPr lang="en-US" sz="2400" b="1" dirty="0">
                <a:solidFill>
                  <a:srgbClr val="990000"/>
                </a:solidFill>
                <a:latin typeface="Cambria" pitchFamily="34" charset="0"/>
                <a:ea typeface="Cambria" pitchFamily="34" charset="-122"/>
                <a:cs typeface="Cambria" pitchFamily="34" charset="-120"/>
              </a:rPr>
              <a:t>543</a:t>
            </a:r>
            <a:endParaRPr lang="en-US" sz="2400" dirty="0"/>
          </a:p>
        </p:txBody>
      </p:sp>
      <p:sp>
        <p:nvSpPr>
          <p:cNvPr id="7" name="Text 4"/>
          <p:cNvSpPr txBox="1"/>
          <p:nvPr/>
        </p:nvSpPr>
        <p:spPr>
          <a:xfrm>
            <a:off x="9372600" y="1993392"/>
            <a:ext cx="2133295" cy="365760"/>
          </a:xfrm>
          <a:prstGeom prst="rect">
            <a:avLst/>
          </a:prstGeom>
          <a:noFill/>
          <a:ln/>
        </p:spPr>
        <p:txBody>
          <a:bodyPr wrap="square" lIns="0" tIns="0" rIns="0" bIns="0" rtlCol="0" anchor="t"/>
          <a:lstStyle/>
          <a:p>
            <a:pPr indent="0" marL="0">
              <a:buNone/>
            </a:pPr>
            <a:r>
              <a:rPr lang="en-US" sz="1000" dirty="0">
                <a:solidFill>
                  <a:srgbClr val="5E6A78"/>
                </a:solidFill>
                <a:latin typeface="Arial" pitchFamily="34" charset="0"/>
                <a:ea typeface="Arial" pitchFamily="34" charset="-122"/>
                <a:cs typeface="Arial" pitchFamily="34" charset="-120"/>
              </a:rPr>
              <a:t>observations</a:t>
            </a:r>
            <a:endParaRPr lang="en-US" sz="1000" dirty="0"/>
          </a:p>
        </p:txBody>
      </p:sp>
      <p:sp>
        <p:nvSpPr>
          <p:cNvPr id="8" name="Shape 5"/>
          <p:cNvSpPr/>
          <p:nvPr/>
        </p:nvSpPr>
        <p:spPr>
          <a:xfrm>
            <a:off x="9235440" y="2514600"/>
            <a:ext cx="2407615" cy="868680"/>
          </a:xfrm>
          <a:prstGeom prst="rect">
            <a:avLst/>
          </a:prstGeom>
          <a:solidFill>
            <a:srgbClr val="EDEBEB"/>
          </a:solidFill>
          <a:ln/>
        </p:spPr>
      </p:sp>
      <p:sp>
        <p:nvSpPr>
          <p:cNvPr id="9" name="Text 6"/>
          <p:cNvSpPr txBox="1"/>
          <p:nvPr/>
        </p:nvSpPr>
        <p:spPr>
          <a:xfrm>
            <a:off x="9372600" y="2514600"/>
            <a:ext cx="2133295" cy="502920"/>
          </a:xfrm>
          <a:prstGeom prst="rect">
            <a:avLst/>
          </a:prstGeom>
          <a:noFill/>
          <a:ln/>
        </p:spPr>
        <p:txBody>
          <a:bodyPr wrap="square" lIns="0" tIns="0" rIns="0" bIns="0" rtlCol="0" anchor="b"/>
          <a:lstStyle/>
          <a:p>
            <a:pPr indent="0" marL="0">
              <a:buNone/>
            </a:pPr>
            <a:r>
              <a:rPr lang="en-US" sz="2400" b="1" dirty="0">
                <a:solidFill>
                  <a:srgbClr val="990000"/>
                </a:solidFill>
                <a:latin typeface="Cambria" pitchFamily="34" charset="0"/>
                <a:ea typeface="Cambria" pitchFamily="34" charset="-122"/>
                <a:cs typeface="Cambria" pitchFamily="34" charset="-120"/>
              </a:rPr>
              <a:t>100</a:t>
            </a:r>
            <a:endParaRPr lang="en-US" sz="2400" dirty="0"/>
          </a:p>
        </p:txBody>
      </p:sp>
      <p:sp>
        <p:nvSpPr>
          <p:cNvPr id="10" name="Text 7"/>
          <p:cNvSpPr txBox="1"/>
          <p:nvPr/>
        </p:nvSpPr>
        <p:spPr>
          <a:xfrm>
            <a:off x="9372600" y="2999232"/>
            <a:ext cx="2133295" cy="365760"/>
          </a:xfrm>
          <a:prstGeom prst="rect">
            <a:avLst/>
          </a:prstGeom>
          <a:noFill/>
          <a:ln/>
        </p:spPr>
        <p:txBody>
          <a:bodyPr wrap="square" lIns="0" tIns="0" rIns="0" bIns="0" rtlCol="0" anchor="t"/>
          <a:lstStyle/>
          <a:p>
            <a:pPr indent="0" marL="0">
              <a:buNone/>
            </a:pPr>
            <a:r>
              <a:rPr lang="en-US" sz="1000" dirty="0">
                <a:solidFill>
                  <a:srgbClr val="5E6A78"/>
                </a:solidFill>
                <a:latin typeface="Arial" pitchFamily="34" charset="0"/>
                <a:ea typeface="Arial" pitchFamily="34" charset="-122"/>
                <a:cs typeface="Arial" pitchFamily="34" charset="-120"/>
              </a:rPr>
              <a:t>employer clusters</a:t>
            </a:r>
            <a:endParaRPr lang="en-US" sz="1000" dirty="0"/>
          </a:p>
        </p:txBody>
      </p:sp>
      <p:sp>
        <p:nvSpPr>
          <p:cNvPr id="11" name="Shape 8"/>
          <p:cNvSpPr/>
          <p:nvPr/>
        </p:nvSpPr>
        <p:spPr>
          <a:xfrm>
            <a:off x="9235440" y="3520440"/>
            <a:ext cx="2407615" cy="868680"/>
          </a:xfrm>
          <a:prstGeom prst="rect">
            <a:avLst/>
          </a:prstGeom>
          <a:solidFill>
            <a:srgbClr val="EDEBEB"/>
          </a:solidFill>
          <a:ln/>
        </p:spPr>
      </p:sp>
      <p:sp>
        <p:nvSpPr>
          <p:cNvPr id="12" name="Text 9"/>
          <p:cNvSpPr txBox="1"/>
          <p:nvPr/>
        </p:nvSpPr>
        <p:spPr>
          <a:xfrm>
            <a:off x="9372600" y="3520440"/>
            <a:ext cx="2133295" cy="502920"/>
          </a:xfrm>
          <a:prstGeom prst="rect">
            <a:avLst/>
          </a:prstGeom>
          <a:noFill/>
          <a:ln/>
        </p:spPr>
        <p:txBody>
          <a:bodyPr wrap="square" lIns="0" tIns="0" rIns="0" bIns="0" rtlCol="0" anchor="b"/>
          <a:lstStyle/>
          <a:p>
            <a:pPr indent="0" marL="0">
              <a:buNone/>
            </a:pPr>
            <a:r>
              <a:rPr lang="en-US" sz="2400" b="1" dirty="0">
                <a:solidFill>
                  <a:srgbClr val="990000"/>
                </a:solidFill>
                <a:latin typeface="Cambria" pitchFamily="34" charset="0"/>
                <a:ea typeface="Cambria" pitchFamily="34" charset="-122"/>
                <a:cs typeface="Cambria" pitchFamily="34" charset="-120"/>
              </a:rPr>
              <a:t>0.589</a:t>
            </a:r>
            <a:endParaRPr lang="en-US" sz="2400" dirty="0"/>
          </a:p>
        </p:txBody>
      </p:sp>
      <p:sp>
        <p:nvSpPr>
          <p:cNvPr id="13" name="Text 10"/>
          <p:cNvSpPr txBox="1"/>
          <p:nvPr/>
        </p:nvSpPr>
        <p:spPr>
          <a:xfrm>
            <a:off x="9372600" y="4005072"/>
            <a:ext cx="2133295" cy="365760"/>
          </a:xfrm>
          <a:prstGeom prst="rect">
            <a:avLst/>
          </a:prstGeom>
          <a:noFill/>
          <a:ln/>
        </p:spPr>
        <p:txBody>
          <a:bodyPr wrap="square" lIns="0" tIns="0" rIns="0" bIns="0" rtlCol="0" anchor="t"/>
          <a:lstStyle/>
          <a:p>
            <a:pPr indent="0" marL="0">
              <a:buNone/>
            </a:pPr>
            <a:r>
              <a:rPr lang="en-US" sz="1000" dirty="0">
                <a:solidFill>
                  <a:srgbClr val="5E6A78"/>
                </a:solidFill>
                <a:latin typeface="Arial" pitchFamily="34" charset="0"/>
                <a:ea typeface="Arial" pitchFamily="34" charset="-122"/>
                <a:cs typeface="Arial" pitchFamily="34" charset="-120"/>
              </a:rPr>
              <a:t>R²</a:t>
            </a:r>
            <a:endParaRPr lang="en-US" sz="1000" dirty="0"/>
          </a:p>
        </p:txBody>
      </p:sp>
      <p:sp>
        <p:nvSpPr>
          <p:cNvPr id="14" name="Shape 11"/>
          <p:cNvSpPr/>
          <p:nvPr/>
        </p:nvSpPr>
        <p:spPr>
          <a:xfrm>
            <a:off x="9235440" y="4526280"/>
            <a:ext cx="2407615" cy="868680"/>
          </a:xfrm>
          <a:prstGeom prst="rect">
            <a:avLst/>
          </a:prstGeom>
          <a:solidFill>
            <a:srgbClr val="EDEBEB"/>
          </a:solidFill>
          <a:ln/>
        </p:spPr>
      </p:sp>
      <p:sp>
        <p:nvSpPr>
          <p:cNvPr id="15" name="Text 12"/>
          <p:cNvSpPr txBox="1"/>
          <p:nvPr/>
        </p:nvSpPr>
        <p:spPr>
          <a:xfrm>
            <a:off x="9372600" y="4526280"/>
            <a:ext cx="2133295" cy="502920"/>
          </a:xfrm>
          <a:prstGeom prst="rect">
            <a:avLst/>
          </a:prstGeom>
          <a:noFill/>
          <a:ln/>
        </p:spPr>
        <p:txBody>
          <a:bodyPr wrap="square" lIns="0" tIns="0" rIns="0" bIns="0" rtlCol="0" anchor="b"/>
          <a:lstStyle/>
          <a:p>
            <a:pPr indent="0" marL="0">
              <a:buNone/>
            </a:pPr>
            <a:r>
              <a:rPr lang="en-US" sz="2400" b="1" dirty="0">
                <a:solidFill>
                  <a:srgbClr val="990000"/>
                </a:solidFill>
                <a:latin typeface="Cambria" pitchFamily="34" charset="0"/>
                <a:ea typeface="Cambria" pitchFamily="34" charset="-122"/>
                <a:cs typeface="Cambria" pitchFamily="34" charset="-120"/>
              </a:rPr>
              <a:t>0.122</a:t>
            </a:r>
            <a:endParaRPr lang="en-US" sz="2400" dirty="0"/>
          </a:p>
        </p:txBody>
      </p:sp>
      <p:sp>
        <p:nvSpPr>
          <p:cNvPr id="16" name="Text 13"/>
          <p:cNvSpPr txBox="1"/>
          <p:nvPr/>
        </p:nvSpPr>
        <p:spPr>
          <a:xfrm>
            <a:off x="9372600" y="5010912"/>
            <a:ext cx="2133295" cy="365760"/>
          </a:xfrm>
          <a:prstGeom prst="rect">
            <a:avLst/>
          </a:prstGeom>
          <a:noFill/>
          <a:ln/>
        </p:spPr>
        <p:txBody>
          <a:bodyPr wrap="square" lIns="0" tIns="0" rIns="0" bIns="0" rtlCol="0" anchor="t"/>
          <a:lstStyle/>
          <a:p>
            <a:pPr indent="0" marL="0">
              <a:buNone/>
            </a:pPr>
            <a:r>
              <a:rPr lang="en-US" sz="1000" dirty="0">
                <a:solidFill>
                  <a:srgbClr val="5E6A78"/>
                </a:solidFill>
                <a:latin typeface="Arial" pitchFamily="34" charset="0"/>
                <a:ea typeface="Arial" pitchFamily="34" charset="-122"/>
                <a:cs typeface="Arial" pitchFamily="34" charset="-120"/>
              </a:rPr>
              <a:t>minimum detectable effect (log points)</a:t>
            </a:r>
            <a:endParaRPr lang="en-US" sz="1000" dirty="0"/>
          </a:p>
        </p:txBody>
      </p:sp>
      <p:sp>
        <p:nvSpPr>
          <p:cNvPr id="17" name="Text 14"/>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Crimson rows: bootstrap p &lt; 0.05. Constant 11.334. Wild cluster bootstrap: restricted, Rademacher weights, 9,999 draws, seed 20260922. Regions relative to the Midwest.</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A2</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Extended model: 27 regressors (clustered SEs, no bootstrap)</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440680" cy="914400"/>
        </p:xfrm>
        <a:graphic>
          <a:graphicData uri="http://schemas.openxmlformats.org/drawingml/2006/table">
            <a:tbl>
              <a:tblPr/>
              <a:tblGrid>
                <a:gridCol w="2148840"/>
                <a:gridCol w="777240"/>
                <a:gridCol w="777240"/>
                <a:gridCol w="868680"/>
                <a:gridCol w="868680"/>
              </a:tblGrid>
              <a:tr h="27432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Attribute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Coef.</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Std. err.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Clustered 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 effect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Seniority (per step)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0.0852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0.0083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+8.9%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Required experience (per year)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0.0222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0.0033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+2.2%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States an experience minimum</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−0.0659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0.0259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0.011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−6.4%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Requires a degree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−0.0367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0.0221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0.097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−3.6%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STEM degree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0.0683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0.0220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+7.1%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Cloud skill (AWS, Azure, GCP)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0.0937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0.0314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+9.8%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ML/AI skill</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0.0859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0.0438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0.050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+9.0%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Remote-eligible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0.0107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0.0296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0.718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+1.1%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Advertised hourly</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0.1573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0.0508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+17.0%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Pay-transparency mandate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0.0157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0.0388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0.685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+1.6%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Northeast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0.0604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0.0280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0.031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+6.2%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South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0.0854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0.0450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0.057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+8.9%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West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0.0916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0.0355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0.010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+9.6%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Data-center operator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0.0972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0.0597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0.103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+10.2%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172200" y="1508760"/>
          <a:ext cx="5440680" cy="914400"/>
        </p:xfrm>
        <a:graphic>
          <a:graphicData uri="http://schemas.openxmlformats.org/drawingml/2006/table">
            <a:tbl>
              <a:tblPr/>
              <a:tblGrid>
                <a:gridCol w="2148840"/>
                <a:gridCol w="777240"/>
                <a:gridCol w="777240"/>
                <a:gridCol w="868680"/>
                <a:gridCol w="868680"/>
              </a:tblGrid>
              <a:tr h="27432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Attribute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Coef.</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Std. err.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Clustered 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 effect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AI/ML role family</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0.0811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0.0418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0.052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+8.4%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Advanced degree preferred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0.0643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0.0227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+6.6%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Leadership named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0.0540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0.0229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0.018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Job level (numeric title)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−0.0888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0.0130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−8.5%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In a study metro</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0.0348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0.0353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0.325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+3.5%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Prior internship required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−0.1847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0.0783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0.018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−16.9%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Certification required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−0.0282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0.0354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0.426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−2.8%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Python or 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−0.0014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0.0235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0.953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SQL</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−0.0186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0.0262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0.478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−1.8%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Visualization / BI</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−0.0224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0.0233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0.336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−2.2%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Big-data tools</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−0.0456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0.0336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0.175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−4.5%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050" b="1" dirty="0">
                          <a:solidFill>
                            <a:srgbClr val="6B0000"/>
                          </a:solidFill>
                          <a:latin typeface="Arial" pitchFamily="34" charset="0"/>
                          <a:ea typeface="Arial" pitchFamily="34" charset="-122"/>
                          <a:cs typeface="Arial" pitchFamily="34" charset="-120"/>
                        </a:rPr>
                        <a:t>Teamwork named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−0.0661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0.0212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−6.4%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Communication named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−0.0262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0.0224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0.244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−2.6%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6" name="Text 2"/>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N = 543, R² = 0.669. Crimson rows: clustered p &lt; 0.05. Estimated because the sample supports it (36.2 observations per core regressor); inference in the main slides uses the core model.</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A3</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Disclosure model and the price-adjusted pay model</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212080" cy="914400"/>
        </p:xfrm>
        <a:graphic>
          <a:graphicData uri="http://schemas.openxmlformats.org/drawingml/2006/table">
            <a:tbl>
              <a:tblPr/>
              <a:tblGrid>
                <a:gridCol w="2194560"/>
                <a:gridCol w="822960"/>
                <a:gridCol w="1371600"/>
                <a:gridCol w="822960"/>
              </a:tblGrid>
              <a:tr h="27432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Disclosure (LPM)</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Coef.</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95% CI</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p</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r>
              <a:tr h="274320">
                <a:tc>
                  <a:txBody>
                    <a:bodyPr/>
                    <a:lstStyle/>
                    <a:p>
                      <a:pPr algn="l" indent="0" marL="0">
                        <a:buNone/>
                      </a:pPr>
                      <a:r>
                        <a:rPr lang="en-US" sz="1100" dirty="0">
                          <a:solidFill>
                            <a:srgbClr val="6B0000"/>
                          </a:solidFill>
                          <a:latin typeface="Arial" pitchFamily="34" charset="0"/>
                          <a:ea typeface="Arial" pitchFamily="34" charset="-122"/>
                          <a:cs typeface="Arial" pitchFamily="34" charset="-120"/>
                        </a:rPr>
                        <a:t>Pay-transparency mandate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0.388</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[0.21, 0.56]</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&lt;0.001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Seniority (per step)</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−0.002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[−0.02, 0.02]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0.869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Remote-eligible</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0.083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[−0.06, 0.23]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0.271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Data-center operator</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−0.071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[−0.26, 0.12]</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0.463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Northeast (vs. Midwest)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−0.131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[−0.32, 0.06]</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0.170</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74320">
                <a:tc>
                  <a:txBody>
                    <a:bodyPr/>
                    <a:lstStyle/>
                    <a:p>
                      <a:pPr algn="l" indent="0" marL="0">
                        <a:buNone/>
                      </a:pPr>
                      <a:r>
                        <a:rPr lang="en-US" sz="1100" dirty="0">
                          <a:solidFill>
                            <a:srgbClr val="6B0000"/>
                          </a:solidFill>
                          <a:latin typeface="Arial" pitchFamily="34" charset="0"/>
                          <a:ea typeface="Arial" pitchFamily="34" charset="-122"/>
                          <a:cs typeface="Arial" pitchFamily="34" charset="-120"/>
                        </a:rPr>
                        <a:t>South (vs. Midwest)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−0.328</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[−0.52, −0.13]</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00" dirty="0">
                          <a:solidFill>
                            <a:srgbClr val="6B0000"/>
                          </a:solidFill>
                          <a:latin typeface="Arial" pitchFamily="34" charset="0"/>
                          <a:ea typeface="Arial" pitchFamily="34" charset="-122"/>
                          <a:cs typeface="Arial" pitchFamily="34" charset="-120"/>
                        </a:rPr>
                        <a:t>0.001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00" dirty="0">
                          <a:solidFill>
                            <a:srgbClr val="243142"/>
                          </a:solidFill>
                          <a:latin typeface="Arial" pitchFamily="34" charset="0"/>
                          <a:ea typeface="Arial" pitchFamily="34" charset="-122"/>
                          <a:cs typeface="Arial" pitchFamily="34" charset="-120"/>
                        </a:rPr>
                        <a:t>West (vs. Midwest)</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−0.054</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[−0.20, 0.09]</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100" dirty="0">
                          <a:solidFill>
                            <a:srgbClr val="243142"/>
                          </a:solidFill>
                          <a:latin typeface="Arial" pitchFamily="34" charset="0"/>
                          <a:ea typeface="Arial" pitchFamily="34" charset="-122"/>
                          <a:cs typeface="Arial" pitchFamily="34" charset="-120"/>
                        </a:rPr>
                        <a:t>0.461</a:t>
                      </a:r>
                      <a:endParaRPr lang="en-US" sz="110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5" name="Text 2"/>
          <p:cNvSpPr txBox="1"/>
          <p:nvPr/>
        </p:nvSpPr>
        <p:spPr>
          <a:xfrm>
            <a:off x="548640" y="4069080"/>
            <a:ext cx="5212080" cy="274320"/>
          </a:xfrm>
          <a:prstGeom prst="rect">
            <a:avLst/>
          </a:prstGeom>
          <a:noFill/>
          <a:ln/>
        </p:spPr>
        <p:txBody>
          <a:bodyPr wrap="square" lIns="0" tIns="0" rIns="0" bIns="0" rtlCol="0" anchor="t"/>
          <a:lstStyle/>
          <a:p>
            <a:pPr indent="0" marL="0">
              <a:buNone/>
            </a:pPr>
            <a:r>
              <a:rPr lang="en-US" sz="1000" dirty="0">
                <a:solidFill>
                  <a:srgbClr val="5E6A78"/>
                </a:solidFill>
                <a:latin typeface="Arial" pitchFamily="34" charset="0"/>
                <a:ea typeface="Arial" pitchFamily="34" charset="-122"/>
                <a:cs typeface="Arial" pitchFamily="34" charset="-120"/>
              </a:rPr>
              <a:t>N = 729, R² = 0.335; clustered by employer.</a:t>
            </a:r>
            <a:endParaRPr lang="en-US" sz="10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126480" y="1508760"/>
          <a:ext cx="5516575" cy="914400"/>
        </p:xfrm>
        <a:graphic>
          <a:graphicData uri="http://schemas.openxmlformats.org/drawingml/2006/table">
            <a:tbl>
              <a:tblPr/>
              <a:tblGrid>
                <a:gridCol w="2404872"/>
                <a:gridCol w="1280160"/>
                <a:gridCol w="914400"/>
                <a:gridCol w="914400"/>
              </a:tblGrid>
              <a:tr h="246888">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Pay model</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Nominal p (boot.)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Real coef.</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Real 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Seniority (per step)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0.111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Required experience (per year)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States an experience minimum</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−0.073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Requires a degree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0.074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0.114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STEM degree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0.036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Cloud skill (AWS, Azure, GCP)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0.092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ML/AI skill</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0.074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0.105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0.002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Remote-eligible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0.787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0.007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0.844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Advertised hourly</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0.644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−0.063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Pay-transparency mandate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0.744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−0.057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b="1" dirty="0">
                          <a:solidFill>
                            <a:srgbClr val="990000"/>
                          </a:solidFill>
                          <a:latin typeface="Arial" pitchFamily="34" charset="0"/>
                          <a:ea typeface="Arial" pitchFamily="34" charset="-122"/>
                          <a:cs typeface="Arial" pitchFamily="34" charset="-120"/>
                        </a:rPr>
                        <a:t>Northeast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b="1" dirty="0">
                          <a:solidFill>
                            <a:srgbClr val="990000"/>
                          </a:solidFill>
                          <a:latin typeface="Arial" pitchFamily="34" charset="0"/>
                          <a:ea typeface="Arial" pitchFamily="34" charset="-122"/>
                          <a:cs typeface="Arial" pitchFamily="34" charset="-120"/>
                        </a:rPr>
                        <a:t>0.019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b="1" dirty="0">
                          <a:solidFill>
                            <a:srgbClr val="990000"/>
                          </a:solidFill>
                          <a:latin typeface="Arial" pitchFamily="34" charset="0"/>
                          <a:ea typeface="Arial" pitchFamily="34" charset="-122"/>
                          <a:cs typeface="Arial" pitchFamily="34" charset="-120"/>
                        </a:rPr>
                        <a:t>0.012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b="1" dirty="0">
                          <a:solidFill>
                            <a:srgbClr val="990000"/>
                          </a:solidFill>
                          <a:latin typeface="Arial" pitchFamily="34" charset="0"/>
                          <a:ea typeface="Arial" pitchFamily="34" charset="-122"/>
                          <a:cs typeface="Arial" pitchFamily="34" charset="-120"/>
                        </a:rPr>
                        <a:t>0.706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South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0.154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0.306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b="1" dirty="0">
                          <a:solidFill>
                            <a:srgbClr val="990000"/>
                          </a:solidFill>
                          <a:latin typeface="Arial" pitchFamily="34" charset="0"/>
                          <a:ea typeface="Arial" pitchFamily="34" charset="-122"/>
                          <a:cs typeface="Arial" pitchFamily="34" charset="-120"/>
                        </a:rPr>
                        <a:t>West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b="1" dirty="0">
                          <a:solidFill>
                            <a:srgbClr val="990000"/>
                          </a:solidFill>
                          <a:latin typeface="Arial" pitchFamily="34" charset="0"/>
                          <a:ea typeface="Arial" pitchFamily="34" charset="-122"/>
                          <a:cs typeface="Arial" pitchFamily="34" charset="-120"/>
                        </a:rPr>
                        <a:t>0.011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b="1" dirty="0">
                          <a:solidFill>
                            <a:srgbClr val="990000"/>
                          </a:solidFill>
                          <a:latin typeface="Arial" pitchFamily="34" charset="0"/>
                          <a:ea typeface="Arial" pitchFamily="34" charset="-122"/>
                          <a:cs typeface="Arial" pitchFamily="34" charset="-120"/>
                        </a:rPr>
                        <a:t>0.051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b="1" dirty="0">
                          <a:solidFill>
                            <a:srgbClr val="990000"/>
                          </a:solidFill>
                          <a:latin typeface="Arial" pitchFamily="34" charset="0"/>
                          <a:ea typeface="Arial" pitchFamily="34" charset="-122"/>
                          <a:cs typeface="Arial" pitchFamily="34" charset="-120"/>
                        </a:rPr>
                        <a:t>0.149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Data-center operator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0.584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0.212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AI/ML role family</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bl>
          </a:graphicData>
        </a:graphic>
      </p:graphicFrame>
      <p:sp>
        <p:nvSpPr>
          <p:cNvPr id="7" name="Text 3"/>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Real pay divides by BEA regional price parities by state (N = 498; nationwide-remote postings have no state and drop out). Crimson rows: significant in nominal pay, not in real pay.</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A4</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Who discloses pay: 543 postings that state it vs. 186 that do not</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863840" cy="914400"/>
        </p:xfrm>
        <a:graphic>
          <a:graphicData uri="http://schemas.openxmlformats.org/drawingml/2006/table">
            <a:tbl>
              <a:tblPr/>
              <a:tblGrid>
                <a:gridCol w="2743200"/>
                <a:gridCol w="1325880"/>
                <a:gridCol w="1325880"/>
                <a:gridCol w="1280160"/>
                <a:gridCol w="1188720"/>
              </a:tblGrid>
              <a:tr h="246888">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Attribute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Mean, disclosed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Mean, withheld</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Difference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algn="r" indent="0" marL="0">
                        <a:buNone/>
                      </a:pPr>
                      <a:r>
                        <a:rPr lang="en-US" sz="1050" b="1" dirty="0">
                          <a:solidFill>
                            <a:srgbClr val="FFFFFF"/>
                          </a:solidFill>
                          <a:latin typeface="Arial" pitchFamily="34" charset="0"/>
                          <a:ea typeface="Arial" pitchFamily="34" charset="-122"/>
                          <a:cs typeface="Arial" pitchFamily="34" charset="-120"/>
                        </a:rPr>
                        <a:t>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990000"/>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Seniority (per step)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3.403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3.419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0.900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Required experience (per year)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2.317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2.344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−0.027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0.915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States an experience minimum</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0.477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0.575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−0.098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Requires a degree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0.606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0.522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+0.084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0.047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STEM degree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0.407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0.366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0.316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Cloud skill (AWS, Azure, GCP)</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0.210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0.108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+0.102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ML/AI skill</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0.359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0.274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+0.085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0.029</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Remote-eligible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0.168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0.113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+0.055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0.054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Advertised hourly</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0.004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0.000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+0.004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0.158</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Pay-transparency mandate</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0.755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0.210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+0.545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Northeast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0.217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0.145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+0.072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0.022</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South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0.144</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0.581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−0.437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West (vs. Midwest)</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0.401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0.081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+0.321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&lt;0.001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Data-center operator</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0.140</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0.183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−0.043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0.183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050" dirty="0">
                          <a:solidFill>
                            <a:srgbClr val="243142"/>
                          </a:solidFill>
                          <a:latin typeface="Arial" pitchFamily="34" charset="0"/>
                          <a:ea typeface="Arial" pitchFamily="34" charset="-122"/>
                          <a:cs typeface="Arial" pitchFamily="34" charset="-120"/>
                        </a:rPr>
                        <a:t>AI/ML role family</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0.101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0.086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+0.015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algn="r" indent="0" marL="0">
                        <a:buNone/>
                      </a:pPr>
                      <a:r>
                        <a:rPr lang="en-US" sz="1050" dirty="0">
                          <a:solidFill>
                            <a:srgbClr val="243142"/>
                          </a:solidFill>
                          <a:latin typeface="Arial" pitchFamily="34" charset="0"/>
                          <a:ea typeface="Arial" pitchFamily="34" charset="-122"/>
                          <a:cs typeface="Arial" pitchFamily="34" charset="-120"/>
                        </a:rPr>
                        <a:t>0.531</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AFAFA"/>
                    </a:solidFill>
                  </a:tcPr>
                </a:tc>
              </a:tr>
              <a:tr h="246888">
                <a:tc>
                  <a:txBody>
                    <a:bodyPr/>
                    <a:lstStyle/>
                    <a:p>
                      <a:pPr algn="l" indent="0" marL="0">
                        <a:buNone/>
                      </a:pPr>
                      <a:r>
                        <a:rPr lang="en-US" sz="1050" dirty="0">
                          <a:solidFill>
                            <a:srgbClr val="6B0000"/>
                          </a:solidFill>
                          <a:latin typeface="Arial" pitchFamily="34" charset="0"/>
                          <a:ea typeface="Arial" pitchFamily="34" charset="-122"/>
                          <a:cs typeface="Arial" pitchFamily="34" charset="-120"/>
                        </a:rPr>
                        <a:t>Indianapolis metro</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0.006</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0.043</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−0.037</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6B0000"/>
                          </a:solidFill>
                          <a:latin typeface="Arial" pitchFamily="34" charset="0"/>
                          <a:ea typeface="Arial" pitchFamily="34" charset="-122"/>
                          <a:cs typeface="Arial" pitchFamily="34" charset="-120"/>
                        </a:rPr>
                        <a:t>0.015</a:t>
                      </a:r>
                      <a:endParaRPr lang="en-US" sz="1050" dirty="0">
                        <a:latin typeface="Arial" charset="0"/>
                        <a:ea typeface="Arial" charset="0"/>
                        <a:cs typeface="Arial" charset="0"/>
                      </a:endParaRPr>
                    </a:p>
                  </a:txBody>
                  <a:tcPr marL="64008" marR="6400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8778240" y="1508760"/>
            <a:ext cx="2864815" cy="2011680"/>
          </a:xfrm>
          <a:prstGeom prst="rect">
            <a:avLst/>
          </a:prstGeom>
          <a:solidFill>
            <a:srgbClr val="F6E3E3"/>
          </a:solidFill>
          <a:ln/>
        </p:spPr>
      </p:sp>
      <p:sp>
        <p:nvSpPr>
          <p:cNvPr id="6" name="Text 3"/>
          <p:cNvSpPr txBox="1"/>
          <p:nvPr/>
        </p:nvSpPr>
        <p:spPr>
          <a:xfrm>
            <a:off x="8961120" y="1645920"/>
            <a:ext cx="2499055" cy="320040"/>
          </a:xfrm>
          <a:prstGeom prst="rect">
            <a:avLst/>
          </a:prstGeom>
          <a:noFill/>
          <a:ln/>
        </p:spPr>
        <p:txBody>
          <a:bodyPr wrap="square" lIns="0" tIns="0" rIns="0" bIns="0" rtlCol="0" anchor="t"/>
          <a:lstStyle/>
          <a:p>
            <a:pPr indent="0" marL="0">
              <a:buNone/>
            </a:pPr>
            <a:r>
              <a:rPr lang="en-US" sz="1400" b="1" dirty="0">
                <a:solidFill>
                  <a:srgbClr val="6B0000"/>
                </a:solidFill>
                <a:latin typeface="Arial" pitchFamily="34" charset="0"/>
                <a:ea typeface="Arial" pitchFamily="34" charset="-122"/>
                <a:cs typeface="Arial" pitchFamily="34" charset="-120"/>
              </a:rPr>
              <a:t>Why it matters</a:t>
            </a:r>
            <a:endParaRPr lang="en-US" sz="1400" dirty="0"/>
          </a:p>
        </p:txBody>
      </p:sp>
      <p:sp>
        <p:nvSpPr>
          <p:cNvPr id="7" name="Text 4"/>
          <p:cNvSpPr txBox="1"/>
          <p:nvPr/>
        </p:nvSpPr>
        <p:spPr>
          <a:xfrm>
            <a:off x="8961120" y="2011680"/>
            <a:ext cx="2499055" cy="1417320"/>
          </a:xfrm>
          <a:prstGeom prst="rect">
            <a:avLst/>
          </a:prstGeom>
          <a:noFill/>
          <a:ln/>
        </p:spPr>
        <p:txBody>
          <a:bodyPr wrap="square" lIns="0" tIns="0" rIns="0" bIns="0" rtlCol="0" anchor="t"/>
          <a:lstStyle/>
          <a:p>
            <a:pPr indent="0" marL="0">
              <a:buNone/>
            </a:pPr>
            <a:r>
              <a:rPr lang="en-US" sz="1200" dirty="0">
                <a:solidFill>
                  <a:srgbClr val="243142"/>
                </a:solidFill>
                <a:latin typeface="Arial" pitchFamily="34" charset="0"/>
                <a:ea typeface="Arial" pitchFamily="34" charset="-122"/>
                <a:cs typeface="Arial" pitchFamily="34" charset="-120"/>
              </a:rPr>
              <a:t>Postings that state pay differ from those that do not, most of all in location and mandate coverage. Pay coefficients describe the disclosing postings only.</a:t>
            </a:r>
            <a:endParaRPr lang="en-US" sz="1200" dirty="0"/>
          </a:p>
        </p:txBody>
      </p:sp>
      <p:sp>
        <p:nvSpPr>
          <p:cNvPr id="8" name="Text 5"/>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Disclosure rate 74.5%. Crimson rows: difference significant at 5% (two-sample test).</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A5</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How the attributes are coded</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291840"/>
                <a:gridCol w="7802575"/>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Attribute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Coding rule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990000"/>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Pay (dependent variable)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Midpoint of the advertised range, annualized to US dollars (hourly × 2,080); logged.</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Seniority (per step)</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Ordinal from the title: 1 entry, 2 mid or unlevelled, 3 senior, 4 staff/principal, 5 manager, 6 director, 7 VP and above.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Required experience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Minimum years parsed from the text; 0 when unstated, with an indicator for stating one at all.</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Requires a degree / STEM degree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A bachelor's or higher is required (not “or equivalent experience”); the degree must be in a STEM field.</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Cloud skill / ML/AI skill</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AWS, Azure or Google Cloud named; machine learning or artificial intelligence named.</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Pay-transparency mandate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Any listed work location in a state whose posting law was in force on the day the posting was seen.</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Region</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Census region of the work location; Midwest is the reference.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AFAFA"/>
                    </a:solidFill>
                  </a:tcPr>
                </a:tc>
              </a:tr>
              <a:tr h="457200">
                <a:tc>
                  <a:txBody>
                    <a:bodyPr/>
                    <a:lstStyle/>
                    <a:p>
                      <a:pPr indent="0" marL="0">
                        <a:buNone/>
                      </a:pPr>
                      <a:r>
                        <a:rPr lang="en-US" sz="1200" b="1" dirty="0">
                          <a:solidFill>
                            <a:srgbClr val="243142"/>
                          </a:solidFill>
                          <a:latin typeface="Arial" pitchFamily="34" charset="0"/>
                          <a:ea typeface="Arial" pitchFamily="34" charset="-122"/>
                          <a:cs typeface="Arial" pitchFamily="34" charset="-120"/>
                        </a:rPr>
                        <a:t>Data-center operator / AI/ML role family</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243142"/>
                          </a:solidFill>
                          <a:latin typeface="Arial" pitchFamily="34" charset="0"/>
                          <a:ea typeface="Arial" pitchFamily="34" charset="-122"/>
                          <a:cs typeface="Arial" pitchFamily="34" charset="-120"/>
                        </a:rPr>
                        <a:t>Employer's industry category; role family from the title taxonomy.</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Coded from posting text by word-boundary patterns in config/regressors.yaml; every coded value keeps the pattern that produced it. Full definitions: docs/codebook.md.</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A6</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Advertised pay, and the sample-size conditions</a:t>
            </a:r>
            <a:endParaRPr lang="en-US" sz="2600" dirty="0"/>
          </a:p>
        </p:txBody>
      </p:sp>
      <p:graphicFrame>
        <p:nvGraphicFramePr>
          <p:cNvPr id="4" name="Chart 0" descr=""/>
          <p:cNvGraphicFramePr/>
          <p:nvPr/>
        </p:nvGraphicFramePr>
        <p:xfrm>
          <a:off x="548640" y="150876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508760"/>
            <a:ext cx="3779215" cy="274320"/>
          </a:xfrm>
          <a:prstGeom prst="rect">
            <a:avLst/>
          </a:prstGeom>
          <a:noFill/>
          <a:ln/>
        </p:spPr>
        <p:txBody>
          <a:bodyPr wrap="square" lIns="0" tIns="0" rIns="0" bIns="0" rtlCol="0" anchor="t"/>
          <a:lstStyle/>
          <a:p>
            <a:pPr indent="0" marL="0">
              <a:buNone/>
            </a:pPr>
            <a:r>
              <a:rPr lang="en-US" sz="1000" b="1" spc="150" kern="0" dirty="0">
                <a:solidFill>
                  <a:srgbClr val="990000"/>
                </a:solidFill>
                <a:latin typeface="Arial" pitchFamily="34" charset="0"/>
                <a:ea typeface="Arial" pitchFamily="34" charset="-122"/>
                <a:cs typeface="Arial" pitchFamily="34" charset="-120"/>
              </a:rPr>
              <a:t>PRE-REGISTERED CONDITIONS (ALL PASS)</a:t>
            </a:r>
            <a:endParaRPr lang="en-US" sz="1000" dirty="0"/>
          </a:p>
        </p:txBody>
      </p:sp>
      <p:sp>
        <p:nvSpPr>
          <p:cNvPr id="6" name="Shape 3"/>
          <p:cNvSpPr/>
          <p:nvPr/>
        </p:nvSpPr>
        <p:spPr>
          <a:xfrm>
            <a:off x="7863840" y="1874520"/>
            <a:ext cx="3779215" cy="804672"/>
          </a:xfrm>
          <a:prstGeom prst="rect">
            <a:avLst/>
          </a:prstGeom>
          <a:solidFill>
            <a:srgbClr val="EDEBEB"/>
          </a:solidFill>
          <a:ln/>
        </p:spPr>
      </p:sp>
      <p:sp>
        <p:nvSpPr>
          <p:cNvPr id="7" name="Text 4"/>
          <p:cNvSpPr txBox="1"/>
          <p:nvPr/>
        </p:nvSpPr>
        <p:spPr>
          <a:xfrm>
            <a:off x="8001000" y="1874520"/>
            <a:ext cx="1325880" cy="804672"/>
          </a:xfrm>
          <a:prstGeom prst="rect">
            <a:avLst/>
          </a:prstGeom>
          <a:noFill/>
          <a:ln/>
        </p:spPr>
        <p:txBody>
          <a:bodyPr wrap="square" lIns="0" tIns="0" rIns="0" bIns="0" rtlCol="0" anchor="ctr"/>
          <a:lstStyle/>
          <a:p>
            <a:pPr indent="0" marL="0">
              <a:buNone/>
            </a:pPr>
            <a:r>
              <a:rPr lang="en-US" sz="2400" b="1" dirty="0">
                <a:solidFill>
                  <a:srgbClr val="990000"/>
                </a:solidFill>
                <a:latin typeface="Cambria" pitchFamily="34" charset="0"/>
                <a:ea typeface="Cambria" pitchFamily="34" charset="-122"/>
                <a:cs typeface="Cambria" pitchFamily="34" charset="-120"/>
              </a:rPr>
              <a:t>36.2</a:t>
            </a:r>
            <a:endParaRPr lang="en-US" sz="2400" dirty="0"/>
          </a:p>
        </p:txBody>
      </p:sp>
      <p:sp>
        <p:nvSpPr>
          <p:cNvPr id="8" name="Text 5"/>
          <p:cNvSpPr txBox="1"/>
          <p:nvPr/>
        </p:nvSpPr>
        <p:spPr>
          <a:xfrm>
            <a:off x="9372600" y="1874520"/>
            <a:ext cx="2133295" cy="8046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observations per regressor</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need ≥ 20</a:t>
            </a:r>
            <a:endParaRPr lang="en-US" sz="1200" dirty="0"/>
          </a:p>
        </p:txBody>
      </p:sp>
      <p:sp>
        <p:nvSpPr>
          <p:cNvPr id="9" name="Shape 6"/>
          <p:cNvSpPr/>
          <p:nvPr/>
        </p:nvSpPr>
        <p:spPr>
          <a:xfrm>
            <a:off x="7863840" y="2807208"/>
            <a:ext cx="3779215" cy="804672"/>
          </a:xfrm>
          <a:prstGeom prst="rect">
            <a:avLst/>
          </a:prstGeom>
          <a:solidFill>
            <a:srgbClr val="EDEBEB"/>
          </a:solidFill>
          <a:ln/>
        </p:spPr>
      </p:sp>
      <p:sp>
        <p:nvSpPr>
          <p:cNvPr id="10" name="Text 7"/>
          <p:cNvSpPr txBox="1"/>
          <p:nvPr/>
        </p:nvSpPr>
        <p:spPr>
          <a:xfrm>
            <a:off x="8001000" y="2807208"/>
            <a:ext cx="1325880" cy="804672"/>
          </a:xfrm>
          <a:prstGeom prst="rect">
            <a:avLst/>
          </a:prstGeom>
          <a:noFill/>
          <a:ln/>
        </p:spPr>
        <p:txBody>
          <a:bodyPr wrap="square" lIns="0" tIns="0" rIns="0" bIns="0" rtlCol="0" anchor="ctr"/>
          <a:lstStyle/>
          <a:p>
            <a:pPr indent="0" marL="0">
              <a:buNone/>
            </a:pPr>
            <a:r>
              <a:rPr lang="en-US" sz="2400" b="1" dirty="0">
                <a:solidFill>
                  <a:srgbClr val="990000"/>
                </a:solidFill>
                <a:latin typeface="Cambria" pitchFamily="34" charset="0"/>
                <a:ea typeface="Cambria" pitchFamily="34" charset="-122"/>
                <a:cs typeface="Cambria" pitchFamily="34" charset="-120"/>
              </a:rPr>
              <a:t>100</a:t>
            </a:r>
            <a:endParaRPr lang="en-US" sz="2400" dirty="0"/>
          </a:p>
        </p:txBody>
      </p:sp>
      <p:sp>
        <p:nvSpPr>
          <p:cNvPr id="11" name="Text 8"/>
          <p:cNvSpPr txBox="1"/>
          <p:nvPr/>
        </p:nvSpPr>
        <p:spPr>
          <a:xfrm>
            <a:off x="9372600" y="2807208"/>
            <a:ext cx="2133295" cy="8046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employer clusters</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need ≥ 30</a:t>
            </a:r>
            <a:endParaRPr lang="en-US" sz="1200" dirty="0"/>
          </a:p>
        </p:txBody>
      </p:sp>
      <p:sp>
        <p:nvSpPr>
          <p:cNvPr id="12" name="Shape 9"/>
          <p:cNvSpPr/>
          <p:nvPr/>
        </p:nvSpPr>
        <p:spPr>
          <a:xfrm>
            <a:off x="7863840" y="3739896"/>
            <a:ext cx="3779215" cy="804672"/>
          </a:xfrm>
          <a:prstGeom prst="rect">
            <a:avLst/>
          </a:prstGeom>
          <a:solidFill>
            <a:srgbClr val="EDEBEB"/>
          </a:solidFill>
          <a:ln/>
        </p:spPr>
      </p:sp>
      <p:sp>
        <p:nvSpPr>
          <p:cNvPr id="13" name="Text 10"/>
          <p:cNvSpPr txBox="1"/>
          <p:nvPr/>
        </p:nvSpPr>
        <p:spPr>
          <a:xfrm>
            <a:off x="8001000" y="3739896"/>
            <a:ext cx="1325880" cy="804672"/>
          </a:xfrm>
          <a:prstGeom prst="rect">
            <a:avLst/>
          </a:prstGeom>
          <a:noFill/>
          <a:ln/>
        </p:spPr>
        <p:txBody>
          <a:bodyPr wrap="square" lIns="0" tIns="0" rIns="0" bIns="0" rtlCol="0" anchor="ctr"/>
          <a:lstStyle/>
          <a:p>
            <a:pPr indent="0" marL="0">
              <a:buNone/>
            </a:pPr>
            <a:r>
              <a:rPr lang="en-US" sz="2400" b="1" dirty="0">
                <a:solidFill>
                  <a:srgbClr val="990000"/>
                </a:solidFill>
                <a:latin typeface="Cambria" pitchFamily="34" charset="0"/>
                <a:ea typeface="Cambria" pitchFamily="34" charset="-122"/>
                <a:cs typeface="Cambria" pitchFamily="34" charset="-120"/>
              </a:rPr>
              <a:t>9.0%</a:t>
            </a:r>
            <a:endParaRPr lang="en-US" sz="2400" dirty="0"/>
          </a:p>
        </p:txBody>
      </p:sp>
      <p:sp>
        <p:nvSpPr>
          <p:cNvPr id="14" name="Text 11"/>
          <p:cNvSpPr txBox="1"/>
          <p:nvPr/>
        </p:nvSpPr>
        <p:spPr>
          <a:xfrm>
            <a:off x="9372600" y="3739896"/>
            <a:ext cx="2133295" cy="8046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largest employer's share</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need ≤ 25%</a:t>
            </a:r>
            <a:endParaRPr lang="en-US" sz="1200" dirty="0"/>
          </a:p>
        </p:txBody>
      </p:sp>
      <p:sp>
        <p:nvSpPr>
          <p:cNvPr id="15" name="Shape 12"/>
          <p:cNvSpPr/>
          <p:nvPr/>
        </p:nvSpPr>
        <p:spPr>
          <a:xfrm>
            <a:off x="7863840" y="4672584"/>
            <a:ext cx="3779215" cy="804672"/>
          </a:xfrm>
          <a:prstGeom prst="rect">
            <a:avLst/>
          </a:prstGeom>
          <a:solidFill>
            <a:srgbClr val="EDEBEB"/>
          </a:solidFill>
          <a:ln/>
        </p:spPr>
      </p:sp>
      <p:sp>
        <p:nvSpPr>
          <p:cNvPr id="16" name="Text 13"/>
          <p:cNvSpPr txBox="1"/>
          <p:nvPr/>
        </p:nvSpPr>
        <p:spPr>
          <a:xfrm>
            <a:off x="8001000" y="4672584"/>
            <a:ext cx="1325880" cy="804672"/>
          </a:xfrm>
          <a:prstGeom prst="rect">
            <a:avLst/>
          </a:prstGeom>
          <a:noFill/>
          <a:ln/>
        </p:spPr>
        <p:txBody>
          <a:bodyPr wrap="square" lIns="0" tIns="0" rIns="0" bIns="0" rtlCol="0" anchor="ctr"/>
          <a:lstStyle/>
          <a:p>
            <a:pPr indent="0" marL="0">
              <a:buNone/>
            </a:pPr>
            <a:r>
              <a:rPr lang="en-US" sz="2400" b="1" dirty="0">
                <a:solidFill>
                  <a:srgbClr val="990000"/>
                </a:solidFill>
                <a:latin typeface="Cambria" pitchFamily="34" charset="0"/>
                <a:ea typeface="Cambria" pitchFamily="34" charset="-122"/>
                <a:cs typeface="Cambria" pitchFamily="34" charset="-120"/>
              </a:rPr>
              <a:t>0.122</a:t>
            </a:r>
            <a:endParaRPr lang="en-US" sz="2400" dirty="0"/>
          </a:p>
        </p:txBody>
      </p:sp>
      <p:sp>
        <p:nvSpPr>
          <p:cNvPr id="17" name="Text 14"/>
          <p:cNvSpPr txBox="1"/>
          <p:nvPr/>
        </p:nvSpPr>
        <p:spPr>
          <a:xfrm>
            <a:off x="9372600" y="4672584"/>
            <a:ext cx="2133295" cy="804672"/>
          </a:xfrm>
          <a:prstGeom prst="rect">
            <a:avLst/>
          </a:prstGeom>
          <a:noFill/>
          <a:ln/>
        </p:spPr>
        <p:txBody>
          <a:bodyPr wrap="square" lIns="0" tIns="0" rIns="0" bIns="0" rtlCol="0" anchor="ctr"/>
          <a:lstStyle/>
          <a:p>
            <a:pPr indent="0" marL="0">
              <a:buNone/>
            </a:pPr>
            <a:r>
              <a:rPr lang="en-US" sz="1200" b="1" dirty="0">
                <a:solidFill>
                  <a:srgbClr val="243142"/>
                </a:solidFill>
                <a:latin typeface="Arial" pitchFamily="34" charset="0"/>
                <a:ea typeface="Arial" pitchFamily="34" charset="-122"/>
                <a:cs typeface="Arial" pitchFamily="34" charset="-120"/>
              </a:rPr>
              <a:t>minimum detectable effect</a:t>
            </a:r>
            <a:endParaRPr lang="en-US" sz="1200" dirty="0"/>
          </a:p>
          <a:p>
            <a:pPr indent="0" marL="0">
              <a:buNone/>
            </a:pPr>
            <a:r>
              <a:rPr lang="en-US" sz="1200" dirty="0">
                <a:solidFill>
                  <a:srgbClr val="5E6A78"/>
                </a:solidFill>
                <a:latin typeface="Arial" pitchFamily="34" charset="0"/>
                <a:ea typeface="Arial" pitchFamily="34" charset="-122"/>
                <a:cs typeface="Arial" pitchFamily="34" charset="-120"/>
              </a:rPr>
              <a:t>need ≤ 0.25 log points</a:t>
            </a:r>
            <a:endParaRPr lang="en-US" sz="1200" dirty="0"/>
          </a:p>
        </p:txBody>
      </p:sp>
      <p:sp>
        <p:nvSpPr>
          <p:cNvPr id="18" name="Text 15"/>
          <p:cNvSpPr txBox="1"/>
          <p:nvPr/>
        </p:nvSpPr>
        <p:spPr>
          <a:xfrm>
            <a:off x="548640" y="576072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Mean $151,839, median $144,360, SD $50,497, range $65,000–$365,000. Interpretable: yes.</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A7</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Data quality: 12 rounds of hand-auditing (rounds 1–6)</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11480"/>
                <a:gridCol w="2743200"/>
                <a:gridCol w="7939735"/>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was audited</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it found</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990000"/>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Regressor coding</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Three systematic false positives, all firing on company boilerplate rather than on anything asked of the applicant</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role_family</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6 of 53 assignments wrong (89%). Four had reached a live measurement and sat in the top eleven rows by pay</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seniority_rank, state</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21 of 141 wrong (85.1%). One defect changed the headline disclosure contrast</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The industry umbrella itself</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A multi-sector consultancy supplied 22% of the sample and three rows of it were energy work. 337 postings removed; the AI-premium finding did not survive</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The concept role screen and dedupe</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All 40 titles the new matcher admitted were read: 4 false positives caught before the rebuild. One nested-location repost found in 1,940 records and collapsed</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 26: all 115 added rows, then the whole corpus</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The pay parser was still halving 17 Invenergy rows and recording 9 NYISO rows at their floor. Every usable "Hitachi Energy" row belonged to a sister company. Connecticut was coded as a mandate state before its law took effect. Fixing them withdrew mandate_state and region_west, which had passed the bootstrap on the unaudited data</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Every defect found is pinned by a regression test built from the real title or location string that produced it. Full log: docs/audit-log.md.</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A8</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Data quality: 12 rounds of hand-auditing (rounds 7–12)</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11480"/>
                <a:gridCol w="2743200"/>
                <a:gridCol w="7939735"/>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was audited</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990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it found</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990000"/>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 27, the first live run of the description cache</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The cache reused every posting it held within its window, with no disclosure drift. A second run on the same date had overwritten the first run's files, dropping a closed posting, and an edited requisition was counted twice. Both fixed at the cause</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 28 (cancelled at employer 209 of 269): all 58 added rows</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GE Vernova's first collection added 18 rows and a cluster; two were off-taxonomy (packaging compliance, sales). "$1M to $30M" project sizes were read as $30 an hour, the only usable row of a phantom Duke cluster. The Ashby adapter had crashed on every board since the cache commit. The first next-day cache read reused 352 descriptions with no disclosure drift</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 29, the national frame expansion (133 added rows)</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Crusoe's salaries were read as monthly because a "$300 per month" commuter benefit sat above them: nine rows at their ceiling or missing. Austin Energy's postings, labelled with facility names, were rejected as having no state. Six off-taxonomy roles at new employers. Crusoe alone supplied 49 usable rows, reported with a sensitivity check</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 30 (28 Sep, dispatched early at the owner's request), the first collection of batches 5-12 and USAJOBS</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US towns named after foreign cities read as non-US (Eversource's Berlin, CT), and a repost differing by one full stop, both fixed between runs. Location forms never met before ("Tucson, AZ - Downtown", "Washington - Pullman", "San Francisco Bay Area") rejected every posting of a newly confirmed employer (SEL) on its first collection. Eleven off-taxonomy postings at new employers (HR, labour compliance, construction, manufacturing quality, product engineering)</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 31 (29 Sep, dispatched by hand when the cron did not fire), the first collection of the federal energy agencies and batches 13-15</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The dotted "Washington, D.C." read as Washington State, which put two rows in the West and cost a two-site posting its DC mandate site. A retitled Workday posting lost its posting date, a Model 2 regressor. Generated lists of three names read as one phrase in the summary, paper and deck</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AFAFA"/>
                    </a:solidFill>
                  </a:tcPr>
                </a:tc>
              </a:tr>
              <a:tr h="0">
                <a:tc>
                  <a:txBody>
                    <a:bodyPr/>
                    <a:lstStyle/>
                    <a:p>
                      <a:pPr indent="0" marL="0">
                        <a:buNone/>
                      </a:pPr>
                      <a:r>
                        <a:rPr lang="en-US" sz="1100" b="1" dirty="0">
                          <a:solidFill>
                            <a:srgbClr val="99000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Runs 32 (the 29 Sep cron, 6.5 hours late) and 34 (30 Sep, the last collection)</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rgbClr val="243142"/>
                          </a:solidFill>
                          <a:latin typeface="Arial" pitchFamily="34" charset="0"/>
                          <a:ea typeface="Arial" pitchFamily="34" charset="-122"/>
                          <a:cs typeface="Arial" pitchFamily="34" charset="-120"/>
                        </a:rPr>
                        <a:t>A lawyer admitted on "commercial development" (Bloom Energy). A pre-registered robustness check, the pay model without federal rows, computed on every run but reported nowhere; in the final data it changes a verdict. Two generated sentences overstated: a list of survivors cut at four, and a control variable described as contradicting a prediction it never had</a:t>
                      </a:r>
                      <a:endParaRPr lang="en-US" sz="11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Every defect found is pinned by a regression test built from the real title or location string that produced it. Full log: docs/audit-log.md.</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A9</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The 100 employers in the pay sample (postings stating pay)</a:t>
            </a:r>
            <a:endParaRPr lang="en-US" sz="2600" dirty="0"/>
          </a:p>
        </p:txBody>
      </p:sp>
      <p:sp>
        <p:nvSpPr>
          <p:cNvPr id="4" name="Text 2"/>
          <p:cNvSpPr txBox="1"/>
          <p:nvPr/>
        </p:nvSpPr>
        <p:spPr>
          <a:xfrm>
            <a:off x="548640" y="1508760"/>
            <a:ext cx="2636444" cy="4343400"/>
          </a:xfrm>
          <a:prstGeom prst="rect">
            <a:avLst/>
          </a:prstGeom>
          <a:noFill/>
          <a:ln/>
        </p:spPr>
        <p:txBody>
          <a:bodyPr wrap="square" lIns="0" tIns="0" rIns="0" bIns="0" rtlCol="0" anchor="t"/>
          <a:lstStyle/>
          <a:p>
            <a:pPr indent="0" marL="0">
              <a:buNone/>
            </a:pPr>
            <a:r>
              <a:rPr lang="en-US" sz="1000" dirty="0">
                <a:solidFill>
                  <a:srgbClr val="243142"/>
                </a:solidFill>
                <a:latin typeface="Arial" pitchFamily="34" charset="0"/>
                <a:ea typeface="Arial" pitchFamily="34" charset="-122"/>
                <a:cs typeface="Arial" pitchFamily="34" charset="-120"/>
              </a:rPr>
              <a:t>Crusoe (49)</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Invenergy (47)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Eversource Energy (38)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AEP Energy (25)</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Xcel Energy (20)</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AES Indiana (18)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ERCOT (18)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GE Vernova (18)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Avangrid (16)</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Scout Clean Energy (11)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New York ISO (10)</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Nexamp (10)</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Energy Solutions (9)</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Tapestry (9)</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Ameren Illinois (8)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Oklo (8)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SEL Schweitzer Engineering Laboratories (8)</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Bloom Energy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Commonwealth Fusion Systems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 Source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EnergyHub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Gridware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ICF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Radiant Industries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The Nuclear Company (7)</a:t>
            </a:r>
            <a:endParaRPr lang="en-US" sz="1000" dirty="0"/>
          </a:p>
        </p:txBody>
      </p:sp>
      <p:sp>
        <p:nvSpPr>
          <p:cNvPr id="5" name="Text 3"/>
          <p:cNvSpPr txBox="1"/>
          <p:nvPr/>
        </p:nvSpPr>
        <p:spPr>
          <a:xfrm>
            <a:off x="3322244" y="1508760"/>
            <a:ext cx="2636444" cy="4343400"/>
          </a:xfrm>
          <a:prstGeom prst="rect">
            <a:avLst/>
          </a:prstGeom>
          <a:noFill/>
          <a:ln/>
        </p:spPr>
        <p:txBody>
          <a:bodyPr wrap="square" lIns="0" tIns="0" rIns="0" bIns="0" rtlCol="0" anchor="t"/>
          <a:lstStyle/>
          <a:p>
            <a:pPr indent="0" marL="0">
              <a:buNone/>
            </a:pPr>
            <a:r>
              <a:rPr lang="en-US" sz="1000" dirty="0">
                <a:solidFill>
                  <a:srgbClr val="243142"/>
                </a:solidFill>
                <a:latin typeface="Arial" pitchFamily="34" charset="0"/>
                <a:ea typeface="Arial" pitchFamily="34" charset="-122"/>
                <a:cs typeface="Arial" pitchFamily="34" charset="-120"/>
              </a:rPr>
              <a:t>Vantage Data Centers (7)</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Guidehouse (6)</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X-energy (6)</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California ISO (5)</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TerraPower (5)</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Valar Atomics (5)</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Verse (5)</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Alliant Energy (4)</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Charles River Associates (4)</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New Leaf Energy (4)</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Rowan Digital Infrastructure (4)</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Antares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Cypress Creek Renewables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Flexential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GridUnity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Hanwha Renewables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SOLV Energy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STACK Infrastructure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The Brattle Group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Tract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Voltus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Washington Gas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Xcimer Energy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Yes Energy (3)</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1st Avenue Power (2)</a:t>
            </a:r>
            <a:endParaRPr lang="en-US" sz="1000" dirty="0"/>
          </a:p>
        </p:txBody>
      </p:sp>
      <p:sp>
        <p:nvSpPr>
          <p:cNvPr id="6" name="Text 4"/>
          <p:cNvSpPr txBox="1"/>
          <p:nvPr/>
        </p:nvSpPr>
        <p:spPr>
          <a:xfrm>
            <a:off x="6095848" y="1508760"/>
            <a:ext cx="2636444" cy="4343400"/>
          </a:xfrm>
          <a:prstGeom prst="rect">
            <a:avLst/>
          </a:prstGeom>
          <a:noFill/>
          <a:ln/>
        </p:spPr>
        <p:txBody>
          <a:bodyPr wrap="square" lIns="0" tIns="0" rIns="0" bIns="0" rtlCol="0" anchor="t"/>
          <a:lstStyle/>
          <a:p>
            <a:pPr indent="0" marL="0">
              <a:buNone/>
            </a:pPr>
            <a:r>
              <a:rPr lang="en-US" sz="1000" dirty="0">
                <a:solidFill>
                  <a:srgbClr val="243142"/>
                </a:solidFill>
                <a:latin typeface="Arial" pitchFamily="34" charset="0"/>
                <a:ea typeface="Arial" pitchFamily="34" charset="-122"/>
                <a:cs typeface="Arial" pitchFamily="34" charset="-120"/>
              </a:rPr>
              <a:t>American Transmission Co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Avantus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Bonneville Power Administration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Capital Power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Clearway Energy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Equinix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GridCARE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Heron Power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Itron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Kairos Power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Modo Energy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NREL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NTT Global Data Centers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Plus Power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Sense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Solar Landscape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Sunrun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WeaveGrid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Wunder Capital (2)</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Adapture Renewables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Ameresco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Argonne National Laboratory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Austin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Brightcore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CARIAN (1)</a:t>
            </a:r>
            <a:endParaRPr lang="en-US" sz="1000" dirty="0"/>
          </a:p>
        </p:txBody>
      </p:sp>
      <p:sp>
        <p:nvSpPr>
          <p:cNvPr id="7" name="Text 5"/>
          <p:cNvSpPr txBox="1"/>
          <p:nvPr/>
        </p:nvSpPr>
        <p:spPr>
          <a:xfrm>
            <a:off x="8869451" y="1508760"/>
            <a:ext cx="2636444" cy="4343400"/>
          </a:xfrm>
          <a:prstGeom prst="rect">
            <a:avLst/>
          </a:prstGeom>
          <a:noFill/>
          <a:ln/>
        </p:spPr>
        <p:txBody>
          <a:bodyPr wrap="square" lIns="0" tIns="0" rIns="0" bIns="0" rtlCol="0" anchor="t"/>
          <a:lstStyle/>
          <a:p>
            <a:pPr indent="0" marL="0">
              <a:buNone/>
            </a:pPr>
            <a:r>
              <a:rPr lang="en-US" sz="1000" dirty="0">
                <a:solidFill>
                  <a:srgbClr val="243142"/>
                </a:solidFill>
                <a:latin typeface="Arial" pitchFamily="34" charset="0"/>
                <a:ea typeface="Arial" pitchFamily="34" charset="-122"/>
                <a:cs typeface="Arial" pitchFamily="34" charset="-120"/>
              </a:rPr>
              <a:t>Canadian Solar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Clean Power Alliance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Cologix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Customized Energy Solutions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EdgeConneX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Emporia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Energy Vault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Energy and Environmental Economics (E3)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Euclid Power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Form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Industrial Electric Manufacturing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Leeward Renewable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LevelTen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Madison Energy Infrastructure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NRECA National Rural Electric Cooperative Association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Omnidian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Orenda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Origis Energy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QTS Data Centers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RMI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Reactivate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South Jersey Industries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TRIO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VELCO (1)</a:t>
            </a:r>
            <a:endParaRPr lang="en-US" sz="1000" dirty="0"/>
          </a:p>
          <a:p>
            <a:pPr indent="0" marL="0">
              <a:buNone/>
            </a:pPr>
            <a:r>
              <a:rPr lang="en-US" sz="1000" dirty="0">
                <a:solidFill>
                  <a:srgbClr val="243142"/>
                </a:solidFill>
                <a:latin typeface="Arial" pitchFamily="34" charset="0"/>
                <a:ea typeface="Arial" pitchFamily="34" charset="-122"/>
                <a:cs typeface="Arial" pitchFamily="34" charset="-120"/>
              </a:rPr>
              <a:t>Western Area Power Administration (1)</a:t>
            </a:r>
            <a:endParaRPr lang="en-US" sz="1000" dirty="0"/>
          </a:p>
        </p:txBody>
      </p:sp>
      <p:sp>
        <p:nvSpPr>
          <p:cNvPr id="8" name="Text 6"/>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Ordered by postings. Crusoe is the largest at 9.0%; a robustness check drops it.</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10896"/>
            <a:ext cx="11094415" cy="256032"/>
          </a:xfrm>
          <a:prstGeom prst="rect">
            <a:avLst/>
          </a:prstGeom>
          <a:noFill/>
          <a:ln/>
        </p:spPr>
        <p:txBody>
          <a:bodyPr wrap="square" lIns="0" tIns="0" rIns="0" bIns="0" rtlCol="0" anchor="t"/>
          <a:lstStyle/>
          <a:p>
            <a:pPr indent="0" marL="0">
              <a:buNone/>
            </a:pPr>
            <a:r>
              <a:rPr lang="en-US" sz="1100" b="1" spc="200" kern="0" dirty="0">
                <a:solidFill>
                  <a:srgbClr val="990000"/>
                </a:solidFill>
                <a:latin typeface="Arial" pitchFamily="34" charset="0"/>
                <a:ea typeface="Arial" pitchFamily="34" charset="-122"/>
                <a:cs typeface="Arial" pitchFamily="34" charset="-120"/>
              </a:rPr>
              <a:t>APPENDIX · A10</a:t>
            </a:r>
            <a:endParaRPr lang="en-US" sz="1100" dirty="0"/>
          </a:p>
        </p:txBody>
      </p:sp>
      <p:sp>
        <p:nvSpPr>
          <p:cNvPr id="3" name="Text 1"/>
          <p:cNvSpPr txBox="1"/>
          <p:nvPr/>
        </p:nvSpPr>
        <p:spPr>
          <a:xfrm>
            <a:off x="548640" y="566928"/>
            <a:ext cx="11094415" cy="868680"/>
          </a:xfrm>
          <a:prstGeom prst="rect">
            <a:avLst/>
          </a:prstGeom>
          <a:noFill/>
          <a:ln/>
        </p:spPr>
        <p:txBody>
          <a:bodyPr wrap="square" lIns="0" tIns="0" rIns="0" bIns="0" rtlCol="0" anchor="t"/>
          <a:lstStyle/>
          <a:p>
            <a:pPr indent="0" marL="0">
              <a:buNone/>
            </a:pPr>
            <a:r>
              <a:rPr lang="en-US" sz="2600" b="1" dirty="0">
                <a:solidFill>
                  <a:srgbClr val="243142"/>
                </a:solidFill>
                <a:latin typeface="Cambria" pitchFamily="34" charset="0"/>
                <a:ea typeface="Cambria" pitchFamily="34" charset="-122"/>
                <a:cs typeface="Cambria" pitchFamily="34" charset="-120"/>
              </a:rPr>
              <a:t>References</a:t>
            </a:r>
            <a:endParaRPr lang="en-US" sz="2600" dirty="0"/>
          </a:p>
        </p:txBody>
      </p:sp>
      <p:sp>
        <p:nvSpPr>
          <p:cNvPr id="4" name="Text 2"/>
          <p:cNvSpPr txBox="1"/>
          <p:nvPr/>
        </p:nvSpPr>
        <p:spPr>
          <a:xfrm>
            <a:off x="548640" y="1600200"/>
            <a:ext cx="11094415" cy="3291840"/>
          </a:xfrm>
          <a:prstGeom prst="rect">
            <a:avLst/>
          </a:prstGeom>
          <a:noFill/>
          <a:ln/>
        </p:spPr>
        <p:txBody>
          <a:bodyPr wrap="square" lIns="0" tIns="0" rIns="0" bIns="0" rtlCol="0" anchor="t"/>
          <a:lstStyle/>
          <a:p>
            <a:pPr indent="0" marL="0">
              <a:spcAft>
                <a:spcPts val="1200"/>
              </a:spcAft>
              <a:buNone/>
            </a:pPr>
            <a:r>
              <a:rPr lang="en-US" sz="1400" b="1" dirty="0">
                <a:solidFill>
                  <a:srgbClr val="243142"/>
                </a:solidFill>
                <a:latin typeface="Arial" pitchFamily="34" charset="0"/>
                <a:ea typeface="Arial" pitchFamily="34" charset="-122"/>
                <a:cs typeface="Arial" pitchFamily="34" charset="-120"/>
              </a:rPr>
              <a:t>Arnold, D., Quach, S., &amp; Taska, B. (2025).</a:t>
            </a:r>
            <a:pPr indent="0" marL="0">
              <a:spcAft>
                <a:spcPts val="1200"/>
              </a:spcAft>
              <a:buNone/>
            </a:pPr>
            <a:r>
              <a:rPr lang="en-US" sz="1400" dirty="0">
                <a:solidFill>
                  <a:srgbClr val="243142"/>
                </a:solidFill>
                <a:latin typeface="Arial" pitchFamily="34" charset="0"/>
                <a:ea typeface="Arial" pitchFamily="34" charset="-122"/>
                <a:cs typeface="Arial" pitchFamily="34" charset="-120"/>
              </a:rPr>
              <a:t> The impact of pay transparency in job postings on the labor market. NBER Working Paper 34480.</a:t>
            </a:r>
            <a:endParaRPr lang="en-US" sz="1400" dirty="0"/>
          </a:p>
          <a:p>
            <a:pPr indent="0" marL="0">
              <a:spcAft>
                <a:spcPts val="1200"/>
              </a:spcAft>
              <a:buNone/>
            </a:pPr>
            <a:r>
              <a:rPr lang="en-US" sz="1400" b="1" dirty="0">
                <a:solidFill>
                  <a:srgbClr val="243142"/>
                </a:solidFill>
                <a:latin typeface="Arial" pitchFamily="34" charset="0"/>
                <a:ea typeface="Arial" pitchFamily="34" charset="-122"/>
                <a:cs typeface="Arial" pitchFamily="34" charset="-120"/>
              </a:rPr>
              <a:t>Cameron, A. C., Gelbach, J. B., &amp; Miller, D. L. (2008).</a:t>
            </a:r>
            <a:pPr indent="0" marL="0">
              <a:spcAft>
                <a:spcPts val="1200"/>
              </a:spcAft>
              <a:buNone/>
            </a:pPr>
            <a:r>
              <a:rPr lang="en-US" sz="1400" dirty="0">
                <a:solidFill>
                  <a:srgbClr val="243142"/>
                </a:solidFill>
                <a:latin typeface="Arial" pitchFamily="34" charset="0"/>
                <a:ea typeface="Arial" pitchFamily="34" charset="-122"/>
                <a:cs typeface="Arial" pitchFamily="34" charset="-120"/>
              </a:rPr>
              <a:t> Bootstrap-based improvements for inference with clustered errors. Review of Economics and Statistics, 90(3), 414–427.</a:t>
            </a:r>
            <a:endParaRPr lang="en-US" sz="1400" dirty="0"/>
          </a:p>
          <a:p>
            <a:pPr indent="0" marL="0">
              <a:spcAft>
                <a:spcPts val="1200"/>
              </a:spcAft>
              <a:buNone/>
            </a:pPr>
            <a:r>
              <a:rPr lang="en-US" sz="1400" b="1" dirty="0">
                <a:solidFill>
                  <a:srgbClr val="243142"/>
                </a:solidFill>
                <a:latin typeface="Arial" pitchFamily="34" charset="0"/>
                <a:ea typeface="Arial" pitchFamily="34" charset="-122"/>
                <a:cs typeface="Arial" pitchFamily="34" charset="-120"/>
              </a:rPr>
              <a:t>Cullen, Z. (2024).</a:t>
            </a:r>
            <a:pPr indent="0" marL="0">
              <a:spcAft>
                <a:spcPts val="1200"/>
              </a:spcAft>
              <a:buNone/>
            </a:pPr>
            <a:r>
              <a:rPr lang="en-US" sz="1400" dirty="0">
                <a:solidFill>
                  <a:srgbClr val="243142"/>
                </a:solidFill>
                <a:latin typeface="Arial" pitchFamily="34" charset="0"/>
                <a:ea typeface="Arial" pitchFamily="34" charset="-122"/>
                <a:cs typeface="Arial" pitchFamily="34" charset="-120"/>
              </a:rPr>
              <a:t> Is pay transparency good? Journal of Economic Perspectives, 38(1), 153–180.</a:t>
            </a:r>
            <a:endParaRPr lang="en-US" sz="1400" dirty="0"/>
          </a:p>
          <a:p>
            <a:pPr indent="0" marL="0">
              <a:spcAft>
                <a:spcPts val="1200"/>
              </a:spcAft>
              <a:buNone/>
            </a:pPr>
            <a:r>
              <a:rPr lang="en-US" sz="1400" b="1" dirty="0">
                <a:solidFill>
                  <a:srgbClr val="243142"/>
                </a:solidFill>
                <a:latin typeface="Arial" pitchFamily="34" charset="0"/>
                <a:ea typeface="Arial" pitchFamily="34" charset="-122"/>
                <a:cs typeface="Arial" pitchFamily="34" charset="-120"/>
              </a:rPr>
              <a:t>Cullen, Z. B., &amp; Pakzad-Hurson, B. (2023).</a:t>
            </a:r>
            <a:pPr indent="0" marL="0">
              <a:spcAft>
                <a:spcPts val="1200"/>
              </a:spcAft>
              <a:buNone/>
            </a:pPr>
            <a:r>
              <a:rPr lang="en-US" sz="1400" dirty="0">
                <a:solidFill>
                  <a:srgbClr val="243142"/>
                </a:solidFill>
                <a:latin typeface="Arial" pitchFamily="34" charset="0"/>
                <a:ea typeface="Arial" pitchFamily="34" charset="-122"/>
                <a:cs typeface="Arial" pitchFamily="34" charset="-120"/>
              </a:rPr>
              <a:t> Equilibrium effects of pay transparency. Econometrica, 91(3), 765–802.</a:t>
            </a:r>
            <a:endParaRPr lang="en-US" sz="1400" dirty="0"/>
          </a:p>
          <a:p>
            <a:pPr indent="0" marL="0">
              <a:spcAft>
                <a:spcPts val="1200"/>
              </a:spcAft>
              <a:buNone/>
            </a:pPr>
            <a:r>
              <a:rPr lang="en-US" sz="1400" b="1" dirty="0">
                <a:solidFill>
                  <a:srgbClr val="243142"/>
                </a:solidFill>
                <a:latin typeface="Arial" pitchFamily="34" charset="0"/>
                <a:ea typeface="Arial" pitchFamily="34" charset="-122"/>
                <a:cs typeface="Arial" pitchFamily="34" charset="-120"/>
              </a:rPr>
              <a:t>U.S. Bureau of Economic Analysis.</a:t>
            </a:r>
            <a:pPr indent="0" marL="0">
              <a:spcAft>
                <a:spcPts val="1200"/>
              </a:spcAft>
              <a:buNone/>
            </a:pPr>
            <a:r>
              <a:rPr lang="en-US" sz="1400" dirty="0">
                <a:solidFill>
                  <a:srgbClr val="243142"/>
                </a:solidFill>
                <a:latin typeface="Arial" pitchFamily="34" charset="0"/>
                <a:ea typeface="Arial" pitchFamily="34" charset="-122"/>
                <a:cs typeface="Arial" pitchFamily="34" charset="-120"/>
              </a:rPr>
              <a:t> Regional price parities by state (used to price-adjust pay).</a:t>
            </a:r>
            <a:endParaRPr lang="en-US" sz="1400" dirty="0"/>
          </a:p>
        </p:txBody>
      </p:sp>
      <p:sp>
        <p:nvSpPr>
          <p:cNvPr id="5" name="Text 3"/>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rgbClr val="5E6A78"/>
                </a:solidFill>
                <a:latin typeface="Arial" pitchFamily="34" charset="0"/>
                <a:ea typeface="Arial" pitchFamily="34" charset="-122"/>
                <a:cs typeface="Arial" pitchFamily="34" charset="-120"/>
              </a:rPr>
              <a:t>Data, code and every generated deliverable: the study repository (pre-registration, codebook, audit log and limitations in docs/).</a:t>
            </a:r>
            <a:endParaRPr lang="en-US" sz="1000" dirty="0"/>
          </a:p>
        </p:txBody>
      </p:sp>
      <p:sp>
        <p:nvSpPr>
          <p:cNvPr id="25" name="Slide Number Placeholder 0"/>
          <p:cNvSpPr>
            <a:spLocks noGrp="1"/>
          </p:cNvSpPr>
          <p:nvPr>
            <p:ph type="sldNum" sz="quarter" idx="4294967295"/>
          </p:nvPr>
        </p:nvSpPr>
        <p:spPr>
          <a:xfrm>
            <a:off x="11094415" y="6336792"/>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E6A78"/>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ffice Theme">
  <a:themeElements>
    <a:clrScheme name="Indiana University">
      <a:dk1>
        <a:srgbClr val="243142"/>
      </a:dk1>
      <a:lt1>
        <a:srgbClr val="FFFFFF"/>
      </a:lt1>
      <a:dk2>
        <a:srgbClr val="6B0000"/>
      </a:dk2>
      <a:lt2>
        <a:srgbClr val="EDEBEB"/>
      </a:lt2>
      <a:accent1>
        <a:srgbClr val="990000"/>
      </a:accent1>
      <a:accent2>
        <a:srgbClr val="5E6A78"/>
      </a:accent2>
      <a:accent3>
        <a:srgbClr val="A7A9AB"/>
      </a:accent3>
      <a:accent4>
        <a:srgbClr val="B33A3A"/>
      </a:accent4>
      <a:accent5>
        <a:srgbClr val="D98C8C"/>
      </a:accent5>
      <a:accent6>
        <a:srgbClr val="243142"/>
      </a:accent6>
      <a:hlink>
        <a:srgbClr val="990000"/>
      </a:hlink>
      <a:folHlink>
        <a:srgbClr val="6B0000"/>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Indiana University, Kelley School of Business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Determinants of Advertised Pay in the US Energy and Data Center Sector</dc:title>
  <dc:subject>Evidence from employer-published job postings</dc:subject>
  <dc:creator>Alexander J. Henderson</dc:creator>
  <cp:lastModifiedBy>Alexander J. Henderson</cp:lastModifiedBy>
  <cp:revision>1</cp:revision>
  <dcterms:created xsi:type="dcterms:W3CDTF">2026-10-04T22:45:12Z</dcterms:created>
  <dcterms:modified xsi:type="dcterms:W3CDTF">2026-10-04T22:45:12Z</dcterms:modified>
</cp:coreProperties>
</file>